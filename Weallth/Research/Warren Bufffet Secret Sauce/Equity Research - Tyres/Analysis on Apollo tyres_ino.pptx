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theme/theme5.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 id="2147483671" r:id="rId3"/>
    <p:sldMasterId id="2147483673" r:id="rId4"/>
    <p:sldMasterId id="2147483675" r:id="rId5"/>
    <p:sldMasterId id="2147483677" r:id="rId6"/>
  </p:sldMasterIdLst>
  <p:sldIdLst>
    <p:sldId id="256" r:id="rId7"/>
    <p:sldId id="297" r:id="rId8"/>
    <p:sldId id="298" r:id="rId9"/>
    <p:sldId id="299" r:id="rId10"/>
    <p:sldId id="258" r:id="rId11"/>
    <p:sldId id="259" r:id="rId12"/>
    <p:sldId id="270" r:id="rId13"/>
    <p:sldId id="287" r:id="rId14"/>
    <p:sldId id="271" r:id="rId15"/>
    <p:sldId id="272" r:id="rId16"/>
    <p:sldId id="273" r:id="rId17"/>
    <p:sldId id="274" r:id="rId18"/>
    <p:sldId id="275" r:id="rId19"/>
    <p:sldId id="300" r:id="rId20"/>
    <p:sldId id="301" r:id="rId21"/>
    <p:sldId id="302" r:id="rId22"/>
    <p:sldId id="303" r:id="rId23"/>
    <p:sldId id="304" r:id="rId24"/>
    <p:sldId id="305" r:id="rId25"/>
    <p:sldId id="306" r:id="rId26"/>
    <p:sldId id="307" r:id="rId27"/>
    <p:sldId id="308" r:id="rId28"/>
    <p:sldId id="309" r:id="rId29"/>
    <p:sldId id="260" r:id="rId30"/>
    <p:sldId id="261" r:id="rId31"/>
    <p:sldId id="310" r:id="rId32"/>
    <p:sldId id="311" r:id="rId33"/>
    <p:sldId id="288" r:id="rId34"/>
    <p:sldId id="294" r:id="rId35"/>
    <p:sldId id="293" r:id="rId36"/>
    <p:sldId id="289" r:id="rId37"/>
    <p:sldId id="277" r:id="rId38"/>
    <p:sldId id="278" r:id="rId39"/>
    <p:sldId id="266" r:id="rId40"/>
    <p:sldId id="267" r:id="rId41"/>
    <p:sldId id="268" r:id="rId42"/>
    <p:sldId id="276" r:id="rId43"/>
    <p:sldId id="262" r:id="rId44"/>
    <p:sldId id="290" r:id="rId45"/>
    <p:sldId id="291" r:id="rId46"/>
    <p:sldId id="292" r:id="rId47"/>
    <p:sldId id="263" r:id="rId48"/>
    <p:sldId id="269"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3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2EBBEB-02CA-450A-ADF0-7E1C99D8D2D1}" type="doc">
      <dgm:prSet loTypeId="urn:microsoft.com/office/officeart/2005/8/layout/hProcess11" loCatId="process" qsTypeId="urn:microsoft.com/office/officeart/2005/8/quickstyle/simple4" qsCatId="simple" csTypeId="urn:microsoft.com/office/officeart/2005/8/colors/colorful4" csCatId="colorful" phldr="1"/>
      <dgm:spPr/>
    </dgm:pt>
    <dgm:pt modelId="{11AE9903-8A7D-40BB-AF2D-0827DA2C4880}">
      <dgm:prSet phldrT="[Text]" custT="1"/>
      <dgm:spPr/>
      <dgm:t>
        <a:bodyPr/>
        <a:lstStyle/>
        <a:p>
          <a:r>
            <a:rPr lang="en-IN" sz="1400" b="0" i="0" dirty="0" smtClean="0"/>
            <a:t>Company was conceived and promoted by Mathew T </a:t>
          </a:r>
          <a:r>
            <a:rPr lang="en-IN" sz="1400" b="0" i="0" dirty="0" err="1" smtClean="0"/>
            <a:t>Marattukalam</a:t>
          </a:r>
          <a:r>
            <a:rPr lang="en-IN" sz="1400" b="0" i="0" dirty="0" smtClean="0"/>
            <a:t>, Bharat Steel Tubes, Ltd. </a:t>
          </a:r>
          <a:r>
            <a:rPr lang="en-IN" sz="1400" b="0" i="0" dirty="0" err="1" smtClean="0"/>
            <a:t>Raunaq</a:t>
          </a:r>
          <a:r>
            <a:rPr lang="en-IN" sz="1400" b="0" i="0" dirty="0" smtClean="0"/>
            <a:t> International </a:t>
          </a:r>
          <a:r>
            <a:rPr lang="en-IN" sz="1400" b="0" i="0" dirty="0" err="1" smtClean="0"/>
            <a:t>Pvt.</a:t>
          </a:r>
          <a:r>
            <a:rPr lang="en-IN" sz="1400" b="0" i="0" dirty="0" smtClean="0"/>
            <a:t> Ltd., </a:t>
          </a:r>
          <a:r>
            <a:rPr lang="en-IN" sz="1400" b="0" i="0" dirty="0" err="1" smtClean="0"/>
            <a:t>Raunaq</a:t>
          </a:r>
          <a:r>
            <a:rPr lang="en-IN" sz="1400" b="0" i="0" dirty="0" smtClean="0"/>
            <a:t> &amp; Co. </a:t>
          </a:r>
          <a:r>
            <a:rPr lang="en-IN" sz="1400" b="0" i="0" dirty="0" err="1" smtClean="0"/>
            <a:t>Pvt.</a:t>
          </a:r>
          <a:r>
            <a:rPr lang="en-IN" sz="1400" b="0" i="0" dirty="0" smtClean="0"/>
            <a:t> Ltd., </a:t>
          </a:r>
          <a:r>
            <a:rPr lang="en-IN" sz="1400" b="0" i="0" dirty="0" err="1" smtClean="0"/>
            <a:t>Raunaq</a:t>
          </a:r>
          <a:r>
            <a:rPr lang="en-IN" sz="1400" b="0" i="0" dirty="0" smtClean="0"/>
            <a:t> Singh and Jacob Thomas.</a:t>
          </a:r>
          <a:endParaRPr lang="en-US" sz="1400" dirty="0"/>
        </a:p>
      </dgm:t>
    </dgm:pt>
    <dgm:pt modelId="{92C6F6EE-E440-4C94-A517-2DE87BF86B82}" type="parTrans" cxnId="{040B7B91-68A6-40D3-BEEC-086C3609372F}">
      <dgm:prSet/>
      <dgm:spPr/>
      <dgm:t>
        <a:bodyPr/>
        <a:lstStyle/>
        <a:p>
          <a:endParaRPr lang="en-US"/>
        </a:p>
      </dgm:t>
    </dgm:pt>
    <dgm:pt modelId="{D399CA55-417C-43BC-A648-1F4C0D1A7548}" type="sibTrans" cxnId="{040B7B91-68A6-40D3-BEEC-086C3609372F}">
      <dgm:prSet/>
      <dgm:spPr/>
      <dgm:t>
        <a:bodyPr/>
        <a:lstStyle/>
        <a:p>
          <a:endParaRPr lang="en-US"/>
        </a:p>
      </dgm:t>
    </dgm:pt>
    <dgm:pt modelId="{1C0E0690-0D28-498A-9713-AAA00D9F988C}">
      <dgm:prSet phldrT="[Text]" custT="1"/>
      <dgm:spPr/>
      <dgm:t>
        <a:bodyPr/>
        <a:lstStyle/>
        <a:p>
          <a:r>
            <a:rPr lang="en-IN" sz="1400" b="0" i="0" dirty="0" smtClean="0"/>
            <a:t>1st plant established at </a:t>
          </a:r>
          <a:r>
            <a:rPr lang="en-IN" sz="1400" b="0" i="0" dirty="0" err="1" smtClean="0"/>
            <a:t>Perambra</a:t>
          </a:r>
          <a:r>
            <a:rPr lang="en-IN" sz="1400" b="0" i="0" dirty="0" smtClean="0"/>
            <a:t>, Kerala, India</a:t>
          </a:r>
          <a:endParaRPr lang="en-US" sz="1400" dirty="0"/>
        </a:p>
      </dgm:t>
    </dgm:pt>
    <dgm:pt modelId="{20FDDFC3-5A94-4CF6-810E-1E90F9A3B358}" type="parTrans" cxnId="{EDB18B3F-E7D9-4B83-B7F5-951359A51026}">
      <dgm:prSet/>
      <dgm:spPr/>
      <dgm:t>
        <a:bodyPr/>
        <a:lstStyle/>
        <a:p>
          <a:endParaRPr lang="en-US"/>
        </a:p>
      </dgm:t>
    </dgm:pt>
    <dgm:pt modelId="{15990F3A-020E-4F6E-8FAA-5A892B027742}" type="sibTrans" cxnId="{EDB18B3F-E7D9-4B83-B7F5-951359A51026}">
      <dgm:prSet/>
      <dgm:spPr/>
      <dgm:t>
        <a:bodyPr/>
        <a:lstStyle/>
        <a:p>
          <a:endParaRPr lang="en-US"/>
        </a:p>
      </dgm:t>
    </dgm:pt>
    <dgm:pt modelId="{30E7E69C-CFDD-4141-8033-E02187194337}">
      <dgm:prSet phldrT="[Text]" custT="1"/>
      <dgm:spPr/>
      <dgm:t>
        <a:bodyPr/>
        <a:lstStyle/>
        <a:p>
          <a:r>
            <a:rPr lang="en-IN" sz="1400" b="0" i="0" dirty="0" smtClean="0"/>
            <a:t>2nd plant at </a:t>
          </a:r>
          <a:r>
            <a:rPr lang="en-IN" sz="1400" b="0" i="0" dirty="0" err="1" smtClean="0"/>
            <a:t>Limda</a:t>
          </a:r>
          <a:r>
            <a:rPr lang="en-IN" sz="1400" b="0" i="0" dirty="0" smtClean="0"/>
            <a:t>, Gujarat, India</a:t>
          </a:r>
          <a:endParaRPr lang="en-US" sz="1400" dirty="0"/>
        </a:p>
      </dgm:t>
    </dgm:pt>
    <dgm:pt modelId="{497FA2C5-344C-4358-A83D-19A6BA41A8C9}" type="parTrans" cxnId="{4961989C-B8C3-45EF-93AF-E20A5C24D9C1}">
      <dgm:prSet/>
      <dgm:spPr/>
      <dgm:t>
        <a:bodyPr/>
        <a:lstStyle/>
        <a:p>
          <a:endParaRPr lang="en-US"/>
        </a:p>
      </dgm:t>
    </dgm:pt>
    <dgm:pt modelId="{0B3221A2-15F9-4128-8E4D-76E36777D374}" type="sibTrans" cxnId="{4961989C-B8C3-45EF-93AF-E20A5C24D9C1}">
      <dgm:prSet/>
      <dgm:spPr/>
      <dgm:t>
        <a:bodyPr/>
        <a:lstStyle/>
        <a:p>
          <a:endParaRPr lang="en-US"/>
        </a:p>
      </dgm:t>
    </dgm:pt>
    <dgm:pt modelId="{70FC1ADB-F403-4C8D-9765-CD47B92C50B7}">
      <dgm:prSet phldrT="[Text]" custT="1"/>
      <dgm:spPr/>
      <dgm:t>
        <a:bodyPr/>
        <a:lstStyle/>
        <a:p>
          <a:r>
            <a:rPr lang="en-IN" sz="1400" b="0" i="0" dirty="0" smtClean="0"/>
            <a:t>Acquired Premier Tyres Limited- PTL. It is the 3rd plant at </a:t>
          </a:r>
          <a:r>
            <a:rPr lang="en-IN" sz="1400" b="0" i="0" dirty="0" err="1" smtClean="0"/>
            <a:t>Kalamassery</a:t>
          </a:r>
          <a:r>
            <a:rPr lang="en-IN" sz="1400" b="0" i="0" dirty="0" smtClean="0"/>
            <a:t>, Kerala, India</a:t>
          </a:r>
          <a:endParaRPr lang="en-US" sz="1400" dirty="0"/>
        </a:p>
      </dgm:t>
    </dgm:pt>
    <dgm:pt modelId="{AF5826A2-D9AF-42A1-B720-8C9AE2511BE7}" type="parTrans" cxnId="{65082B81-04CE-4B76-B6CB-24846B054540}">
      <dgm:prSet/>
      <dgm:spPr/>
      <dgm:t>
        <a:bodyPr/>
        <a:lstStyle/>
        <a:p>
          <a:endParaRPr lang="en-US"/>
        </a:p>
      </dgm:t>
    </dgm:pt>
    <dgm:pt modelId="{7E5A4FDA-44F3-4D74-8C6E-10EFF615E7FD}" type="sibTrans" cxnId="{65082B81-04CE-4B76-B6CB-24846B054540}">
      <dgm:prSet/>
      <dgm:spPr/>
      <dgm:t>
        <a:bodyPr/>
        <a:lstStyle/>
        <a:p>
          <a:endParaRPr lang="en-US"/>
        </a:p>
      </dgm:t>
    </dgm:pt>
    <dgm:pt modelId="{995A1454-1744-47A0-9EA0-ADD8F0B949A8}">
      <dgm:prSet phldrT="[Text]"/>
      <dgm:spPr/>
      <dgm:t>
        <a:bodyPr/>
        <a:lstStyle/>
        <a:p>
          <a:r>
            <a:rPr lang="en-IN" b="0" i="0" dirty="0" smtClean="0"/>
            <a:t>Expanded operations outside India by acquiring Dunlop's Africa operations</a:t>
          </a:r>
          <a:endParaRPr lang="en-US" dirty="0"/>
        </a:p>
      </dgm:t>
    </dgm:pt>
    <dgm:pt modelId="{05E5A0CC-2942-4506-B841-382089CE30C4}" type="parTrans" cxnId="{ACBD6BCB-C5A9-43C2-976D-956B0E2958CF}">
      <dgm:prSet/>
      <dgm:spPr/>
      <dgm:t>
        <a:bodyPr/>
        <a:lstStyle/>
        <a:p>
          <a:endParaRPr lang="en-US"/>
        </a:p>
      </dgm:t>
    </dgm:pt>
    <dgm:pt modelId="{545273A2-D1D0-4ADE-B97D-384AD2E19D22}" type="sibTrans" cxnId="{ACBD6BCB-C5A9-43C2-976D-956B0E2958CF}">
      <dgm:prSet/>
      <dgm:spPr/>
      <dgm:t>
        <a:bodyPr/>
        <a:lstStyle/>
        <a:p>
          <a:endParaRPr lang="en-US"/>
        </a:p>
      </dgm:t>
    </dgm:pt>
    <dgm:pt modelId="{FE47FBD5-A719-41B1-B14E-1999BDDE6C3C}" type="pres">
      <dgm:prSet presAssocID="{A82EBBEB-02CA-450A-ADF0-7E1C99D8D2D1}" presName="Name0" presStyleCnt="0">
        <dgm:presLayoutVars>
          <dgm:dir/>
          <dgm:resizeHandles val="exact"/>
        </dgm:presLayoutVars>
      </dgm:prSet>
      <dgm:spPr/>
    </dgm:pt>
    <dgm:pt modelId="{AC72F22C-099E-498D-8DC7-9B2A966FB234}" type="pres">
      <dgm:prSet presAssocID="{A82EBBEB-02CA-450A-ADF0-7E1C99D8D2D1}" presName="arrow" presStyleLbl="bgShp" presStyleIdx="0" presStyleCnt="1" custLinFactNeighborX="965" custLinFactNeighborY="0"/>
      <dgm:spPr/>
    </dgm:pt>
    <dgm:pt modelId="{644FC417-65C4-4A14-9BD3-0B4FE4983038}" type="pres">
      <dgm:prSet presAssocID="{A82EBBEB-02CA-450A-ADF0-7E1C99D8D2D1}" presName="points" presStyleCnt="0"/>
      <dgm:spPr/>
    </dgm:pt>
    <dgm:pt modelId="{0BFD2B67-6EEF-4CED-9DD0-87FB3CA2D9F6}" type="pres">
      <dgm:prSet presAssocID="{11AE9903-8A7D-40BB-AF2D-0827DA2C4880}" presName="compositeA" presStyleCnt="0"/>
      <dgm:spPr/>
    </dgm:pt>
    <dgm:pt modelId="{74D5A485-77E1-4371-B1DA-5501D50167D9}" type="pres">
      <dgm:prSet presAssocID="{11AE9903-8A7D-40BB-AF2D-0827DA2C4880}" presName="textA" presStyleLbl="revTx" presStyleIdx="0" presStyleCnt="5" custScaleX="150450" custScaleY="95379">
        <dgm:presLayoutVars>
          <dgm:bulletEnabled val="1"/>
        </dgm:presLayoutVars>
      </dgm:prSet>
      <dgm:spPr/>
      <dgm:t>
        <a:bodyPr/>
        <a:lstStyle/>
        <a:p>
          <a:endParaRPr lang="en-US"/>
        </a:p>
      </dgm:t>
    </dgm:pt>
    <dgm:pt modelId="{D1720A3A-5323-47FA-A501-DB9E770BAE3D}" type="pres">
      <dgm:prSet presAssocID="{11AE9903-8A7D-40BB-AF2D-0827DA2C4880}" presName="circleA" presStyleLbl="node1" presStyleIdx="0" presStyleCnt="5"/>
      <dgm:spPr/>
    </dgm:pt>
    <dgm:pt modelId="{75045AA1-C2A5-42F2-A01E-58F27156D578}" type="pres">
      <dgm:prSet presAssocID="{11AE9903-8A7D-40BB-AF2D-0827DA2C4880}" presName="spaceA" presStyleCnt="0"/>
      <dgm:spPr/>
    </dgm:pt>
    <dgm:pt modelId="{5D8A696D-F594-467F-A51E-2AFB38010A92}" type="pres">
      <dgm:prSet presAssocID="{D399CA55-417C-43BC-A648-1F4C0D1A7548}" presName="space" presStyleCnt="0"/>
      <dgm:spPr/>
    </dgm:pt>
    <dgm:pt modelId="{11DB416F-964F-4B71-91DA-1F7D6BC44488}" type="pres">
      <dgm:prSet presAssocID="{1C0E0690-0D28-498A-9713-AAA00D9F988C}" presName="compositeB" presStyleCnt="0"/>
      <dgm:spPr/>
    </dgm:pt>
    <dgm:pt modelId="{23DCC597-2234-4D4F-96BB-AAFC5589CBAE}" type="pres">
      <dgm:prSet presAssocID="{1C0E0690-0D28-498A-9713-AAA00D9F988C}" presName="textB" presStyleLbl="revTx" presStyleIdx="1" presStyleCnt="5">
        <dgm:presLayoutVars>
          <dgm:bulletEnabled val="1"/>
        </dgm:presLayoutVars>
      </dgm:prSet>
      <dgm:spPr/>
      <dgm:t>
        <a:bodyPr/>
        <a:lstStyle/>
        <a:p>
          <a:endParaRPr lang="en-US"/>
        </a:p>
      </dgm:t>
    </dgm:pt>
    <dgm:pt modelId="{DAAE9942-3612-4795-A6AA-72B58A68559F}" type="pres">
      <dgm:prSet presAssocID="{1C0E0690-0D28-498A-9713-AAA00D9F988C}" presName="circleB" presStyleLbl="node1" presStyleIdx="1" presStyleCnt="5"/>
      <dgm:spPr/>
    </dgm:pt>
    <dgm:pt modelId="{0A6DE4B1-B5DC-4351-8D87-B3739B905B9B}" type="pres">
      <dgm:prSet presAssocID="{1C0E0690-0D28-498A-9713-AAA00D9F988C}" presName="spaceB" presStyleCnt="0"/>
      <dgm:spPr/>
    </dgm:pt>
    <dgm:pt modelId="{EB47B162-40A6-4D83-9CDA-D925DC1CB76C}" type="pres">
      <dgm:prSet presAssocID="{15990F3A-020E-4F6E-8FAA-5A892B027742}" presName="space" presStyleCnt="0"/>
      <dgm:spPr/>
    </dgm:pt>
    <dgm:pt modelId="{B05C7BC1-12DC-4B6D-AF8F-61290D245B99}" type="pres">
      <dgm:prSet presAssocID="{30E7E69C-CFDD-4141-8033-E02187194337}" presName="compositeA" presStyleCnt="0"/>
      <dgm:spPr/>
    </dgm:pt>
    <dgm:pt modelId="{7E066FCD-E543-4D62-B391-28AD7BF1F33D}" type="pres">
      <dgm:prSet presAssocID="{30E7E69C-CFDD-4141-8033-E02187194337}" presName="textA" presStyleLbl="revTx" presStyleIdx="2" presStyleCnt="5">
        <dgm:presLayoutVars>
          <dgm:bulletEnabled val="1"/>
        </dgm:presLayoutVars>
      </dgm:prSet>
      <dgm:spPr/>
      <dgm:t>
        <a:bodyPr/>
        <a:lstStyle/>
        <a:p>
          <a:endParaRPr lang="en-US"/>
        </a:p>
      </dgm:t>
    </dgm:pt>
    <dgm:pt modelId="{DDB75857-E643-48BD-A6CE-76C56D189731}" type="pres">
      <dgm:prSet presAssocID="{30E7E69C-CFDD-4141-8033-E02187194337}" presName="circleA" presStyleLbl="node1" presStyleIdx="2" presStyleCnt="5"/>
      <dgm:spPr/>
    </dgm:pt>
    <dgm:pt modelId="{5E360312-BF1B-4776-8AFC-DA46428FFE53}" type="pres">
      <dgm:prSet presAssocID="{30E7E69C-CFDD-4141-8033-E02187194337}" presName="spaceA" presStyleCnt="0"/>
      <dgm:spPr/>
    </dgm:pt>
    <dgm:pt modelId="{B7F83558-B746-454C-9E4D-1C5B6461FF57}" type="pres">
      <dgm:prSet presAssocID="{0B3221A2-15F9-4128-8E4D-76E36777D374}" presName="space" presStyleCnt="0"/>
      <dgm:spPr/>
    </dgm:pt>
    <dgm:pt modelId="{2638DE43-B835-4692-8B6D-859AE60F2741}" type="pres">
      <dgm:prSet presAssocID="{70FC1ADB-F403-4C8D-9765-CD47B92C50B7}" presName="compositeB" presStyleCnt="0"/>
      <dgm:spPr/>
    </dgm:pt>
    <dgm:pt modelId="{5167A019-C963-46E0-913F-26C35A8A3A2A}" type="pres">
      <dgm:prSet presAssocID="{70FC1ADB-F403-4C8D-9765-CD47B92C50B7}" presName="textB" presStyleLbl="revTx" presStyleIdx="3" presStyleCnt="5">
        <dgm:presLayoutVars>
          <dgm:bulletEnabled val="1"/>
        </dgm:presLayoutVars>
      </dgm:prSet>
      <dgm:spPr/>
      <dgm:t>
        <a:bodyPr/>
        <a:lstStyle/>
        <a:p>
          <a:endParaRPr lang="en-US"/>
        </a:p>
      </dgm:t>
    </dgm:pt>
    <dgm:pt modelId="{1C4DEAE2-5E91-451B-9FD4-F8E2742DA4C0}" type="pres">
      <dgm:prSet presAssocID="{70FC1ADB-F403-4C8D-9765-CD47B92C50B7}" presName="circleB" presStyleLbl="node1" presStyleIdx="3" presStyleCnt="5"/>
      <dgm:spPr/>
    </dgm:pt>
    <dgm:pt modelId="{77772CE8-533A-48C5-817A-DF5968D8922E}" type="pres">
      <dgm:prSet presAssocID="{70FC1ADB-F403-4C8D-9765-CD47B92C50B7}" presName="spaceB" presStyleCnt="0"/>
      <dgm:spPr/>
    </dgm:pt>
    <dgm:pt modelId="{36A01DBE-63E2-43ED-B7F8-E0A10E1CE1AA}" type="pres">
      <dgm:prSet presAssocID="{7E5A4FDA-44F3-4D74-8C6E-10EFF615E7FD}" presName="space" presStyleCnt="0"/>
      <dgm:spPr/>
    </dgm:pt>
    <dgm:pt modelId="{8B56C067-757B-4BDD-9090-681BB1F9C0D8}" type="pres">
      <dgm:prSet presAssocID="{995A1454-1744-47A0-9EA0-ADD8F0B949A8}" presName="compositeA" presStyleCnt="0"/>
      <dgm:spPr/>
    </dgm:pt>
    <dgm:pt modelId="{30B16C26-603B-4732-B0BF-C0E587E16919}" type="pres">
      <dgm:prSet presAssocID="{995A1454-1744-47A0-9EA0-ADD8F0B949A8}" presName="textA" presStyleLbl="revTx" presStyleIdx="4" presStyleCnt="5">
        <dgm:presLayoutVars>
          <dgm:bulletEnabled val="1"/>
        </dgm:presLayoutVars>
      </dgm:prSet>
      <dgm:spPr/>
      <dgm:t>
        <a:bodyPr/>
        <a:lstStyle/>
        <a:p>
          <a:endParaRPr lang="en-US"/>
        </a:p>
      </dgm:t>
    </dgm:pt>
    <dgm:pt modelId="{9A02CA11-B5C5-45A6-B08F-3CD31F50CF35}" type="pres">
      <dgm:prSet presAssocID="{995A1454-1744-47A0-9EA0-ADD8F0B949A8}" presName="circleA" presStyleLbl="node1" presStyleIdx="4" presStyleCnt="5"/>
      <dgm:spPr/>
    </dgm:pt>
    <dgm:pt modelId="{F5E186BA-2F4F-4115-87C9-DF7877E6A9C6}" type="pres">
      <dgm:prSet presAssocID="{995A1454-1744-47A0-9EA0-ADD8F0B949A8}" presName="spaceA" presStyleCnt="0"/>
      <dgm:spPr/>
    </dgm:pt>
  </dgm:ptLst>
  <dgm:cxnLst>
    <dgm:cxn modelId="{4961989C-B8C3-45EF-93AF-E20A5C24D9C1}" srcId="{A82EBBEB-02CA-450A-ADF0-7E1C99D8D2D1}" destId="{30E7E69C-CFDD-4141-8033-E02187194337}" srcOrd="2" destOrd="0" parTransId="{497FA2C5-344C-4358-A83D-19A6BA41A8C9}" sibTransId="{0B3221A2-15F9-4128-8E4D-76E36777D374}"/>
    <dgm:cxn modelId="{0246C0A6-BFE5-428A-8A7C-D019CD71B677}" type="presOf" srcId="{11AE9903-8A7D-40BB-AF2D-0827DA2C4880}" destId="{74D5A485-77E1-4371-B1DA-5501D50167D9}" srcOrd="0" destOrd="0" presId="urn:microsoft.com/office/officeart/2005/8/layout/hProcess11"/>
    <dgm:cxn modelId="{3DD3F96E-2CE6-4D39-A5A6-3E1FE3FC2B78}" type="presOf" srcId="{70FC1ADB-F403-4C8D-9765-CD47B92C50B7}" destId="{5167A019-C963-46E0-913F-26C35A8A3A2A}" srcOrd="0" destOrd="0" presId="urn:microsoft.com/office/officeart/2005/8/layout/hProcess11"/>
    <dgm:cxn modelId="{D40EE687-0DB3-4D62-8DC1-4F8918EAB810}" type="presOf" srcId="{1C0E0690-0D28-498A-9713-AAA00D9F988C}" destId="{23DCC597-2234-4D4F-96BB-AAFC5589CBAE}" srcOrd="0" destOrd="0" presId="urn:microsoft.com/office/officeart/2005/8/layout/hProcess11"/>
    <dgm:cxn modelId="{ACBD6BCB-C5A9-43C2-976D-956B0E2958CF}" srcId="{A82EBBEB-02CA-450A-ADF0-7E1C99D8D2D1}" destId="{995A1454-1744-47A0-9EA0-ADD8F0B949A8}" srcOrd="4" destOrd="0" parTransId="{05E5A0CC-2942-4506-B841-382089CE30C4}" sibTransId="{545273A2-D1D0-4ADE-B97D-384AD2E19D22}"/>
    <dgm:cxn modelId="{EDB18B3F-E7D9-4B83-B7F5-951359A51026}" srcId="{A82EBBEB-02CA-450A-ADF0-7E1C99D8D2D1}" destId="{1C0E0690-0D28-498A-9713-AAA00D9F988C}" srcOrd="1" destOrd="0" parTransId="{20FDDFC3-5A94-4CF6-810E-1E90F9A3B358}" sibTransId="{15990F3A-020E-4F6E-8FAA-5A892B027742}"/>
    <dgm:cxn modelId="{3F525F33-B4BA-416B-904D-58284DB17327}" type="presOf" srcId="{A82EBBEB-02CA-450A-ADF0-7E1C99D8D2D1}" destId="{FE47FBD5-A719-41B1-B14E-1999BDDE6C3C}" srcOrd="0" destOrd="0" presId="urn:microsoft.com/office/officeart/2005/8/layout/hProcess11"/>
    <dgm:cxn modelId="{1508E69C-DE17-4BEB-8330-120D450C1114}" type="presOf" srcId="{995A1454-1744-47A0-9EA0-ADD8F0B949A8}" destId="{30B16C26-603B-4732-B0BF-C0E587E16919}" srcOrd="0" destOrd="0" presId="urn:microsoft.com/office/officeart/2005/8/layout/hProcess11"/>
    <dgm:cxn modelId="{C0B7100C-DF6D-4574-927A-8455DA467956}" type="presOf" srcId="{30E7E69C-CFDD-4141-8033-E02187194337}" destId="{7E066FCD-E543-4D62-B391-28AD7BF1F33D}" srcOrd="0" destOrd="0" presId="urn:microsoft.com/office/officeart/2005/8/layout/hProcess11"/>
    <dgm:cxn modelId="{040B7B91-68A6-40D3-BEEC-086C3609372F}" srcId="{A82EBBEB-02CA-450A-ADF0-7E1C99D8D2D1}" destId="{11AE9903-8A7D-40BB-AF2D-0827DA2C4880}" srcOrd="0" destOrd="0" parTransId="{92C6F6EE-E440-4C94-A517-2DE87BF86B82}" sibTransId="{D399CA55-417C-43BC-A648-1F4C0D1A7548}"/>
    <dgm:cxn modelId="{65082B81-04CE-4B76-B6CB-24846B054540}" srcId="{A82EBBEB-02CA-450A-ADF0-7E1C99D8D2D1}" destId="{70FC1ADB-F403-4C8D-9765-CD47B92C50B7}" srcOrd="3" destOrd="0" parTransId="{AF5826A2-D9AF-42A1-B720-8C9AE2511BE7}" sibTransId="{7E5A4FDA-44F3-4D74-8C6E-10EFF615E7FD}"/>
    <dgm:cxn modelId="{4696C703-9214-45C2-8C65-0EB6A5A21FA1}" type="presParOf" srcId="{FE47FBD5-A719-41B1-B14E-1999BDDE6C3C}" destId="{AC72F22C-099E-498D-8DC7-9B2A966FB234}" srcOrd="0" destOrd="0" presId="urn:microsoft.com/office/officeart/2005/8/layout/hProcess11"/>
    <dgm:cxn modelId="{15208B4C-DD20-4F9E-A4B0-0BC5C88B2718}" type="presParOf" srcId="{FE47FBD5-A719-41B1-B14E-1999BDDE6C3C}" destId="{644FC417-65C4-4A14-9BD3-0B4FE4983038}" srcOrd="1" destOrd="0" presId="urn:microsoft.com/office/officeart/2005/8/layout/hProcess11"/>
    <dgm:cxn modelId="{92F8D58D-FF42-406E-8D8D-4A03FF041B52}" type="presParOf" srcId="{644FC417-65C4-4A14-9BD3-0B4FE4983038}" destId="{0BFD2B67-6EEF-4CED-9DD0-87FB3CA2D9F6}" srcOrd="0" destOrd="0" presId="urn:microsoft.com/office/officeart/2005/8/layout/hProcess11"/>
    <dgm:cxn modelId="{2EB3B729-5CBB-4C0E-AEBD-24CC8FE022B6}" type="presParOf" srcId="{0BFD2B67-6EEF-4CED-9DD0-87FB3CA2D9F6}" destId="{74D5A485-77E1-4371-B1DA-5501D50167D9}" srcOrd="0" destOrd="0" presId="urn:microsoft.com/office/officeart/2005/8/layout/hProcess11"/>
    <dgm:cxn modelId="{6D6BD198-791C-4922-96C3-A62151489965}" type="presParOf" srcId="{0BFD2B67-6EEF-4CED-9DD0-87FB3CA2D9F6}" destId="{D1720A3A-5323-47FA-A501-DB9E770BAE3D}" srcOrd="1" destOrd="0" presId="urn:microsoft.com/office/officeart/2005/8/layout/hProcess11"/>
    <dgm:cxn modelId="{355E0AE1-A6F3-4E02-8A7C-3BC3C7288E65}" type="presParOf" srcId="{0BFD2B67-6EEF-4CED-9DD0-87FB3CA2D9F6}" destId="{75045AA1-C2A5-42F2-A01E-58F27156D578}" srcOrd="2" destOrd="0" presId="urn:microsoft.com/office/officeart/2005/8/layout/hProcess11"/>
    <dgm:cxn modelId="{5F83B65F-05ED-4FEE-9461-7B327EA15084}" type="presParOf" srcId="{644FC417-65C4-4A14-9BD3-0B4FE4983038}" destId="{5D8A696D-F594-467F-A51E-2AFB38010A92}" srcOrd="1" destOrd="0" presId="urn:microsoft.com/office/officeart/2005/8/layout/hProcess11"/>
    <dgm:cxn modelId="{90437203-3A59-42E0-85F1-6783E79C3E7D}" type="presParOf" srcId="{644FC417-65C4-4A14-9BD3-0B4FE4983038}" destId="{11DB416F-964F-4B71-91DA-1F7D6BC44488}" srcOrd="2" destOrd="0" presId="urn:microsoft.com/office/officeart/2005/8/layout/hProcess11"/>
    <dgm:cxn modelId="{1F5357BF-B3DE-45AA-A4FC-F40361242723}" type="presParOf" srcId="{11DB416F-964F-4B71-91DA-1F7D6BC44488}" destId="{23DCC597-2234-4D4F-96BB-AAFC5589CBAE}" srcOrd="0" destOrd="0" presId="urn:microsoft.com/office/officeart/2005/8/layout/hProcess11"/>
    <dgm:cxn modelId="{39F0356D-69F5-499C-92AC-20298E52AF8D}" type="presParOf" srcId="{11DB416F-964F-4B71-91DA-1F7D6BC44488}" destId="{DAAE9942-3612-4795-A6AA-72B58A68559F}" srcOrd="1" destOrd="0" presId="urn:microsoft.com/office/officeart/2005/8/layout/hProcess11"/>
    <dgm:cxn modelId="{CC7D520F-CDE1-45B2-809C-59EAECF57A13}" type="presParOf" srcId="{11DB416F-964F-4B71-91DA-1F7D6BC44488}" destId="{0A6DE4B1-B5DC-4351-8D87-B3739B905B9B}" srcOrd="2" destOrd="0" presId="urn:microsoft.com/office/officeart/2005/8/layout/hProcess11"/>
    <dgm:cxn modelId="{9F801BBC-7865-407E-93E9-AAF461C02C1F}" type="presParOf" srcId="{644FC417-65C4-4A14-9BD3-0B4FE4983038}" destId="{EB47B162-40A6-4D83-9CDA-D925DC1CB76C}" srcOrd="3" destOrd="0" presId="urn:microsoft.com/office/officeart/2005/8/layout/hProcess11"/>
    <dgm:cxn modelId="{B2995833-EAE0-4291-B33D-7B7FBBFAE2CC}" type="presParOf" srcId="{644FC417-65C4-4A14-9BD3-0B4FE4983038}" destId="{B05C7BC1-12DC-4B6D-AF8F-61290D245B99}" srcOrd="4" destOrd="0" presId="urn:microsoft.com/office/officeart/2005/8/layout/hProcess11"/>
    <dgm:cxn modelId="{9C562B2F-5591-4096-A162-72B0991C437D}" type="presParOf" srcId="{B05C7BC1-12DC-4B6D-AF8F-61290D245B99}" destId="{7E066FCD-E543-4D62-B391-28AD7BF1F33D}" srcOrd="0" destOrd="0" presId="urn:microsoft.com/office/officeart/2005/8/layout/hProcess11"/>
    <dgm:cxn modelId="{E9D2BCC8-89C5-493E-8047-42B44E057794}" type="presParOf" srcId="{B05C7BC1-12DC-4B6D-AF8F-61290D245B99}" destId="{DDB75857-E643-48BD-A6CE-76C56D189731}" srcOrd="1" destOrd="0" presId="urn:microsoft.com/office/officeart/2005/8/layout/hProcess11"/>
    <dgm:cxn modelId="{04F561D3-CA33-4E0B-9676-E167074DDC18}" type="presParOf" srcId="{B05C7BC1-12DC-4B6D-AF8F-61290D245B99}" destId="{5E360312-BF1B-4776-8AFC-DA46428FFE53}" srcOrd="2" destOrd="0" presId="urn:microsoft.com/office/officeart/2005/8/layout/hProcess11"/>
    <dgm:cxn modelId="{C50DF3C7-55CD-43D8-8CB6-C09EAB35C8CA}" type="presParOf" srcId="{644FC417-65C4-4A14-9BD3-0B4FE4983038}" destId="{B7F83558-B746-454C-9E4D-1C5B6461FF57}" srcOrd="5" destOrd="0" presId="urn:microsoft.com/office/officeart/2005/8/layout/hProcess11"/>
    <dgm:cxn modelId="{29D38014-B888-4BE8-A575-793AB19E6CDC}" type="presParOf" srcId="{644FC417-65C4-4A14-9BD3-0B4FE4983038}" destId="{2638DE43-B835-4692-8B6D-859AE60F2741}" srcOrd="6" destOrd="0" presId="urn:microsoft.com/office/officeart/2005/8/layout/hProcess11"/>
    <dgm:cxn modelId="{A2EE1556-56E1-4099-987E-0B61E29D38FF}" type="presParOf" srcId="{2638DE43-B835-4692-8B6D-859AE60F2741}" destId="{5167A019-C963-46E0-913F-26C35A8A3A2A}" srcOrd="0" destOrd="0" presId="urn:microsoft.com/office/officeart/2005/8/layout/hProcess11"/>
    <dgm:cxn modelId="{08B3B26F-363B-42B0-9967-E3F14293E952}" type="presParOf" srcId="{2638DE43-B835-4692-8B6D-859AE60F2741}" destId="{1C4DEAE2-5E91-451B-9FD4-F8E2742DA4C0}" srcOrd="1" destOrd="0" presId="urn:microsoft.com/office/officeart/2005/8/layout/hProcess11"/>
    <dgm:cxn modelId="{35B8F994-691F-4338-BE6A-86B149A2E3E9}" type="presParOf" srcId="{2638DE43-B835-4692-8B6D-859AE60F2741}" destId="{77772CE8-533A-48C5-817A-DF5968D8922E}" srcOrd="2" destOrd="0" presId="urn:microsoft.com/office/officeart/2005/8/layout/hProcess11"/>
    <dgm:cxn modelId="{557C0059-8CBE-4867-AF12-9B641804A36D}" type="presParOf" srcId="{644FC417-65C4-4A14-9BD3-0B4FE4983038}" destId="{36A01DBE-63E2-43ED-B7F8-E0A10E1CE1AA}" srcOrd="7" destOrd="0" presId="urn:microsoft.com/office/officeart/2005/8/layout/hProcess11"/>
    <dgm:cxn modelId="{1A578E3A-B7AF-43FA-92A2-FD54859EC59D}" type="presParOf" srcId="{644FC417-65C4-4A14-9BD3-0B4FE4983038}" destId="{8B56C067-757B-4BDD-9090-681BB1F9C0D8}" srcOrd="8" destOrd="0" presId="urn:microsoft.com/office/officeart/2005/8/layout/hProcess11"/>
    <dgm:cxn modelId="{96831F9A-AB99-4633-BA22-9B6DB970E034}" type="presParOf" srcId="{8B56C067-757B-4BDD-9090-681BB1F9C0D8}" destId="{30B16C26-603B-4732-B0BF-C0E587E16919}" srcOrd="0" destOrd="0" presId="urn:microsoft.com/office/officeart/2005/8/layout/hProcess11"/>
    <dgm:cxn modelId="{E1444719-A6AF-4941-8753-2F52A6855CED}" type="presParOf" srcId="{8B56C067-757B-4BDD-9090-681BB1F9C0D8}" destId="{9A02CA11-B5C5-45A6-B08F-3CD31F50CF35}" srcOrd="1" destOrd="0" presId="urn:microsoft.com/office/officeart/2005/8/layout/hProcess11"/>
    <dgm:cxn modelId="{495FF134-7DDA-4DBE-8D55-6BC93C428897}" type="presParOf" srcId="{8B56C067-757B-4BDD-9090-681BB1F9C0D8}" destId="{F5E186BA-2F4F-4115-87C9-DF7877E6A9C6}"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2EBBEB-02CA-450A-ADF0-7E1C99D8D2D1}" type="doc">
      <dgm:prSet loTypeId="urn:microsoft.com/office/officeart/2005/8/layout/hProcess11" loCatId="process" qsTypeId="urn:microsoft.com/office/officeart/2005/8/quickstyle/simple4" qsCatId="simple" csTypeId="urn:microsoft.com/office/officeart/2005/8/colors/colorful4" csCatId="colorful" phldr="1"/>
      <dgm:spPr/>
    </dgm:pt>
    <dgm:pt modelId="{1C0E0690-0D28-498A-9713-AAA00D9F988C}">
      <dgm:prSet phldrT="[Text]"/>
      <dgm:spPr/>
      <dgm:t>
        <a:bodyPr/>
        <a:lstStyle/>
        <a:p>
          <a:r>
            <a:rPr lang="en-IN" b="0" i="0" dirty="0" smtClean="0"/>
            <a:t>A new plant at Chennai Tamil Nadu, India</a:t>
          </a:r>
          <a:endParaRPr lang="en-US" dirty="0"/>
        </a:p>
      </dgm:t>
    </dgm:pt>
    <dgm:pt modelId="{20FDDFC3-5A94-4CF6-810E-1E90F9A3B358}" type="parTrans" cxnId="{EDB18B3F-E7D9-4B83-B7F5-951359A51026}">
      <dgm:prSet/>
      <dgm:spPr/>
      <dgm:t>
        <a:bodyPr/>
        <a:lstStyle/>
        <a:p>
          <a:endParaRPr lang="en-US"/>
        </a:p>
      </dgm:t>
    </dgm:pt>
    <dgm:pt modelId="{15990F3A-020E-4F6E-8FAA-5A892B027742}" type="sibTrans" cxnId="{EDB18B3F-E7D9-4B83-B7F5-951359A51026}">
      <dgm:prSet/>
      <dgm:spPr/>
      <dgm:t>
        <a:bodyPr/>
        <a:lstStyle/>
        <a:p>
          <a:endParaRPr lang="en-US"/>
        </a:p>
      </dgm:t>
    </dgm:pt>
    <dgm:pt modelId="{30E7E69C-CFDD-4141-8033-E02187194337}">
      <dgm:prSet phldrT="[Text]"/>
      <dgm:spPr/>
      <dgm:t>
        <a:bodyPr/>
        <a:lstStyle/>
        <a:p>
          <a:r>
            <a:rPr lang="en-IN" b="0" i="0" dirty="0" smtClean="0"/>
            <a:t>Apollo Tyres acquired the Netherlands-based tyre maker </a:t>
          </a:r>
          <a:r>
            <a:rPr lang="en-IN" b="0" i="0" dirty="0" err="1" smtClean="0"/>
            <a:t>Vredestein</a:t>
          </a:r>
          <a:r>
            <a:rPr lang="en-IN" b="0" i="0" dirty="0" smtClean="0"/>
            <a:t> </a:t>
          </a:r>
          <a:r>
            <a:rPr lang="en-IN" b="0" i="0" dirty="0" err="1" smtClean="0"/>
            <a:t>Banden</a:t>
          </a:r>
          <a:r>
            <a:rPr lang="en-IN" b="0" i="0" dirty="0" smtClean="0"/>
            <a:t> B.V. (VBBV) for an undisclosed sum</a:t>
          </a:r>
          <a:endParaRPr lang="en-US" dirty="0"/>
        </a:p>
      </dgm:t>
    </dgm:pt>
    <dgm:pt modelId="{497FA2C5-344C-4358-A83D-19A6BA41A8C9}" type="parTrans" cxnId="{4961989C-B8C3-45EF-93AF-E20A5C24D9C1}">
      <dgm:prSet/>
      <dgm:spPr/>
      <dgm:t>
        <a:bodyPr/>
        <a:lstStyle/>
        <a:p>
          <a:endParaRPr lang="en-US"/>
        </a:p>
      </dgm:t>
    </dgm:pt>
    <dgm:pt modelId="{0B3221A2-15F9-4128-8E4D-76E36777D374}" type="sibTrans" cxnId="{4961989C-B8C3-45EF-93AF-E20A5C24D9C1}">
      <dgm:prSet/>
      <dgm:spPr/>
      <dgm:t>
        <a:bodyPr/>
        <a:lstStyle/>
        <a:p>
          <a:endParaRPr lang="en-US"/>
        </a:p>
      </dgm:t>
    </dgm:pt>
    <dgm:pt modelId="{70FC1ADB-F403-4C8D-9765-CD47B92C50B7}">
      <dgm:prSet phldrT="[Text]"/>
      <dgm:spPr/>
      <dgm:t>
        <a:bodyPr/>
        <a:lstStyle/>
        <a:p>
          <a:r>
            <a:rPr lang="en-IN" b="0" i="0" dirty="0" smtClean="0"/>
            <a:t>Disposed of the Dunlop brand in Africa along with most of the South African operation in a sale to Sumitomo Rubber Industries of Japan.</a:t>
          </a:r>
          <a:endParaRPr lang="en-US" dirty="0"/>
        </a:p>
      </dgm:t>
    </dgm:pt>
    <dgm:pt modelId="{AF5826A2-D9AF-42A1-B720-8C9AE2511BE7}" type="parTrans" cxnId="{65082B81-04CE-4B76-B6CB-24846B054540}">
      <dgm:prSet/>
      <dgm:spPr/>
      <dgm:t>
        <a:bodyPr/>
        <a:lstStyle/>
        <a:p>
          <a:endParaRPr lang="en-US"/>
        </a:p>
      </dgm:t>
    </dgm:pt>
    <dgm:pt modelId="{7E5A4FDA-44F3-4D74-8C6E-10EFF615E7FD}" type="sibTrans" cxnId="{65082B81-04CE-4B76-B6CB-24846B054540}">
      <dgm:prSet/>
      <dgm:spPr/>
      <dgm:t>
        <a:bodyPr/>
        <a:lstStyle/>
        <a:p>
          <a:endParaRPr lang="en-US"/>
        </a:p>
      </dgm:t>
    </dgm:pt>
    <dgm:pt modelId="{309755A1-CC05-44A2-9B1C-44B820106082}">
      <dgm:prSet phldrT="[Text]"/>
      <dgm:spPr/>
      <dgm:t>
        <a:bodyPr/>
        <a:lstStyle/>
        <a:p>
          <a:endParaRPr lang="en-US" dirty="0"/>
        </a:p>
      </dgm:t>
    </dgm:pt>
    <dgm:pt modelId="{0FD7F4A2-DE24-4EDE-BFEE-8D94B9D79D1D}" type="parTrans" cxnId="{D8D41491-C1F7-4853-9F40-3B11412BFE85}">
      <dgm:prSet/>
      <dgm:spPr/>
      <dgm:t>
        <a:bodyPr/>
        <a:lstStyle/>
        <a:p>
          <a:endParaRPr lang="en-US"/>
        </a:p>
      </dgm:t>
    </dgm:pt>
    <dgm:pt modelId="{DB71068F-7E6C-4275-A6F7-FE84703920EE}" type="sibTrans" cxnId="{D8D41491-C1F7-4853-9F40-3B11412BFE85}">
      <dgm:prSet/>
      <dgm:spPr/>
      <dgm:t>
        <a:bodyPr/>
        <a:lstStyle/>
        <a:p>
          <a:endParaRPr lang="en-US"/>
        </a:p>
      </dgm:t>
    </dgm:pt>
    <dgm:pt modelId="{995A1454-1744-47A0-9EA0-ADD8F0B949A8}">
      <dgm:prSet phldrT="[Text]"/>
      <dgm:spPr/>
      <dgm:t>
        <a:bodyPr/>
        <a:lstStyle/>
        <a:p>
          <a:r>
            <a:rPr lang="en-IN" b="0" i="0" dirty="0" smtClean="0"/>
            <a:t>Apollo has bought Germany’s </a:t>
          </a:r>
          <a:r>
            <a:rPr lang="en-IN" b="0" i="0" dirty="0" err="1" smtClean="0"/>
            <a:t>Reifencom</a:t>
          </a:r>
          <a:r>
            <a:rPr lang="en-IN" b="0" i="0" dirty="0" smtClean="0"/>
            <a:t> for €45.6 million</a:t>
          </a:r>
          <a:endParaRPr lang="en-US" dirty="0"/>
        </a:p>
      </dgm:t>
    </dgm:pt>
    <dgm:pt modelId="{05E5A0CC-2942-4506-B841-382089CE30C4}" type="parTrans" cxnId="{ACBD6BCB-C5A9-43C2-976D-956B0E2958CF}">
      <dgm:prSet/>
      <dgm:spPr/>
      <dgm:t>
        <a:bodyPr/>
        <a:lstStyle/>
        <a:p>
          <a:endParaRPr lang="en-US"/>
        </a:p>
      </dgm:t>
    </dgm:pt>
    <dgm:pt modelId="{545273A2-D1D0-4ADE-B97D-384AD2E19D22}" type="sibTrans" cxnId="{ACBD6BCB-C5A9-43C2-976D-956B0E2958CF}">
      <dgm:prSet/>
      <dgm:spPr/>
      <dgm:t>
        <a:bodyPr/>
        <a:lstStyle/>
        <a:p>
          <a:endParaRPr lang="en-US"/>
        </a:p>
      </dgm:t>
    </dgm:pt>
    <dgm:pt modelId="{0A5B6C51-D9EE-4E10-8666-D2A1A5D83D07}">
      <dgm:prSet phldrT="[Text]"/>
      <dgm:spPr/>
      <dgm:t>
        <a:bodyPr/>
        <a:lstStyle/>
        <a:p>
          <a:endParaRPr lang="en-US" dirty="0"/>
        </a:p>
      </dgm:t>
    </dgm:pt>
    <dgm:pt modelId="{D38502BB-5FA8-41B1-BB3F-474EBEBC00D8}" type="sibTrans" cxnId="{6149FE97-549A-46BB-88F9-6B8128A05CED}">
      <dgm:prSet/>
      <dgm:spPr/>
      <dgm:t>
        <a:bodyPr/>
        <a:lstStyle/>
        <a:p>
          <a:endParaRPr lang="en-US"/>
        </a:p>
      </dgm:t>
    </dgm:pt>
    <dgm:pt modelId="{953E341F-793D-4379-8A42-4CCA7905F8ED}" type="parTrans" cxnId="{6149FE97-549A-46BB-88F9-6B8128A05CED}">
      <dgm:prSet/>
      <dgm:spPr/>
      <dgm:t>
        <a:bodyPr/>
        <a:lstStyle/>
        <a:p>
          <a:endParaRPr lang="en-US"/>
        </a:p>
      </dgm:t>
    </dgm:pt>
    <dgm:pt modelId="{FE47FBD5-A719-41B1-B14E-1999BDDE6C3C}" type="pres">
      <dgm:prSet presAssocID="{A82EBBEB-02CA-450A-ADF0-7E1C99D8D2D1}" presName="Name0" presStyleCnt="0">
        <dgm:presLayoutVars>
          <dgm:dir/>
          <dgm:resizeHandles val="exact"/>
        </dgm:presLayoutVars>
      </dgm:prSet>
      <dgm:spPr/>
    </dgm:pt>
    <dgm:pt modelId="{AC72F22C-099E-498D-8DC7-9B2A966FB234}" type="pres">
      <dgm:prSet presAssocID="{A82EBBEB-02CA-450A-ADF0-7E1C99D8D2D1}" presName="arrow" presStyleLbl="bgShp" presStyleIdx="0" presStyleCnt="1"/>
      <dgm:spPr/>
    </dgm:pt>
    <dgm:pt modelId="{644FC417-65C4-4A14-9BD3-0B4FE4983038}" type="pres">
      <dgm:prSet presAssocID="{A82EBBEB-02CA-450A-ADF0-7E1C99D8D2D1}" presName="points" presStyleCnt="0"/>
      <dgm:spPr/>
    </dgm:pt>
    <dgm:pt modelId="{610D4838-CC8E-4E6B-96A2-816A738EA322}" type="pres">
      <dgm:prSet presAssocID="{1C0E0690-0D28-498A-9713-AAA00D9F988C}" presName="compositeA" presStyleCnt="0"/>
      <dgm:spPr/>
    </dgm:pt>
    <dgm:pt modelId="{0D1976BA-FCE6-478C-9366-AF71BE4D0F0C}" type="pres">
      <dgm:prSet presAssocID="{1C0E0690-0D28-498A-9713-AAA00D9F988C}" presName="textA" presStyleLbl="revTx" presStyleIdx="0" presStyleCnt="4">
        <dgm:presLayoutVars>
          <dgm:bulletEnabled val="1"/>
        </dgm:presLayoutVars>
      </dgm:prSet>
      <dgm:spPr/>
      <dgm:t>
        <a:bodyPr/>
        <a:lstStyle/>
        <a:p>
          <a:endParaRPr lang="en-IN"/>
        </a:p>
      </dgm:t>
    </dgm:pt>
    <dgm:pt modelId="{7C763714-48F4-43C0-9728-44DB432CC3AA}" type="pres">
      <dgm:prSet presAssocID="{1C0E0690-0D28-498A-9713-AAA00D9F988C}" presName="circleA" presStyleLbl="node1" presStyleIdx="0" presStyleCnt="4"/>
      <dgm:spPr/>
    </dgm:pt>
    <dgm:pt modelId="{16E3731F-0B08-4BAC-8C8B-751DC8C5C564}" type="pres">
      <dgm:prSet presAssocID="{1C0E0690-0D28-498A-9713-AAA00D9F988C}" presName="spaceA" presStyleCnt="0"/>
      <dgm:spPr/>
    </dgm:pt>
    <dgm:pt modelId="{EB47B162-40A6-4D83-9CDA-D925DC1CB76C}" type="pres">
      <dgm:prSet presAssocID="{15990F3A-020E-4F6E-8FAA-5A892B027742}" presName="space" presStyleCnt="0"/>
      <dgm:spPr/>
    </dgm:pt>
    <dgm:pt modelId="{2EA10939-BCBD-4480-AF3D-4280CACC74DD}" type="pres">
      <dgm:prSet presAssocID="{30E7E69C-CFDD-4141-8033-E02187194337}" presName="compositeB" presStyleCnt="0"/>
      <dgm:spPr/>
    </dgm:pt>
    <dgm:pt modelId="{FD3340C2-CE21-430B-8B5B-0DD6A604EA7D}" type="pres">
      <dgm:prSet presAssocID="{30E7E69C-CFDD-4141-8033-E02187194337}" presName="textB" presStyleLbl="revTx" presStyleIdx="1" presStyleCnt="4">
        <dgm:presLayoutVars>
          <dgm:bulletEnabled val="1"/>
        </dgm:presLayoutVars>
      </dgm:prSet>
      <dgm:spPr/>
      <dgm:t>
        <a:bodyPr/>
        <a:lstStyle/>
        <a:p>
          <a:endParaRPr lang="en-IN"/>
        </a:p>
      </dgm:t>
    </dgm:pt>
    <dgm:pt modelId="{9719D89D-6E8E-478A-8CD6-829E2016F643}" type="pres">
      <dgm:prSet presAssocID="{30E7E69C-CFDD-4141-8033-E02187194337}" presName="circleB" presStyleLbl="node1" presStyleIdx="1" presStyleCnt="4"/>
      <dgm:spPr/>
    </dgm:pt>
    <dgm:pt modelId="{CBF64526-B4C5-464E-93F3-637F87677F06}" type="pres">
      <dgm:prSet presAssocID="{30E7E69C-CFDD-4141-8033-E02187194337}" presName="spaceB" presStyleCnt="0"/>
      <dgm:spPr/>
    </dgm:pt>
    <dgm:pt modelId="{B7F83558-B746-454C-9E4D-1C5B6461FF57}" type="pres">
      <dgm:prSet presAssocID="{0B3221A2-15F9-4128-8E4D-76E36777D374}" presName="space" presStyleCnt="0"/>
      <dgm:spPr/>
    </dgm:pt>
    <dgm:pt modelId="{66827C90-F92A-4B85-A594-7AE1C2DD8F4C}" type="pres">
      <dgm:prSet presAssocID="{70FC1ADB-F403-4C8D-9765-CD47B92C50B7}" presName="compositeA" presStyleCnt="0"/>
      <dgm:spPr/>
    </dgm:pt>
    <dgm:pt modelId="{F56F488B-9AB6-42D0-A24B-533EB6F70B73}" type="pres">
      <dgm:prSet presAssocID="{70FC1ADB-F403-4C8D-9765-CD47B92C50B7}" presName="textA" presStyleLbl="revTx" presStyleIdx="2" presStyleCnt="4">
        <dgm:presLayoutVars>
          <dgm:bulletEnabled val="1"/>
        </dgm:presLayoutVars>
      </dgm:prSet>
      <dgm:spPr/>
      <dgm:t>
        <a:bodyPr/>
        <a:lstStyle/>
        <a:p>
          <a:endParaRPr lang="en-IN"/>
        </a:p>
      </dgm:t>
    </dgm:pt>
    <dgm:pt modelId="{4BDB3F7D-0D3C-4581-AF2D-FE977FCB6291}" type="pres">
      <dgm:prSet presAssocID="{70FC1ADB-F403-4C8D-9765-CD47B92C50B7}" presName="circleA" presStyleLbl="node1" presStyleIdx="2" presStyleCnt="4"/>
      <dgm:spPr/>
    </dgm:pt>
    <dgm:pt modelId="{4E3431E3-C8F2-4900-8AD9-17A54B4E4B33}" type="pres">
      <dgm:prSet presAssocID="{70FC1ADB-F403-4C8D-9765-CD47B92C50B7}" presName="spaceA" presStyleCnt="0"/>
      <dgm:spPr/>
    </dgm:pt>
    <dgm:pt modelId="{36A01DBE-63E2-43ED-B7F8-E0A10E1CE1AA}" type="pres">
      <dgm:prSet presAssocID="{7E5A4FDA-44F3-4D74-8C6E-10EFF615E7FD}" presName="space" presStyleCnt="0"/>
      <dgm:spPr/>
    </dgm:pt>
    <dgm:pt modelId="{4503EF51-D2B7-4FBA-858B-21CA3487A3BF}" type="pres">
      <dgm:prSet presAssocID="{995A1454-1744-47A0-9EA0-ADD8F0B949A8}" presName="compositeB" presStyleCnt="0"/>
      <dgm:spPr/>
    </dgm:pt>
    <dgm:pt modelId="{59A7D291-3DDB-4EA0-BB76-49662314E115}" type="pres">
      <dgm:prSet presAssocID="{995A1454-1744-47A0-9EA0-ADD8F0B949A8}" presName="textB" presStyleLbl="revTx" presStyleIdx="3" presStyleCnt="4">
        <dgm:presLayoutVars>
          <dgm:bulletEnabled val="1"/>
        </dgm:presLayoutVars>
      </dgm:prSet>
      <dgm:spPr/>
      <dgm:t>
        <a:bodyPr/>
        <a:lstStyle/>
        <a:p>
          <a:endParaRPr lang="en-IN"/>
        </a:p>
      </dgm:t>
    </dgm:pt>
    <dgm:pt modelId="{425171EB-3194-466F-8934-7C79090F7E1C}" type="pres">
      <dgm:prSet presAssocID="{995A1454-1744-47A0-9EA0-ADD8F0B949A8}" presName="circleB" presStyleLbl="node1" presStyleIdx="3" presStyleCnt="4"/>
      <dgm:spPr/>
    </dgm:pt>
    <dgm:pt modelId="{B3963992-BEB0-442B-B396-E027954679E6}" type="pres">
      <dgm:prSet presAssocID="{995A1454-1744-47A0-9EA0-ADD8F0B949A8}" presName="spaceB" presStyleCnt="0"/>
      <dgm:spPr/>
    </dgm:pt>
  </dgm:ptLst>
  <dgm:cxnLst>
    <dgm:cxn modelId="{EDB18B3F-E7D9-4B83-B7F5-951359A51026}" srcId="{A82EBBEB-02CA-450A-ADF0-7E1C99D8D2D1}" destId="{1C0E0690-0D28-498A-9713-AAA00D9F988C}" srcOrd="0" destOrd="0" parTransId="{20FDDFC3-5A94-4CF6-810E-1E90F9A3B358}" sibTransId="{15990F3A-020E-4F6E-8FAA-5A892B027742}"/>
    <dgm:cxn modelId="{722B60D3-6D41-469C-A29B-1A6EF7B9FFFA}" type="presOf" srcId="{1C0E0690-0D28-498A-9713-AAA00D9F988C}" destId="{0D1976BA-FCE6-478C-9366-AF71BE4D0F0C}" srcOrd="0" destOrd="0" presId="urn:microsoft.com/office/officeart/2005/8/layout/hProcess11"/>
    <dgm:cxn modelId="{935CA2DB-4CE9-4D18-879E-6141BCEBA3EF}" type="presOf" srcId="{309755A1-CC05-44A2-9B1C-44B820106082}" destId="{F56F488B-9AB6-42D0-A24B-533EB6F70B73}" srcOrd="0" destOrd="1" presId="urn:microsoft.com/office/officeart/2005/8/layout/hProcess11"/>
    <dgm:cxn modelId="{D8D41491-C1F7-4853-9F40-3B11412BFE85}" srcId="{70FC1ADB-F403-4C8D-9765-CD47B92C50B7}" destId="{309755A1-CC05-44A2-9B1C-44B820106082}" srcOrd="0" destOrd="0" parTransId="{0FD7F4A2-DE24-4EDE-BFEE-8D94B9D79D1D}" sibTransId="{DB71068F-7E6C-4275-A6F7-FE84703920EE}"/>
    <dgm:cxn modelId="{2AB05FCF-0BCA-4450-8287-CDB7DF220494}" type="presOf" srcId="{A82EBBEB-02CA-450A-ADF0-7E1C99D8D2D1}" destId="{FE47FBD5-A719-41B1-B14E-1999BDDE6C3C}" srcOrd="0" destOrd="0" presId="urn:microsoft.com/office/officeart/2005/8/layout/hProcess11"/>
    <dgm:cxn modelId="{151070A0-9C25-45C8-A72C-0D7BBB7DCE08}" type="presOf" srcId="{0A5B6C51-D9EE-4E10-8666-D2A1A5D83D07}" destId="{59A7D291-3DDB-4EA0-BB76-49662314E115}" srcOrd="0" destOrd="1" presId="urn:microsoft.com/office/officeart/2005/8/layout/hProcess11"/>
    <dgm:cxn modelId="{6149FE97-549A-46BB-88F9-6B8128A05CED}" srcId="{995A1454-1744-47A0-9EA0-ADD8F0B949A8}" destId="{0A5B6C51-D9EE-4E10-8666-D2A1A5D83D07}" srcOrd="0" destOrd="0" parTransId="{953E341F-793D-4379-8A42-4CCA7905F8ED}" sibTransId="{D38502BB-5FA8-41B1-BB3F-474EBEBC00D8}"/>
    <dgm:cxn modelId="{ACBD6BCB-C5A9-43C2-976D-956B0E2958CF}" srcId="{A82EBBEB-02CA-450A-ADF0-7E1C99D8D2D1}" destId="{995A1454-1744-47A0-9EA0-ADD8F0B949A8}" srcOrd="3" destOrd="0" parTransId="{05E5A0CC-2942-4506-B841-382089CE30C4}" sibTransId="{545273A2-D1D0-4ADE-B97D-384AD2E19D22}"/>
    <dgm:cxn modelId="{65082B81-04CE-4B76-B6CB-24846B054540}" srcId="{A82EBBEB-02CA-450A-ADF0-7E1C99D8D2D1}" destId="{70FC1ADB-F403-4C8D-9765-CD47B92C50B7}" srcOrd="2" destOrd="0" parTransId="{AF5826A2-D9AF-42A1-B720-8C9AE2511BE7}" sibTransId="{7E5A4FDA-44F3-4D74-8C6E-10EFF615E7FD}"/>
    <dgm:cxn modelId="{921C21D0-5AC9-4E5E-80E7-F8377602A266}" type="presOf" srcId="{70FC1ADB-F403-4C8D-9765-CD47B92C50B7}" destId="{F56F488B-9AB6-42D0-A24B-533EB6F70B73}" srcOrd="0" destOrd="0" presId="urn:microsoft.com/office/officeart/2005/8/layout/hProcess11"/>
    <dgm:cxn modelId="{B752A546-869C-45D3-B2FD-AC98AC9CCB8B}" type="presOf" srcId="{995A1454-1744-47A0-9EA0-ADD8F0B949A8}" destId="{59A7D291-3DDB-4EA0-BB76-49662314E115}" srcOrd="0" destOrd="0" presId="urn:microsoft.com/office/officeart/2005/8/layout/hProcess11"/>
    <dgm:cxn modelId="{4961989C-B8C3-45EF-93AF-E20A5C24D9C1}" srcId="{A82EBBEB-02CA-450A-ADF0-7E1C99D8D2D1}" destId="{30E7E69C-CFDD-4141-8033-E02187194337}" srcOrd="1" destOrd="0" parTransId="{497FA2C5-344C-4358-A83D-19A6BA41A8C9}" sibTransId="{0B3221A2-15F9-4128-8E4D-76E36777D374}"/>
    <dgm:cxn modelId="{103E59ED-1EA1-41F8-A636-245745F67EDB}" type="presOf" srcId="{30E7E69C-CFDD-4141-8033-E02187194337}" destId="{FD3340C2-CE21-430B-8B5B-0DD6A604EA7D}" srcOrd="0" destOrd="0" presId="urn:microsoft.com/office/officeart/2005/8/layout/hProcess11"/>
    <dgm:cxn modelId="{AEEDC810-FB47-4A94-83A7-25521A0188AB}" type="presParOf" srcId="{FE47FBD5-A719-41B1-B14E-1999BDDE6C3C}" destId="{AC72F22C-099E-498D-8DC7-9B2A966FB234}" srcOrd="0" destOrd="0" presId="urn:microsoft.com/office/officeart/2005/8/layout/hProcess11"/>
    <dgm:cxn modelId="{CD269853-380F-42A4-A773-F60C0C41A3FE}" type="presParOf" srcId="{FE47FBD5-A719-41B1-B14E-1999BDDE6C3C}" destId="{644FC417-65C4-4A14-9BD3-0B4FE4983038}" srcOrd="1" destOrd="0" presId="urn:microsoft.com/office/officeart/2005/8/layout/hProcess11"/>
    <dgm:cxn modelId="{D566E57E-C7D6-4E00-971B-99A471E95C72}" type="presParOf" srcId="{644FC417-65C4-4A14-9BD3-0B4FE4983038}" destId="{610D4838-CC8E-4E6B-96A2-816A738EA322}" srcOrd="0" destOrd="0" presId="urn:microsoft.com/office/officeart/2005/8/layout/hProcess11"/>
    <dgm:cxn modelId="{8A689F86-904E-4656-9F68-C383489A4E99}" type="presParOf" srcId="{610D4838-CC8E-4E6B-96A2-816A738EA322}" destId="{0D1976BA-FCE6-478C-9366-AF71BE4D0F0C}" srcOrd="0" destOrd="0" presId="urn:microsoft.com/office/officeart/2005/8/layout/hProcess11"/>
    <dgm:cxn modelId="{132178F6-FEC9-4E22-9384-6EC54A71AA78}" type="presParOf" srcId="{610D4838-CC8E-4E6B-96A2-816A738EA322}" destId="{7C763714-48F4-43C0-9728-44DB432CC3AA}" srcOrd="1" destOrd="0" presId="urn:microsoft.com/office/officeart/2005/8/layout/hProcess11"/>
    <dgm:cxn modelId="{40BA50C6-3B25-4CDD-94C6-F79140798030}" type="presParOf" srcId="{610D4838-CC8E-4E6B-96A2-816A738EA322}" destId="{16E3731F-0B08-4BAC-8C8B-751DC8C5C564}" srcOrd="2" destOrd="0" presId="urn:microsoft.com/office/officeart/2005/8/layout/hProcess11"/>
    <dgm:cxn modelId="{B04E3948-94D6-4C76-A7F4-4971C59B07A1}" type="presParOf" srcId="{644FC417-65C4-4A14-9BD3-0B4FE4983038}" destId="{EB47B162-40A6-4D83-9CDA-D925DC1CB76C}" srcOrd="1" destOrd="0" presId="urn:microsoft.com/office/officeart/2005/8/layout/hProcess11"/>
    <dgm:cxn modelId="{3C6B7B9A-680E-4EE7-96E5-196E03621418}" type="presParOf" srcId="{644FC417-65C4-4A14-9BD3-0B4FE4983038}" destId="{2EA10939-BCBD-4480-AF3D-4280CACC74DD}" srcOrd="2" destOrd="0" presId="urn:microsoft.com/office/officeart/2005/8/layout/hProcess11"/>
    <dgm:cxn modelId="{B66E9A97-5D72-4C83-873D-3454D8CBB50C}" type="presParOf" srcId="{2EA10939-BCBD-4480-AF3D-4280CACC74DD}" destId="{FD3340C2-CE21-430B-8B5B-0DD6A604EA7D}" srcOrd="0" destOrd="0" presId="urn:microsoft.com/office/officeart/2005/8/layout/hProcess11"/>
    <dgm:cxn modelId="{E07B95F0-8DA2-4946-BA1A-F8E4F35F2254}" type="presParOf" srcId="{2EA10939-BCBD-4480-AF3D-4280CACC74DD}" destId="{9719D89D-6E8E-478A-8CD6-829E2016F643}" srcOrd="1" destOrd="0" presId="urn:microsoft.com/office/officeart/2005/8/layout/hProcess11"/>
    <dgm:cxn modelId="{7184E8EF-0E89-4858-BC48-4FBD67ACCA37}" type="presParOf" srcId="{2EA10939-BCBD-4480-AF3D-4280CACC74DD}" destId="{CBF64526-B4C5-464E-93F3-637F87677F06}" srcOrd="2" destOrd="0" presId="urn:microsoft.com/office/officeart/2005/8/layout/hProcess11"/>
    <dgm:cxn modelId="{79523014-8E81-43E5-A82D-B2C336E153E1}" type="presParOf" srcId="{644FC417-65C4-4A14-9BD3-0B4FE4983038}" destId="{B7F83558-B746-454C-9E4D-1C5B6461FF57}" srcOrd="3" destOrd="0" presId="urn:microsoft.com/office/officeart/2005/8/layout/hProcess11"/>
    <dgm:cxn modelId="{C4AABDBD-E058-4A2D-A917-C895AA94A4F7}" type="presParOf" srcId="{644FC417-65C4-4A14-9BD3-0B4FE4983038}" destId="{66827C90-F92A-4B85-A594-7AE1C2DD8F4C}" srcOrd="4" destOrd="0" presId="urn:microsoft.com/office/officeart/2005/8/layout/hProcess11"/>
    <dgm:cxn modelId="{4EFCAF91-AD63-413C-8A2E-2876258FBC1F}" type="presParOf" srcId="{66827C90-F92A-4B85-A594-7AE1C2DD8F4C}" destId="{F56F488B-9AB6-42D0-A24B-533EB6F70B73}" srcOrd="0" destOrd="0" presId="urn:microsoft.com/office/officeart/2005/8/layout/hProcess11"/>
    <dgm:cxn modelId="{4F927CBE-01B7-4AD4-A2E1-C6384B604067}" type="presParOf" srcId="{66827C90-F92A-4B85-A594-7AE1C2DD8F4C}" destId="{4BDB3F7D-0D3C-4581-AF2D-FE977FCB6291}" srcOrd="1" destOrd="0" presId="urn:microsoft.com/office/officeart/2005/8/layout/hProcess11"/>
    <dgm:cxn modelId="{A6241C5F-8FB1-47AB-9D1B-31AF5C7F9850}" type="presParOf" srcId="{66827C90-F92A-4B85-A594-7AE1C2DD8F4C}" destId="{4E3431E3-C8F2-4900-8AD9-17A54B4E4B33}" srcOrd="2" destOrd="0" presId="urn:microsoft.com/office/officeart/2005/8/layout/hProcess11"/>
    <dgm:cxn modelId="{8F415E1F-732A-4175-BA93-B9BE645602EA}" type="presParOf" srcId="{644FC417-65C4-4A14-9BD3-0B4FE4983038}" destId="{36A01DBE-63E2-43ED-B7F8-E0A10E1CE1AA}" srcOrd="5" destOrd="0" presId="urn:microsoft.com/office/officeart/2005/8/layout/hProcess11"/>
    <dgm:cxn modelId="{EBBA50A5-2EAF-477B-BAFC-A7C4BAC3B9A9}" type="presParOf" srcId="{644FC417-65C4-4A14-9BD3-0B4FE4983038}" destId="{4503EF51-D2B7-4FBA-858B-21CA3487A3BF}" srcOrd="6" destOrd="0" presId="urn:microsoft.com/office/officeart/2005/8/layout/hProcess11"/>
    <dgm:cxn modelId="{8C0643FE-D2C8-40CF-82AE-86B8B9DC69F7}" type="presParOf" srcId="{4503EF51-D2B7-4FBA-858B-21CA3487A3BF}" destId="{59A7D291-3DDB-4EA0-BB76-49662314E115}" srcOrd="0" destOrd="0" presId="urn:microsoft.com/office/officeart/2005/8/layout/hProcess11"/>
    <dgm:cxn modelId="{CC652D3E-D6B4-4EF0-926D-ECB5F9206CD6}" type="presParOf" srcId="{4503EF51-D2B7-4FBA-858B-21CA3487A3BF}" destId="{425171EB-3194-466F-8934-7C79090F7E1C}" srcOrd="1" destOrd="0" presId="urn:microsoft.com/office/officeart/2005/8/layout/hProcess11"/>
    <dgm:cxn modelId="{25B5F86A-DF69-4743-B3D2-C7FEF7681A1F}" type="presParOf" srcId="{4503EF51-D2B7-4FBA-858B-21CA3487A3BF}" destId="{B3963992-BEB0-442B-B396-E027954679E6}"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DD3E24-9E1E-4E89-9248-B61A9C4B2CA1}" type="doc">
      <dgm:prSet loTypeId="urn:microsoft.com/office/officeart/2005/8/layout/hierarchy1" loCatId="hierarchy" qsTypeId="urn:microsoft.com/office/officeart/2005/8/quickstyle/3d3" qsCatId="3D" csTypeId="urn:microsoft.com/office/officeart/2005/8/colors/accent1_2" csCatId="accent1" phldr="1"/>
      <dgm:spPr/>
      <dgm:t>
        <a:bodyPr/>
        <a:lstStyle/>
        <a:p>
          <a:endParaRPr lang="en-IN"/>
        </a:p>
      </dgm:t>
    </dgm:pt>
    <dgm:pt modelId="{A88A7A53-612C-4FF6-9440-CF182116174A}">
      <dgm:prSet phldrT="[Text]"/>
      <dgm:spPr/>
      <dgm:t>
        <a:bodyPr/>
        <a:lstStyle/>
        <a:p>
          <a:r>
            <a:rPr lang="en-IN" dirty="0" smtClean="0"/>
            <a:t>ROE</a:t>
          </a:r>
        </a:p>
        <a:p>
          <a:r>
            <a:rPr lang="en-IN" dirty="0" smtClean="0"/>
            <a:t>(17.68%)</a:t>
          </a:r>
          <a:endParaRPr lang="en-IN" dirty="0"/>
        </a:p>
      </dgm:t>
    </dgm:pt>
    <dgm:pt modelId="{73358A2B-B395-40DB-9C98-B6D8BAEFDA05}" type="parTrans" cxnId="{0A175E61-EF50-491D-8265-44C1BA155C5D}">
      <dgm:prSet/>
      <dgm:spPr/>
      <dgm:t>
        <a:bodyPr/>
        <a:lstStyle/>
        <a:p>
          <a:endParaRPr lang="en-IN"/>
        </a:p>
      </dgm:t>
    </dgm:pt>
    <dgm:pt modelId="{DD048E70-529F-4E9B-9AFC-087A5497EBBF}" type="sibTrans" cxnId="{0A175E61-EF50-491D-8265-44C1BA155C5D}">
      <dgm:prSet/>
      <dgm:spPr/>
      <dgm:t>
        <a:bodyPr/>
        <a:lstStyle/>
        <a:p>
          <a:endParaRPr lang="en-IN"/>
        </a:p>
      </dgm:t>
    </dgm:pt>
    <dgm:pt modelId="{EDCB5E43-8625-4FA3-9810-C87F4E1A8ECD}">
      <dgm:prSet phldrT="[Text]"/>
      <dgm:spPr/>
      <dgm:t>
        <a:bodyPr/>
        <a:lstStyle/>
        <a:p>
          <a:r>
            <a:rPr lang="en-IN" dirty="0" smtClean="0"/>
            <a:t>Return on net assets</a:t>
          </a:r>
          <a:endParaRPr lang="en-IN" dirty="0"/>
        </a:p>
      </dgm:t>
    </dgm:pt>
    <dgm:pt modelId="{9B8F47FF-ED11-4C6A-853C-C6CC1EDEAC2C}" type="parTrans" cxnId="{547CA789-A551-42B5-ACD8-A937BEC1F01B}">
      <dgm:prSet/>
      <dgm:spPr/>
      <dgm:t>
        <a:bodyPr/>
        <a:lstStyle/>
        <a:p>
          <a:endParaRPr lang="en-IN"/>
        </a:p>
      </dgm:t>
    </dgm:pt>
    <dgm:pt modelId="{DF7FEF6B-469A-487B-A7C1-E9EFEBB03172}" type="sibTrans" cxnId="{547CA789-A551-42B5-ACD8-A937BEC1F01B}">
      <dgm:prSet/>
      <dgm:spPr/>
      <dgm:t>
        <a:bodyPr/>
        <a:lstStyle/>
        <a:p>
          <a:endParaRPr lang="en-IN"/>
        </a:p>
      </dgm:t>
    </dgm:pt>
    <dgm:pt modelId="{AE3ADAB1-A8E6-4B64-A985-77A81DB9AC0A}">
      <dgm:prSet phldrT="[Text]"/>
      <dgm:spPr/>
      <dgm:t>
        <a:bodyPr/>
        <a:lstStyle/>
        <a:p>
          <a:r>
            <a:rPr lang="en-IN" dirty="0" smtClean="0"/>
            <a:t>Profit Margin</a:t>
          </a:r>
        </a:p>
        <a:p>
          <a:r>
            <a:rPr lang="en-IN" dirty="0" smtClean="0"/>
            <a:t>(13.16%)</a:t>
          </a:r>
          <a:endParaRPr lang="en-IN" dirty="0"/>
        </a:p>
      </dgm:t>
    </dgm:pt>
    <dgm:pt modelId="{946A4CE8-6874-4F8A-AC89-17251EE3768A}" type="parTrans" cxnId="{7B5BB0EC-4567-41A3-B356-BCD36A3FC9DB}">
      <dgm:prSet/>
      <dgm:spPr/>
      <dgm:t>
        <a:bodyPr/>
        <a:lstStyle/>
        <a:p>
          <a:endParaRPr lang="en-IN"/>
        </a:p>
      </dgm:t>
    </dgm:pt>
    <dgm:pt modelId="{2662F570-F7CD-4E11-BED6-5B5AE0A5EC61}" type="sibTrans" cxnId="{7B5BB0EC-4567-41A3-B356-BCD36A3FC9DB}">
      <dgm:prSet/>
      <dgm:spPr/>
      <dgm:t>
        <a:bodyPr/>
        <a:lstStyle/>
        <a:p>
          <a:endParaRPr lang="en-IN"/>
        </a:p>
      </dgm:t>
    </dgm:pt>
    <dgm:pt modelId="{47EB51B3-B87C-43C4-9357-7A0B910AB045}">
      <dgm:prSet phldrT="[Text]"/>
      <dgm:spPr/>
      <dgm:t>
        <a:bodyPr/>
        <a:lstStyle/>
        <a:p>
          <a:r>
            <a:rPr lang="en-IN" dirty="0" smtClean="0"/>
            <a:t>Asset Turnover</a:t>
          </a:r>
        </a:p>
        <a:p>
          <a:r>
            <a:rPr lang="en-IN" dirty="0" smtClean="0"/>
            <a:t>(1.55)</a:t>
          </a:r>
          <a:endParaRPr lang="en-IN" dirty="0"/>
        </a:p>
      </dgm:t>
    </dgm:pt>
    <dgm:pt modelId="{712C6DC4-D9D7-4668-967C-9893BE8E08D8}" type="parTrans" cxnId="{771E4925-491E-434E-857F-15C3BF3FEFAA}">
      <dgm:prSet/>
      <dgm:spPr/>
      <dgm:t>
        <a:bodyPr/>
        <a:lstStyle/>
        <a:p>
          <a:endParaRPr lang="en-IN"/>
        </a:p>
      </dgm:t>
    </dgm:pt>
    <dgm:pt modelId="{8D3D27DB-091B-4AAE-8DFE-C2E00B1524FC}" type="sibTrans" cxnId="{771E4925-491E-434E-857F-15C3BF3FEFAA}">
      <dgm:prSet/>
      <dgm:spPr/>
      <dgm:t>
        <a:bodyPr/>
        <a:lstStyle/>
        <a:p>
          <a:endParaRPr lang="en-IN"/>
        </a:p>
      </dgm:t>
    </dgm:pt>
    <dgm:pt modelId="{A84B8140-F5EF-41D3-99CF-218DE4E27CF9}">
      <dgm:prSet phldrT="[Text]"/>
      <dgm:spPr/>
      <dgm:t>
        <a:bodyPr/>
        <a:lstStyle/>
        <a:p>
          <a:r>
            <a:rPr lang="en-IN" dirty="0" smtClean="0"/>
            <a:t>Financial Leverage</a:t>
          </a:r>
          <a:endParaRPr lang="en-IN" dirty="0"/>
        </a:p>
      </dgm:t>
    </dgm:pt>
    <dgm:pt modelId="{F763F92C-BCCD-40FC-8E57-7C4FC71F0336}" type="parTrans" cxnId="{02DB6501-BD6C-41B2-AF21-2DAC90C135EB}">
      <dgm:prSet/>
      <dgm:spPr/>
      <dgm:t>
        <a:bodyPr/>
        <a:lstStyle/>
        <a:p>
          <a:endParaRPr lang="en-IN"/>
        </a:p>
      </dgm:t>
    </dgm:pt>
    <dgm:pt modelId="{D63D17FE-5FAC-4967-B54E-FBEFF6BAFCE6}" type="sibTrans" cxnId="{02DB6501-BD6C-41B2-AF21-2DAC90C135EB}">
      <dgm:prSet/>
      <dgm:spPr/>
      <dgm:t>
        <a:bodyPr/>
        <a:lstStyle/>
        <a:p>
          <a:endParaRPr lang="en-IN"/>
        </a:p>
      </dgm:t>
    </dgm:pt>
    <dgm:pt modelId="{B102DF72-0F2D-4DE8-84F3-11FBD5532635}">
      <dgm:prSet phldrT="[Text]"/>
      <dgm:spPr/>
      <dgm:t>
        <a:bodyPr/>
        <a:lstStyle/>
        <a:p>
          <a:r>
            <a:rPr lang="en-IN" dirty="0" smtClean="0"/>
            <a:t>(0.8587)</a:t>
          </a:r>
          <a:endParaRPr lang="en-IN" dirty="0"/>
        </a:p>
      </dgm:t>
    </dgm:pt>
    <dgm:pt modelId="{C6516631-8198-40A0-92B6-E6D47E660EF4}" type="parTrans" cxnId="{CDEE30E4-4597-4CF4-A65A-2A5B64E91A00}">
      <dgm:prSet/>
      <dgm:spPr/>
      <dgm:t>
        <a:bodyPr/>
        <a:lstStyle/>
        <a:p>
          <a:endParaRPr lang="en-IN"/>
        </a:p>
      </dgm:t>
    </dgm:pt>
    <dgm:pt modelId="{E6CB9B66-FEB5-4FE4-B5B0-DA3F7F586358}" type="sibTrans" cxnId="{CDEE30E4-4597-4CF4-A65A-2A5B64E91A00}">
      <dgm:prSet/>
      <dgm:spPr/>
      <dgm:t>
        <a:bodyPr/>
        <a:lstStyle/>
        <a:p>
          <a:endParaRPr lang="en-IN"/>
        </a:p>
      </dgm:t>
    </dgm:pt>
    <dgm:pt modelId="{3F5457B3-4459-48B2-B118-95A71B5DFDF4}" type="pres">
      <dgm:prSet presAssocID="{48DD3E24-9E1E-4E89-9248-B61A9C4B2CA1}" presName="hierChild1" presStyleCnt="0">
        <dgm:presLayoutVars>
          <dgm:chPref val="1"/>
          <dgm:dir/>
          <dgm:animOne val="branch"/>
          <dgm:animLvl val="lvl"/>
          <dgm:resizeHandles/>
        </dgm:presLayoutVars>
      </dgm:prSet>
      <dgm:spPr/>
      <dgm:t>
        <a:bodyPr/>
        <a:lstStyle/>
        <a:p>
          <a:endParaRPr lang="en-IN"/>
        </a:p>
      </dgm:t>
    </dgm:pt>
    <dgm:pt modelId="{6AC88669-EF14-4A33-B755-02CD7D62B682}" type="pres">
      <dgm:prSet presAssocID="{A88A7A53-612C-4FF6-9440-CF182116174A}" presName="hierRoot1" presStyleCnt="0"/>
      <dgm:spPr/>
    </dgm:pt>
    <dgm:pt modelId="{25E1D30C-15D7-40B3-BF67-64AC57C67FE7}" type="pres">
      <dgm:prSet presAssocID="{A88A7A53-612C-4FF6-9440-CF182116174A}" presName="composite" presStyleCnt="0"/>
      <dgm:spPr/>
    </dgm:pt>
    <dgm:pt modelId="{42F6EAB6-3D39-4FA1-8B0F-7D5913C64AAD}" type="pres">
      <dgm:prSet presAssocID="{A88A7A53-612C-4FF6-9440-CF182116174A}" presName="background" presStyleLbl="node0" presStyleIdx="0" presStyleCnt="1"/>
      <dgm:spPr/>
    </dgm:pt>
    <dgm:pt modelId="{FDE01890-4959-42EC-BB63-13D76CF0342E}" type="pres">
      <dgm:prSet presAssocID="{A88A7A53-612C-4FF6-9440-CF182116174A}" presName="text" presStyleLbl="fgAcc0" presStyleIdx="0" presStyleCnt="1">
        <dgm:presLayoutVars>
          <dgm:chPref val="3"/>
        </dgm:presLayoutVars>
      </dgm:prSet>
      <dgm:spPr/>
      <dgm:t>
        <a:bodyPr/>
        <a:lstStyle/>
        <a:p>
          <a:endParaRPr lang="en-IN"/>
        </a:p>
      </dgm:t>
    </dgm:pt>
    <dgm:pt modelId="{145E7B6D-D1E4-4D50-98E7-FA4841BFAF27}" type="pres">
      <dgm:prSet presAssocID="{A88A7A53-612C-4FF6-9440-CF182116174A}" presName="hierChild2" presStyleCnt="0"/>
      <dgm:spPr/>
    </dgm:pt>
    <dgm:pt modelId="{4FFD6016-D3A6-4E0E-8F81-09860611C362}" type="pres">
      <dgm:prSet presAssocID="{9B8F47FF-ED11-4C6A-853C-C6CC1EDEAC2C}" presName="Name10" presStyleLbl="parChTrans1D2" presStyleIdx="0" presStyleCnt="2"/>
      <dgm:spPr/>
      <dgm:t>
        <a:bodyPr/>
        <a:lstStyle/>
        <a:p>
          <a:endParaRPr lang="en-IN"/>
        </a:p>
      </dgm:t>
    </dgm:pt>
    <dgm:pt modelId="{68B0FD34-A69E-43B5-8CBF-E94D3CF58D5F}" type="pres">
      <dgm:prSet presAssocID="{EDCB5E43-8625-4FA3-9810-C87F4E1A8ECD}" presName="hierRoot2" presStyleCnt="0"/>
      <dgm:spPr/>
    </dgm:pt>
    <dgm:pt modelId="{57CCA7E6-5D24-4442-BBCD-825497F2191A}" type="pres">
      <dgm:prSet presAssocID="{EDCB5E43-8625-4FA3-9810-C87F4E1A8ECD}" presName="composite2" presStyleCnt="0"/>
      <dgm:spPr/>
    </dgm:pt>
    <dgm:pt modelId="{B6DD4E3F-59CB-44E1-83E9-3F41CC12377E}" type="pres">
      <dgm:prSet presAssocID="{EDCB5E43-8625-4FA3-9810-C87F4E1A8ECD}" presName="background2" presStyleLbl="node2" presStyleIdx="0" presStyleCnt="2"/>
      <dgm:spPr/>
    </dgm:pt>
    <dgm:pt modelId="{644244D4-5C68-4D43-8B7A-69127A72B202}" type="pres">
      <dgm:prSet presAssocID="{EDCB5E43-8625-4FA3-9810-C87F4E1A8ECD}" presName="text2" presStyleLbl="fgAcc2" presStyleIdx="0" presStyleCnt="2">
        <dgm:presLayoutVars>
          <dgm:chPref val="3"/>
        </dgm:presLayoutVars>
      </dgm:prSet>
      <dgm:spPr/>
      <dgm:t>
        <a:bodyPr/>
        <a:lstStyle/>
        <a:p>
          <a:endParaRPr lang="en-IN"/>
        </a:p>
      </dgm:t>
    </dgm:pt>
    <dgm:pt modelId="{9342D334-09A7-4417-BB40-704D0BEF3D6E}" type="pres">
      <dgm:prSet presAssocID="{EDCB5E43-8625-4FA3-9810-C87F4E1A8ECD}" presName="hierChild3" presStyleCnt="0"/>
      <dgm:spPr/>
    </dgm:pt>
    <dgm:pt modelId="{A702DEC3-9D97-4F6E-A3C0-039DC5D97C2A}" type="pres">
      <dgm:prSet presAssocID="{946A4CE8-6874-4F8A-AC89-17251EE3768A}" presName="Name17" presStyleLbl="parChTrans1D3" presStyleIdx="0" presStyleCnt="3"/>
      <dgm:spPr/>
      <dgm:t>
        <a:bodyPr/>
        <a:lstStyle/>
        <a:p>
          <a:endParaRPr lang="en-IN"/>
        </a:p>
      </dgm:t>
    </dgm:pt>
    <dgm:pt modelId="{32517673-B02D-47A9-A325-50C34FA445D6}" type="pres">
      <dgm:prSet presAssocID="{AE3ADAB1-A8E6-4B64-A985-77A81DB9AC0A}" presName="hierRoot3" presStyleCnt="0"/>
      <dgm:spPr/>
    </dgm:pt>
    <dgm:pt modelId="{E55D58D6-4BE2-472F-A7B5-11696C4D2ECA}" type="pres">
      <dgm:prSet presAssocID="{AE3ADAB1-A8E6-4B64-A985-77A81DB9AC0A}" presName="composite3" presStyleCnt="0"/>
      <dgm:spPr/>
    </dgm:pt>
    <dgm:pt modelId="{566AEEE3-6DAB-4D46-BB25-6B281D697CD6}" type="pres">
      <dgm:prSet presAssocID="{AE3ADAB1-A8E6-4B64-A985-77A81DB9AC0A}" presName="background3" presStyleLbl="node3" presStyleIdx="0" presStyleCnt="3"/>
      <dgm:spPr/>
    </dgm:pt>
    <dgm:pt modelId="{61708498-6D60-43C5-8792-27D3F3DCED17}" type="pres">
      <dgm:prSet presAssocID="{AE3ADAB1-A8E6-4B64-A985-77A81DB9AC0A}" presName="text3" presStyleLbl="fgAcc3" presStyleIdx="0" presStyleCnt="3">
        <dgm:presLayoutVars>
          <dgm:chPref val="3"/>
        </dgm:presLayoutVars>
      </dgm:prSet>
      <dgm:spPr/>
      <dgm:t>
        <a:bodyPr/>
        <a:lstStyle/>
        <a:p>
          <a:endParaRPr lang="en-IN"/>
        </a:p>
      </dgm:t>
    </dgm:pt>
    <dgm:pt modelId="{69A74252-92F3-41F2-91D5-46AF6CB26720}" type="pres">
      <dgm:prSet presAssocID="{AE3ADAB1-A8E6-4B64-A985-77A81DB9AC0A}" presName="hierChild4" presStyleCnt="0"/>
      <dgm:spPr/>
    </dgm:pt>
    <dgm:pt modelId="{EB0E731D-67AE-4847-A351-79257062B9A5}" type="pres">
      <dgm:prSet presAssocID="{712C6DC4-D9D7-4668-967C-9893BE8E08D8}" presName="Name17" presStyleLbl="parChTrans1D3" presStyleIdx="1" presStyleCnt="3"/>
      <dgm:spPr/>
      <dgm:t>
        <a:bodyPr/>
        <a:lstStyle/>
        <a:p>
          <a:endParaRPr lang="en-IN"/>
        </a:p>
      </dgm:t>
    </dgm:pt>
    <dgm:pt modelId="{4F275F43-61FF-4254-A88C-3FB052186875}" type="pres">
      <dgm:prSet presAssocID="{47EB51B3-B87C-43C4-9357-7A0B910AB045}" presName="hierRoot3" presStyleCnt="0"/>
      <dgm:spPr/>
    </dgm:pt>
    <dgm:pt modelId="{8598D673-078E-48F1-8DD1-30A954E51688}" type="pres">
      <dgm:prSet presAssocID="{47EB51B3-B87C-43C4-9357-7A0B910AB045}" presName="composite3" presStyleCnt="0"/>
      <dgm:spPr/>
    </dgm:pt>
    <dgm:pt modelId="{C5DE708C-9C63-40D6-A6EC-D7D65A37E549}" type="pres">
      <dgm:prSet presAssocID="{47EB51B3-B87C-43C4-9357-7A0B910AB045}" presName="background3" presStyleLbl="node3" presStyleIdx="1" presStyleCnt="3"/>
      <dgm:spPr/>
    </dgm:pt>
    <dgm:pt modelId="{0E6E685C-72FC-46F9-8C15-07C313646D0D}" type="pres">
      <dgm:prSet presAssocID="{47EB51B3-B87C-43C4-9357-7A0B910AB045}" presName="text3" presStyleLbl="fgAcc3" presStyleIdx="1" presStyleCnt="3">
        <dgm:presLayoutVars>
          <dgm:chPref val="3"/>
        </dgm:presLayoutVars>
      </dgm:prSet>
      <dgm:spPr/>
      <dgm:t>
        <a:bodyPr/>
        <a:lstStyle/>
        <a:p>
          <a:endParaRPr lang="en-IN"/>
        </a:p>
      </dgm:t>
    </dgm:pt>
    <dgm:pt modelId="{F8BD6BBE-AC5D-489F-B88F-597AC379A0C2}" type="pres">
      <dgm:prSet presAssocID="{47EB51B3-B87C-43C4-9357-7A0B910AB045}" presName="hierChild4" presStyleCnt="0"/>
      <dgm:spPr/>
    </dgm:pt>
    <dgm:pt modelId="{BC6D21CF-2A07-4766-8362-0222D43EF103}" type="pres">
      <dgm:prSet presAssocID="{F763F92C-BCCD-40FC-8E57-7C4FC71F0336}" presName="Name10" presStyleLbl="parChTrans1D2" presStyleIdx="1" presStyleCnt="2"/>
      <dgm:spPr/>
      <dgm:t>
        <a:bodyPr/>
        <a:lstStyle/>
        <a:p>
          <a:endParaRPr lang="en-IN"/>
        </a:p>
      </dgm:t>
    </dgm:pt>
    <dgm:pt modelId="{51A2FCA3-7199-443E-9BB0-FDDA152597EA}" type="pres">
      <dgm:prSet presAssocID="{A84B8140-F5EF-41D3-99CF-218DE4E27CF9}" presName="hierRoot2" presStyleCnt="0"/>
      <dgm:spPr/>
    </dgm:pt>
    <dgm:pt modelId="{AB71FA7E-0516-4F08-9473-291CFA2822D7}" type="pres">
      <dgm:prSet presAssocID="{A84B8140-F5EF-41D3-99CF-218DE4E27CF9}" presName="composite2" presStyleCnt="0"/>
      <dgm:spPr/>
    </dgm:pt>
    <dgm:pt modelId="{C27EF1B9-06B3-4367-AEE7-C70451A096F0}" type="pres">
      <dgm:prSet presAssocID="{A84B8140-F5EF-41D3-99CF-218DE4E27CF9}" presName="background2" presStyleLbl="node2" presStyleIdx="1" presStyleCnt="2"/>
      <dgm:spPr/>
    </dgm:pt>
    <dgm:pt modelId="{7E8365EA-7D63-426D-9487-C52BE389CC02}" type="pres">
      <dgm:prSet presAssocID="{A84B8140-F5EF-41D3-99CF-218DE4E27CF9}" presName="text2" presStyleLbl="fgAcc2" presStyleIdx="1" presStyleCnt="2">
        <dgm:presLayoutVars>
          <dgm:chPref val="3"/>
        </dgm:presLayoutVars>
      </dgm:prSet>
      <dgm:spPr/>
      <dgm:t>
        <a:bodyPr/>
        <a:lstStyle/>
        <a:p>
          <a:endParaRPr lang="en-IN"/>
        </a:p>
      </dgm:t>
    </dgm:pt>
    <dgm:pt modelId="{A1649A07-901C-4C3D-B4B3-2CA9A5AABD89}" type="pres">
      <dgm:prSet presAssocID="{A84B8140-F5EF-41D3-99CF-218DE4E27CF9}" presName="hierChild3" presStyleCnt="0"/>
      <dgm:spPr/>
    </dgm:pt>
    <dgm:pt modelId="{96B726A2-0A13-4CE9-8DA0-5A9EB1BEE466}" type="pres">
      <dgm:prSet presAssocID="{C6516631-8198-40A0-92B6-E6D47E660EF4}" presName="Name17" presStyleLbl="parChTrans1D3" presStyleIdx="2" presStyleCnt="3"/>
      <dgm:spPr/>
      <dgm:t>
        <a:bodyPr/>
        <a:lstStyle/>
        <a:p>
          <a:endParaRPr lang="en-IN"/>
        </a:p>
      </dgm:t>
    </dgm:pt>
    <dgm:pt modelId="{2F245221-9D19-4241-9028-7D528DA448CC}" type="pres">
      <dgm:prSet presAssocID="{B102DF72-0F2D-4DE8-84F3-11FBD5532635}" presName="hierRoot3" presStyleCnt="0"/>
      <dgm:spPr/>
    </dgm:pt>
    <dgm:pt modelId="{4D5AC1D1-C529-4CC0-9051-6EF566588D3D}" type="pres">
      <dgm:prSet presAssocID="{B102DF72-0F2D-4DE8-84F3-11FBD5532635}" presName="composite3" presStyleCnt="0"/>
      <dgm:spPr/>
    </dgm:pt>
    <dgm:pt modelId="{4D7B9B4E-F66F-4567-B061-FF4A4CB0DF5B}" type="pres">
      <dgm:prSet presAssocID="{B102DF72-0F2D-4DE8-84F3-11FBD5532635}" presName="background3" presStyleLbl="node3" presStyleIdx="2" presStyleCnt="3"/>
      <dgm:spPr/>
    </dgm:pt>
    <dgm:pt modelId="{53876EC0-2A27-4EC5-A06A-00D2BEF3ED9A}" type="pres">
      <dgm:prSet presAssocID="{B102DF72-0F2D-4DE8-84F3-11FBD5532635}" presName="text3" presStyleLbl="fgAcc3" presStyleIdx="2" presStyleCnt="3">
        <dgm:presLayoutVars>
          <dgm:chPref val="3"/>
        </dgm:presLayoutVars>
      </dgm:prSet>
      <dgm:spPr/>
      <dgm:t>
        <a:bodyPr/>
        <a:lstStyle/>
        <a:p>
          <a:endParaRPr lang="en-IN"/>
        </a:p>
      </dgm:t>
    </dgm:pt>
    <dgm:pt modelId="{BDC1DA46-2A24-45DF-9D26-7670EA75AF35}" type="pres">
      <dgm:prSet presAssocID="{B102DF72-0F2D-4DE8-84F3-11FBD5532635}" presName="hierChild4" presStyleCnt="0"/>
      <dgm:spPr/>
    </dgm:pt>
  </dgm:ptLst>
  <dgm:cxnLst>
    <dgm:cxn modelId="{005363B6-4C20-465F-A7EF-260D58598981}" type="presOf" srcId="{AE3ADAB1-A8E6-4B64-A985-77A81DB9AC0A}" destId="{61708498-6D60-43C5-8792-27D3F3DCED17}" srcOrd="0" destOrd="0" presId="urn:microsoft.com/office/officeart/2005/8/layout/hierarchy1"/>
    <dgm:cxn modelId="{02DB6501-BD6C-41B2-AF21-2DAC90C135EB}" srcId="{A88A7A53-612C-4FF6-9440-CF182116174A}" destId="{A84B8140-F5EF-41D3-99CF-218DE4E27CF9}" srcOrd="1" destOrd="0" parTransId="{F763F92C-BCCD-40FC-8E57-7C4FC71F0336}" sibTransId="{D63D17FE-5FAC-4967-B54E-FBEFF6BAFCE6}"/>
    <dgm:cxn modelId="{96B1F342-D7C0-44C8-89B6-2F0D6406634C}" type="presOf" srcId="{47EB51B3-B87C-43C4-9357-7A0B910AB045}" destId="{0E6E685C-72FC-46F9-8C15-07C313646D0D}" srcOrd="0" destOrd="0" presId="urn:microsoft.com/office/officeart/2005/8/layout/hierarchy1"/>
    <dgm:cxn modelId="{23E003A0-9C07-4B78-88CE-0276A40AAAF1}" type="presOf" srcId="{C6516631-8198-40A0-92B6-E6D47E660EF4}" destId="{96B726A2-0A13-4CE9-8DA0-5A9EB1BEE466}" srcOrd="0" destOrd="0" presId="urn:microsoft.com/office/officeart/2005/8/layout/hierarchy1"/>
    <dgm:cxn modelId="{2D5D74E7-DEBD-48B0-9017-5E517D2C8877}" type="presOf" srcId="{EDCB5E43-8625-4FA3-9810-C87F4E1A8ECD}" destId="{644244D4-5C68-4D43-8B7A-69127A72B202}" srcOrd="0" destOrd="0" presId="urn:microsoft.com/office/officeart/2005/8/layout/hierarchy1"/>
    <dgm:cxn modelId="{771E4925-491E-434E-857F-15C3BF3FEFAA}" srcId="{EDCB5E43-8625-4FA3-9810-C87F4E1A8ECD}" destId="{47EB51B3-B87C-43C4-9357-7A0B910AB045}" srcOrd="1" destOrd="0" parTransId="{712C6DC4-D9D7-4668-967C-9893BE8E08D8}" sibTransId="{8D3D27DB-091B-4AAE-8DFE-C2E00B1524FC}"/>
    <dgm:cxn modelId="{7B5BB0EC-4567-41A3-B356-BCD36A3FC9DB}" srcId="{EDCB5E43-8625-4FA3-9810-C87F4E1A8ECD}" destId="{AE3ADAB1-A8E6-4B64-A985-77A81DB9AC0A}" srcOrd="0" destOrd="0" parTransId="{946A4CE8-6874-4F8A-AC89-17251EE3768A}" sibTransId="{2662F570-F7CD-4E11-BED6-5B5AE0A5EC61}"/>
    <dgm:cxn modelId="{7C26A337-7B6C-4BB1-B2F7-F151D96A2BAB}" type="presOf" srcId="{A84B8140-F5EF-41D3-99CF-218DE4E27CF9}" destId="{7E8365EA-7D63-426D-9487-C52BE389CC02}" srcOrd="0" destOrd="0" presId="urn:microsoft.com/office/officeart/2005/8/layout/hierarchy1"/>
    <dgm:cxn modelId="{CE862FD6-2AD0-4BCA-B0E3-7EB73281C811}" type="presOf" srcId="{9B8F47FF-ED11-4C6A-853C-C6CC1EDEAC2C}" destId="{4FFD6016-D3A6-4E0E-8F81-09860611C362}" srcOrd="0" destOrd="0" presId="urn:microsoft.com/office/officeart/2005/8/layout/hierarchy1"/>
    <dgm:cxn modelId="{0A175E61-EF50-491D-8265-44C1BA155C5D}" srcId="{48DD3E24-9E1E-4E89-9248-B61A9C4B2CA1}" destId="{A88A7A53-612C-4FF6-9440-CF182116174A}" srcOrd="0" destOrd="0" parTransId="{73358A2B-B395-40DB-9C98-B6D8BAEFDA05}" sibTransId="{DD048E70-529F-4E9B-9AFC-087A5497EBBF}"/>
    <dgm:cxn modelId="{666EBB9D-AB30-4A1D-A145-4075C86D7654}" type="presOf" srcId="{48DD3E24-9E1E-4E89-9248-B61A9C4B2CA1}" destId="{3F5457B3-4459-48B2-B118-95A71B5DFDF4}" srcOrd="0" destOrd="0" presId="urn:microsoft.com/office/officeart/2005/8/layout/hierarchy1"/>
    <dgm:cxn modelId="{F3E6C7D6-33E9-47C9-9359-D5EAB8EBC595}" type="presOf" srcId="{A88A7A53-612C-4FF6-9440-CF182116174A}" destId="{FDE01890-4959-42EC-BB63-13D76CF0342E}" srcOrd="0" destOrd="0" presId="urn:microsoft.com/office/officeart/2005/8/layout/hierarchy1"/>
    <dgm:cxn modelId="{737CB1AA-719D-410D-870A-3D4936FB24E5}" type="presOf" srcId="{946A4CE8-6874-4F8A-AC89-17251EE3768A}" destId="{A702DEC3-9D97-4F6E-A3C0-039DC5D97C2A}" srcOrd="0" destOrd="0" presId="urn:microsoft.com/office/officeart/2005/8/layout/hierarchy1"/>
    <dgm:cxn modelId="{CDEE30E4-4597-4CF4-A65A-2A5B64E91A00}" srcId="{A84B8140-F5EF-41D3-99CF-218DE4E27CF9}" destId="{B102DF72-0F2D-4DE8-84F3-11FBD5532635}" srcOrd="0" destOrd="0" parTransId="{C6516631-8198-40A0-92B6-E6D47E660EF4}" sibTransId="{E6CB9B66-FEB5-4FE4-B5B0-DA3F7F586358}"/>
    <dgm:cxn modelId="{59EF4BB7-6DAB-4740-9374-1B05694AC6A7}" type="presOf" srcId="{B102DF72-0F2D-4DE8-84F3-11FBD5532635}" destId="{53876EC0-2A27-4EC5-A06A-00D2BEF3ED9A}" srcOrd="0" destOrd="0" presId="urn:microsoft.com/office/officeart/2005/8/layout/hierarchy1"/>
    <dgm:cxn modelId="{A4774A92-0533-4FF7-9129-499356623569}" type="presOf" srcId="{F763F92C-BCCD-40FC-8E57-7C4FC71F0336}" destId="{BC6D21CF-2A07-4766-8362-0222D43EF103}" srcOrd="0" destOrd="0" presId="urn:microsoft.com/office/officeart/2005/8/layout/hierarchy1"/>
    <dgm:cxn modelId="{9A1832C7-D275-49BB-84CA-D3486B41CA4B}" type="presOf" srcId="{712C6DC4-D9D7-4668-967C-9893BE8E08D8}" destId="{EB0E731D-67AE-4847-A351-79257062B9A5}" srcOrd="0" destOrd="0" presId="urn:microsoft.com/office/officeart/2005/8/layout/hierarchy1"/>
    <dgm:cxn modelId="{547CA789-A551-42B5-ACD8-A937BEC1F01B}" srcId="{A88A7A53-612C-4FF6-9440-CF182116174A}" destId="{EDCB5E43-8625-4FA3-9810-C87F4E1A8ECD}" srcOrd="0" destOrd="0" parTransId="{9B8F47FF-ED11-4C6A-853C-C6CC1EDEAC2C}" sibTransId="{DF7FEF6B-469A-487B-A7C1-E9EFEBB03172}"/>
    <dgm:cxn modelId="{D2D89D3F-0899-4D61-9FEF-3B2548367A90}" type="presParOf" srcId="{3F5457B3-4459-48B2-B118-95A71B5DFDF4}" destId="{6AC88669-EF14-4A33-B755-02CD7D62B682}" srcOrd="0" destOrd="0" presId="urn:microsoft.com/office/officeart/2005/8/layout/hierarchy1"/>
    <dgm:cxn modelId="{9C27E187-10E2-4006-8542-37A345595995}" type="presParOf" srcId="{6AC88669-EF14-4A33-B755-02CD7D62B682}" destId="{25E1D30C-15D7-40B3-BF67-64AC57C67FE7}" srcOrd="0" destOrd="0" presId="urn:microsoft.com/office/officeart/2005/8/layout/hierarchy1"/>
    <dgm:cxn modelId="{228FC032-D014-4011-B968-453FC433F1BF}" type="presParOf" srcId="{25E1D30C-15D7-40B3-BF67-64AC57C67FE7}" destId="{42F6EAB6-3D39-4FA1-8B0F-7D5913C64AAD}" srcOrd="0" destOrd="0" presId="urn:microsoft.com/office/officeart/2005/8/layout/hierarchy1"/>
    <dgm:cxn modelId="{29133A1D-4992-4AF8-A2B5-2609E1045FF9}" type="presParOf" srcId="{25E1D30C-15D7-40B3-BF67-64AC57C67FE7}" destId="{FDE01890-4959-42EC-BB63-13D76CF0342E}" srcOrd="1" destOrd="0" presId="urn:microsoft.com/office/officeart/2005/8/layout/hierarchy1"/>
    <dgm:cxn modelId="{AF851F54-E6F4-41DC-BCD3-965D9BB4C111}" type="presParOf" srcId="{6AC88669-EF14-4A33-B755-02CD7D62B682}" destId="{145E7B6D-D1E4-4D50-98E7-FA4841BFAF27}" srcOrd="1" destOrd="0" presId="urn:microsoft.com/office/officeart/2005/8/layout/hierarchy1"/>
    <dgm:cxn modelId="{802A5405-B532-4E90-9BF7-A0637E3389E0}" type="presParOf" srcId="{145E7B6D-D1E4-4D50-98E7-FA4841BFAF27}" destId="{4FFD6016-D3A6-4E0E-8F81-09860611C362}" srcOrd="0" destOrd="0" presId="urn:microsoft.com/office/officeart/2005/8/layout/hierarchy1"/>
    <dgm:cxn modelId="{39AE1598-8A99-486C-AD01-784B4826BC94}" type="presParOf" srcId="{145E7B6D-D1E4-4D50-98E7-FA4841BFAF27}" destId="{68B0FD34-A69E-43B5-8CBF-E94D3CF58D5F}" srcOrd="1" destOrd="0" presId="urn:microsoft.com/office/officeart/2005/8/layout/hierarchy1"/>
    <dgm:cxn modelId="{A2500CE7-F33B-4FB5-BD4E-45FB76D28D4C}" type="presParOf" srcId="{68B0FD34-A69E-43B5-8CBF-E94D3CF58D5F}" destId="{57CCA7E6-5D24-4442-BBCD-825497F2191A}" srcOrd="0" destOrd="0" presId="urn:microsoft.com/office/officeart/2005/8/layout/hierarchy1"/>
    <dgm:cxn modelId="{9173DEF4-C2F4-4D07-8F1F-27FD5C8BB790}" type="presParOf" srcId="{57CCA7E6-5D24-4442-BBCD-825497F2191A}" destId="{B6DD4E3F-59CB-44E1-83E9-3F41CC12377E}" srcOrd="0" destOrd="0" presId="urn:microsoft.com/office/officeart/2005/8/layout/hierarchy1"/>
    <dgm:cxn modelId="{24DB76F3-42AB-4DB0-82DE-DCB3E1A57EA2}" type="presParOf" srcId="{57CCA7E6-5D24-4442-BBCD-825497F2191A}" destId="{644244D4-5C68-4D43-8B7A-69127A72B202}" srcOrd="1" destOrd="0" presId="urn:microsoft.com/office/officeart/2005/8/layout/hierarchy1"/>
    <dgm:cxn modelId="{6A92AA32-F615-453B-9922-C9788061DB9F}" type="presParOf" srcId="{68B0FD34-A69E-43B5-8CBF-E94D3CF58D5F}" destId="{9342D334-09A7-4417-BB40-704D0BEF3D6E}" srcOrd="1" destOrd="0" presId="urn:microsoft.com/office/officeart/2005/8/layout/hierarchy1"/>
    <dgm:cxn modelId="{84422EC5-3B92-4039-B0A2-D68118A430D3}" type="presParOf" srcId="{9342D334-09A7-4417-BB40-704D0BEF3D6E}" destId="{A702DEC3-9D97-4F6E-A3C0-039DC5D97C2A}" srcOrd="0" destOrd="0" presId="urn:microsoft.com/office/officeart/2005/8/layout/hierarchy1"/>
    <dgm:cxn modelId="{75BB8D68-5DB6-4198-B404-298F150CAFC1}" type="presParOf" srcId="{9342D334-09A7-4417-BB40-704D0BEF3D6E}" destId="{32517673-B02D-47A9-A325-50C34FA445D6}" srcOrd="1" destOrd="0" presId="urn:microsoft.com/office/officeart/2005/8/layout/hierarchy1"/>
    <dgm:cxn modelId="{3E7E0273-2BE5-49AB-921C-E37345DD994E}" type="presParOf" srcId="{32517673-B02D-47A9-A325-50C34FA445D6}" destId="{E55D58D6-4BE2-472F-A7B5-11696C4D2ECA}" srcOrd="0" destOrd="0" presId="urn:microsoft.com/office/officeart/2005/8/layout/hierarchy1"/>
    <dgm:cxn modelId="{4FBCBE2A-C56E-4CD7-B17C-DF58EF4896CB}" type="presParOf" srcId="{E55D58D6-4BE2-472F-A7B5-11696C4D2ECA}" destId="{566AEEE3-6DAB-4D46-BB25-6B281D697CD6}" srcOrd="0" destOrd="0" presId="urn:microsoft.com/office/officeart/2005/8/layout/hierarchy1"/>
    <dgm:cxn modelId="{EA89A860-79CB-499D-B23A-2CF15D33E729}" type="presParOf" srcId="{E55D58D6-4BE2-472F-A7B5-11696C4D2ECA}" destId="{61708498-6D60-43C5-8792-27D3F3DCED17}" srcOrd="1" destOrd="0" presId="urn:microsoft.com/office/officeart/2005/8/layout/hierarchy1"/>
    <dgm:cxn modelId="{39D45983-0D1E-4337-9726-F008C4DC44A7}" type="presParOf" srcId="{32517673-B02D-47A9-A325-50C34FA445D6}" destId="{69A74252-92F3-41F2-91D5-46AF6CB26720}" srcOrd="1" destOrd="0" presId="urn:microsoft.com/office/officeart/2005/8/layout/hierarchy1"/>
    <dgm:cxn modelId="{745FE1D0-ABE3-4466-9943-76270C7D5A7C}" type="presParOf" srcId="{9342D334-09A7-4417-BB40-704D0BEF3D6E}" destId="{EB0E731D-67AE-4847-A351-79257062B9A5}" srcOrd="2" destOrd="0" presId="urn:microsoft.com/office/officeart/2005/8/layout/hierarchy1"/>
    <dgm:cxn modelId="{5856FF07-251C-4242-9352-C5ACE318BDC9}" type="presParOf" srcId="{9342D334-09A7-4417-BB40-704D0BEF3D6E}" destId="{4F275F43-61FF-4254-A88C-3FB052186875}" srcOrd="3" destOrd="0" presId="urn:microsoft.com/office/officeart/2005/8/layout/hierarchy1"/>
    <dgm:cxn modelId="{3C004C42-C956-457C-8A0C-4BD62AB20783}" type="presParOf" srcId="{4F275F43-61FF-4254-A88C-3FB052186875}" destId="{8598D673-078E-48F1-8DD1-30A954E51688}" srcOrd="0" destOrd="0" presId="urn:microsoft.com/office/officeart/2005/8/layout/hierarchy1"/>
    <dgm:cxn modelId="{8ED9052F-83E7-43EF-8249-6784263EF5C2}" type="presParOf" srcId="{8598D673-078E-48F1-8DD1-30A954E51688}" destId="{C5DE708C-9C63-40D6-A6EC-D7D65A37E549}" srcOrd="0" destOrd="0" presId="urn:microsoft.com/office/officeart/2005/8/layout/hierarchy1"/>
    <dgm:cxn modelId="{0B05F033-475D-46E1-AAD6-431B4290F9E4}" type="presParOf" srcId="{8598D673-078E-48F1-8DD1-30A954E51688}" destId="{0E6E685C-72FC-46F9-8C15-07C313646D0D}" srcOrd="1" destOrd="0" presId="urn:microsoft.com/office/officeart/2005/8/layout/hierarchy1"/>
    <dgm:cxn modelId="{ACDDA763-0E5B-49E6-AF15-B77673938B50}" type="presParOf" srcId="{4F275F43-61FF-4254-A88C-3FB052186875}" destId="{F8BD6BBE-AC5D-489F-B88F-597AC379A0C2}" srcOrd="1" destOrd="0" presId="urn:microsoft.com/office/officeart/2005/8/layout/hierarchy1"/>
    <dgm:cxn modelId="{9E6203B5-84D3-43A6-9A5E-E34D7C56AE91}" type="presParOf" srcId="{145E7B6D-D1E4-4D50-98E7-FA4841BFAF27}" destId="{BC6D21CF-2A07-4766-8362-0222D43EF103}" srcOrd="2" destOrd="0" presId="urn:microsoft.com/office/officeart/2005/8/layout/hierarchy1"/>
    <dgm:cxn modelId="{D9A4A7CA-51FF-495F-AEC0-1F885BE117EC}" type="presParOf" srcId="{145E7B6D-D1E4-4D50-98E7-FA4841BFAF27}" destId="{51A2FCA3-7199-443E-9BB0-FDDA152597EA}" srcOrd="3" destOrd="0" presId="urn:microsoft.com/office/officeart/2005/8/layout/hierarchy1"/>
    <dgm:cxn modelId="{FE031D75-508A-4CBD-9085-62A1D6BB1880}" type="presParOf" srcId="{51A2FCA3-7199-443E-9BB0-FDDA152597EA}" destId="{AB71FA7E-0516-4F08-9473-291CFA2822D7}" srcOrd="0" destOrd="0" presId="urn:microsoft.com/office/officeart/2005/8/layout/hierarchy1"/>
    <dgm:cxn modelId="{7264B84E-A45B-435F-9256-F6BCF1283D72}" type="presParOf" srcId="{AB71FA7E-0516-4F08-9473-291CFA2822D7}" destId="{C27EF1B9-06B3-4367-AEE7-C70451A096F0}" srcOrd="0" destOrd="0" presId="urn:microsoft.com/office/officeart/2005/8/layout/hierarchy1"/>
    <dgm:cxn modelId="{BAE47B06-0756-49AD-8C04-5244315F2DE5}" type="presParOf" srcId="{AB71FA7E-0516-4F08-9473-291CFA2822D7}" destId="{7E8365EA-7D63-426D-9487-C52BE389CC02}" srcOrd="1" destOrd="0" presId="urn:microsoft.com/office/officeart/2005/8/layout/hierarchy1"/>
    <dgm:cxn modelId="{158B8150-772E-4420-B8A8-C6C599618728}" type="presParOf" srcId="{51A2FCA3-7199-443E-9BB0-FDDA152597EA}" destId="{A1649A07-901C-4C3D-B4B3-2CA9A5AABD89}" srcOrd="1" destOrd="0" presId="urn:microsoft.com/office/officeart/2005/8/layout/hierarchy1"/>
    <dgm:cxn modelId="{7BEA0B77-3480-4611-BBA9-78F37C074F59}" type="presParOf" srcId="{A1649A07-901C-4C3D-B4B3-2CA9A5AABD89}" destId="{96B726A2-0A13-4CE9-8DA0-5A9EB1BEE466}" srcOrd="0" destOrd="0" presId="urn:microsoft.com/office/officeart/2005/8/layout/hierarchy1"/>
    <dgm:cxn modelId="{26341797-75A9-4A73-9171-57C7DC684542}" type="presParOf" srcId="{A1649A07-901C-4C3D-B4B3-2CA9A5AABD89}" destId="{2F245221-9D19-4241-9028-7D528DA448CC}" srcOrd="1" destOrd="0" presId="urn:microsoft.com/office/officeart/2005/8/layout/hierarchy1"/>
    <dgm:cxn modelId="{C4F37BE6-1109-4B5E-AF8E-3255647A150E}" type="presParOf" srcId="{2F245221-9D19-4241-9028-7D528DA448CC}" destId="{4D5AC1D1-C529-4CC0-9051-6EF566588D3D}" srcOrd="0" destOrd="0" presId="urn:microsoft.com/office/officeart/2005/8/layout/hierarchy1"/>
    <dgm:cxn modelId="{483DB3CD-DD38-4066-9249-0ABDAE0354DD}" type="presParOf" srcId="{4D5AC1D1-C529-4CC0-9051-6EF566588D3D}" destId="{4D7B9B4E-F66F-4567-B061-FF4A4CB0DF5B}" srcOrd="0" destOrd="0" presId="urn:microsoft.com/office/officeart/2005/8/layout/hierarchy1"/>
    <dgm:cxn modelId="{FC75B580-4200-46FE-A5EB-95954FFC447C}" type="presParOf" srcId="{4D5AC1D1-C529-4CC0-9051-6EF566588D3D}" destId="{53876EC0-2A27-4EC5-A06A-00D2BEF3ED9A}" srcOrd="1" destOrd="0" presId="urn:microsoft.com/office/officeart/2005/8/layout/hierarchy1"/>
    <dgm:cxn modelId="{002D197B-4758-4EE3-A55E-D9730DF8B9B6}" type="presParOf" srcId="{2F245221-9D19-4241-9028-7D528DA448CC}" destId="{BDC1DA46-2A24-45DF-9D26-7670EA75AF3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DD3E24-9E1E-4E89-9248-B61A9C4B2CA1}" type="doc">
      <dgm:prSet loTypeId="urn:microsoft.com/office/officeart/2005/8/layout/hierarchy1" loCatId="hierarchy" qsTypeId="urn:microsoft.com/office/officeart/2005/8/quickstyle/3d3" qsCatId="3D" csTypeId="urn:microsoft.com/office/officeart/2005/8/colors/accent1_2" csCatId="accent1" phldr="1"/>
      <dgm:spPr/>
      <dgm:t>
        <a:bodyPr/>
        <a:lstStyle/>
        <a:p>
          <a:endParaRPr lang="en-IN"/>
        </a:p>
      </dgm:t>
    </dgm:pt>
    <dgm:pt modelId="{A88A7A53-612C-4FF6-9440-CF182116174A}">
      <dgm:prSet phldrT="[Text]"/>
      <dgm:spPr/>
      <dgm:t>
        <a:bodyPr/>
        <a:lstStyle/>
        <a:p>
          <a:r>
            <a:rPr lang="en-IN" dirty="0" smtClean="0"/>
            <a:t>ROE</a:t>
          </a:r>
        </a:p>
        <a:p>
          <a:r>
            <a:rPr lang="en-IN" dirty="0" smtClean="0"/>
            <a:t>(34.25%)</a:t>
          </a:r>
          <a:endParaRPr lang="en-IN" dirty="0"/>
        </a:p>
      </dgm:t>
    </dgm:pt>
    <dgm:pt modelId="{73358A2B-B395-40DB-9C98-B6D8BAEFDA05}" type="parTrans" cxnId="{0A175E61-EF50-491D-8265-44C1BA155C5D}">
      <dgm:prSet/>
      <dgm:spPr/>
      <dgm:t>
        <a:bodyPr/>
        <a:lstStyle/>
        <a:p>
          <a:endParaRPr lang="en-IN"/>
        </a:p>
      </dgm:t>
    </dgm:pt>
    <dgm:pt modelId="{DD048E70-529F-4E9B-9AFC-087A5497EBBF}" type="sibTrans" cxnId="{0A175E61-EF50-491D-8265-44C1BA155C5D}">
      <dgm:prSet/>
      <dgm:spPr/>
      <dgm:t>
        <a:bodyPr/>
        <a:lstStyle/>
        <a:p>
          <a:endParaRPr lang="en-IN"/>
        </a:p>
      </dgm:t>
    </dgm:pt>
    <dgm:pt modelId="{EDCB5E43-8625-4FA3-9810-C87F4E1A8ECD}">
      <dgm:prSet phldrT="[Text]"/>
      <dgm:spPr/>
      <dgm:t>
        <a:bodyPr/>
        <a:lstStyle/>
        <a:p>
          <a:r>
            <a:rPr lang="en-IN" dirty="0" smtClean="0"/>
            <a:t>Return on net assets</a:t>
          </a:r>
          <a:endParaRPr lang="en-IN" dirty="0"/>
        </a:p>
      </dgm:t>
    </dgm:pt>
    <dgm:pt modelId="{9B8F47FF-ED11-4C6A-853C-C6CC1EDEAC2C}" type="parTrans" cxnId="{547CA789-A551-42B5-ACD8-A937BEC1F01B}">
      <dgm:prSet/>
      <dgm:spPr/>
      <dgm:t>
        <a:bodyPr/>
        <a:lstStyle/>
        <a:p>
          <a:endParaRPr lang="en-IN"/>
        </a:p>
      </dgm:t>
    </dgm:pt>
    <dgm:pt modelId="{DF7FEF6B-469A-487B-A7C1-E9EFEBB03172}" type="sibTrans" cxnId="{547CA789-A551-42B5-ACD8-A937BEC1F01B}">
      <dgm:prSet/>
      <dgm:spPr/>
      <dgm:t>
        <a:bodyPr/>
        <a:lstStyle/>
        <a:p>
          <a:endParaRPr lang="en-IN"/>
        </a:p>
      </dgm:t>
    </dgm:pt>
    <dgm:pt modelId="{AE3ADAB1-A8E6-4B64-A985-77A81DB9AC0A}">
      <dgm:prSet phldrT="[Text]"/>
      <dgm:spPr/>
      <dgm:t>
        <a:bodyPr/>
        <a:lstStyle/>
        <a:p>
          <a:r>
            <a:rPr lang="en-IN" dirty="0" smtClean="0"/>
            <a:t>Profit Margin</a:t>
          </a:r>
        </a:p>
        <a:p>
          <a:r>
            <a:rPr lang="en-IN" dirty="0" smtClean="0"/>
            <a:t>(17.64%)</a:t>
          </a:r>
          <a:endParaRPr lang="en-IN" dirty="0"/>
        </a:p>
      </dgm:t>
    </dgm:pt>
    <dgm:pt modelId="{946A4CE8-6874-4F8A-AC89-17251EE3768A}" type="parTrans" cxnId="{7B5BB0EC-4567-41A3-B356-BCD36A3FC9DB}">
      <dgm:prSet/>
      <dgm:spPr/>
      <dgm:t>
        <a:bodyPr/>
        <a:lstStyle/>
        <a:p>
          <a:endParaRPr lang="en-IN"/>
        </a:p>
      </dgm:t>
    </dgm:pt>
    <dgm:pt modelId="{2662F570-F7CD-4E11-BED6-5B5AE0A5EC61}" type="sibTrans" cxnId="{7B5BB0EC-4567-41A3-B356-BCD36A3FC9DB}">
      <dgm:prSet/>
      <dgm:spPr/>
      <dgm:t>
        <a:bodyPr/>
        <a:lstStyle/>
        <a:p>
          <a:endParaRPr lang="en-IN"/>
        </a:p>
      </dgm:t>
    </dgm:pt>
    <dgm:pt modelId="{47EB51B3-B87C-43C4-9357-7A0B910AB045}">
      <dgm:prSet phldrT="[Text]"/>
      <dgm:spPr/>
      <dgm:t>
        <a:bodyPr/>
        <a:lstStyle/>
        <a:p>
          <a:r>
            <a:rPr lang="en-IN" dirty="0" smtClean="0"/>
            <a:t>Asset Turnover</a:t>
          </a:r>
        </a:p>
        <a:p>
          <a:r>
            <a:rPr lang="en-IN" dirty="0" smtClean="0"/>
            <a:t>(2.03)</a:t>
          </a:r>
          <a:endParaRPr lang="en-IN" dirty="0"/>
        </a:p>
      </dgm:t>
    </dgm:pt>
    <dgm:pt modelId="{712C6DC4-D9D7-4668-967C-9893BE8E08D8}" type="parTrans" cxnId="{771E4925-491E-434E-857F-15C3BF3FEFAA}">
      <dgm:prSet/>
      <dgm:spPr/>
      <dgm:t>
        <a:bodyPr/>
        <a:lstStyle/>
        <a:p>
          <a:endParaRPr lang="en-IN"/>
        </a:p>
      </dgm:t>
    </dgm:pt>
    <dgm:pt modelId="{8D3D27DB-091B-4AAE-8DFE-C2E00B1524FC}" type="sibTrans" cxnId="{771E4925-491E-434E-857F-15C3BF3FEFAA}">
      <dgm:prSet/>
      <dgm:spPr/>
      <dgm:t>
        <a:bodyPr/>
        <a:lstStyle/>
        <a:p>
          <a:endParaRPr lang="en-IN"/>
        </a:p>
      </dgm:t>
    </dgm:pt>
    <dgm:pt modelId="{A84B8140-F5EF-41D3-99CF-218DE4E27CF9}">
      <dgm:prSet phldrT="[Text]"/>
      <dgm:spPr/>
      <dgm:t>
        <a:bodyPr/>
        <a:lstStyle/>
        <a:p>
          <a:r>
            <a:rPr lang="en-IN" dirty="0" smtClean="0"/>
            <a:t>Financial Leverage</a:t>
          </a:r>
          <a:endParaRPr lang="en-IN" dirty="0"/>
        </a:p>
      </dgm:t>
    </dgm:pt>
    <dgm:pt modelId="{F763F92C-BCCD-40FC-8E57-7C4FC71F0336}" type="parTrans" cxnId="{02DB6501-BD6C-41B2-AF21-2DAC90C135EB}">
      <dgm:prSet/>
      <dgm:spPr/>
      <dgm:t>
        <a:bodyPr/>
        <a:lstStyle/>
        <a:p>
          <a:endParaRPr lang="en-IN"/>
        </a:p>
      </dgm:t>
    </dgm:pt>
    <dgm:pt modelId="{D63D17FE-5FAC-4967-B54E-FBEFF6BAFCE6}" type="sibTrans" cxnId="{02DB6501-BD6C-41B2-AF21-2DAC90C135EB}">
      <dgm:prSet/>
      <dgm:spPr/>
      <dgm:t>
        <a:bodyPr/>
        <a:lstStyle/>
        <a:p>
          <a:endParaRPr lang="en-IN"/>
        </a:p>
      </dgm:t>
    </dgm:pt>
    <dgm:pt modelId="{B102DF72-0F2D-4DE8-84F3-11FBD5532635}">
      <dgm:prSet phldrT="[Text]"/>
      <dgm:spPr/>
      <dgm:t>
        <a:bodyPr/>
        <a:lstStyle/>
        <a:p>
          <a:r>
            <a:rPr lang="en-IN" dirty="0" smtClean="0"/>
            <a:t>(0.9514)</a:t>
          </a:r>
          <a:endParaRPr lang="en-IN" dirty="0"/>
        </a:p>
      </dgm:t>
    </dgm:pt>
    <dgm:pt modelId="{C6516631-8198-40A0-92B6-E6D47E660EF4}" type="parTrans" cxnId="{CDEE30E4-4597-4CF4-A65A-2A5B64E91A00}">
      <dgm:prSet/>
      <dgm:spPr/>
      <dgm:t>
        <a:bodyPr/>
        <a:lstStyle/>
        <a:p>
          <a:endParaRPr lang="en-IN"/>
        </a:p>
      </dgm:t>
    </dgm:pt>
    <dgm:pt modelId="{E6CB9B66-FEB5-4FE4-B5B0-DA3F7F586358}" type="sibTrans" cxnId="{CDEE30E4-4597-4CF4-A65A-2A5B64E91A00}">
      <dgm:prSet/>
      <dgm:spPr/>
      <dgm:t>
        <a:bodyPr/>
        <a:lstStyle/>
        <a:p>
          <a:endParaRPr lang="en-IN"/>
        </a:p>
      </dgm:t>
    </dgm:pt>
    <dgm:pt modelId="{3F5457B3-4459-48B2-B118-95A71B5DFDF4}" type="pres">
      <dgm:prSet presAssocID="{48DD3E24-9E1E-4E89-9248-B61A9C4B2CA1}" presName="hierChild1" presStyleCnt="0">
        <dgm:presLayoutVars>
          <dgm:chPref val="1"/>
          <dgm:dir/>
          <dgm:animOne val="branch"/>
          <dgm:animLvl val="lvl"/>
          <dgm:resizeHandles/>
        </dgm:presLayoutVars>
      </dgm:prSet>
      <dgm:spPr/>
      <dgm:t>
        <a:bodyPr/>
        <a:lstStyle/>
        <a:p>
          <a:endParaRPr lang="en-IN"/>
        </a:p>
      </dgm:t>
    </dgm:pt>
    <dgm:pt modelId="{6AC88669-EF14-4A33-B755-02CD7D62B682}" type="pres">
      <dgm:prSet presAssocID="{A88A7A53-612C-4FF6-9440-CF182116174A}" presName="hierRoot1" presStyleCnt="0"/>
      <dgm:spPr/>
    </dgm:pt>
    <dgm:pt modelId="{25E1D30C-15D7-40B3-BF67-64AC57C67FE7}" type="pres">
      <dgm:prSet presAssocID="{A88A7A53-612C-4FF6-9440-CF182116174A}" presName="composite" presStyleCnt="0"/>
      <dgm:spPr/>
    </dgm:pt>
    <dgm:pt modelId="{42F6EAB6-3D39-4FA1-8B0F-7D5913C64AAD}" type="pres">
      <dgm:prSet presAssocID="{A88A7A53-612C-4FF6-9440-CF182116174A}" presName="background" presStyleLbl="node0" presStyleIdx="0" presStyleCnt="1"/>
      <dgm:spPr/>
    </dgm:pt>
    <dgm:pt modelId="{FDE01890-4959-42EC-BB63-13D76CF0342E}" type="pres">
      <dgm:prSet presAssocID="{A88A7A53-612C-4FF6-9440-CF182116174A}" presName="text" presStyleLbl="fgAcc0" presStyleIdx="0" presStyleCnt="1">
        <dgm:presLayoutVars>
          <dgm:chPref val="3"/>
        </dgm:presLayoutVars>
      </dgm:prSet>
      <dgm:spPr/>
      <dgm:t>
        <a:bodyPr/>
        <a:lstStyle/>
        <a:p>
          <a:endParaRPr lang="en-IN"/>
        </a:p>
      </dgm:t>
    </dgm:pt>
    <dgm:pt modelId="{145E7B6D-D1E4-4D50-98E7-FA4841BFAF27}" type="pres">
      <dgm:prSet presAssocID="{A88A7A53-612C-4FF6-9440-CF182116174A}" presName="hierChild2" presStyleCnt="0"/>
      <dgm:spPr/>
    </dgm:pt>
    <dgm:pt modelId="{4FFD6016-D3A6-4E0E-8F81-09860611C362}" type="pres">
      <dgm:prSet presAssocID="{9B8F47FF-ED11-4C6A-853C-C6CC1EDEAC2C}" presName="Name10" presStyleLbl="parChTrans1D2" presStyleIdx="0" presStyleCnt="2"/>
      <dgm:spPr/>
      <dgm:t>
        <a:bodyPr/>
        <a:lstStyle/>
        <a:p>
          <a:endParaRPr lang="en-IN"/>
        </a:p>
      </dgm:t>
    </dgm:pt>
    <dgm:pt modelId="{68B0FD34-A69E-43B5-8CBF-E94D3CF58D5F}" type="pres">
      <dgm:prSet presAssocID="{EDCB5E43-8625-4FA3-9810-C87F4E1A8ECD}" presName="hierRoot2" presStyleCnt="0"/>
      <dgm:spPr/>
    </dgm:pt>
    <dgm:pt modelId="{57CCA7E6-5D24-4442-BBCD-825497F2191A}" type="pres">
      <dgm:prSet presAssocID="{EDCB5E43-8625-4FA3-9810-C87F4E1A8ECD}" presName="composite2" presStyleCnt="0"/>
      <dgm:spPr/>
    </dgm:pt>
    <dgm:pt modelId="{B6DD4E3F-59CB-44E1-83E9-3F41CC12377E}" type="pres">
      <dgm:prSet presAssocID="{EDCB5E43-8625-4FA3-9810-C87F4E1A8ECD}" presName="background2" presStyleLbl="node2" presStyleIdx="0" presStyleCnt="2"/>
      <dgm:spPr/>
    </dgm:pt>
    <dgm:pt modelId="{644244D4-5C68-4D43-8B7A-69127A72B202}" type="pres">
      <dgm:prSet presAssocID="{EDCB5E43-8625-4FA3-9810-C87F4E1A8ECD}" presName="text2" presStyleLbl="fgAcc2" presStyleIdx="0" presStyleCnt="2">
        <dgm:presLayoutVars>
          <dgm:chPref val="3"/>
        </dgm:presLayoutVars>
      </dgm:prSet>
      <dgm:spPr/>
      <dgm:t>
        <a:bodyPr/>
        <a:lstStyle/>
        <a:p>
          <a:endParaRPr lang="en-IN"/>
        </a:p>
      </dgm:t>
    </dgm:pt>
    <dgm:pt modelId="{9342D334-09A7-4417-BB40-704D0BEF3D6E}" type="pres">
      <dgm:prSet presAssocID="{EDCB5E43-8625-4FA3-9810-C87F4E1A8ECD}" presName="hierChild3" presStyleCnt="0"/>
      <dgm:spPr/>
    </dgm:pt>
    <dgm:pt modelId="{A702DEC3-9D97-4F6E-A3C0-039DC5D97C2A}" type="pres">
      <dgm:prSet presAssocID="{946A4CE8-6874-4F8A-AC89-17251EE3768A}" presName="Name17" presStyleLbl="parChTrans1D3" presStyleIdx="0" presStyleCnt="3"/>
      <dgm:spPr/>
      <dgm:t>
        <a:bodyPr/>
        <a:lstStyle/>
        <a:p>
          <a:endParaRPr lang="en-IN"/>
        </a:p>
      </dgm:t>
    </dgm:pt>
    <dgm:pt modelId="{32517673-B02D-47A9-A325-50C34FA445D6}" type="pres">
      <dgm:prSet presAssocID="{AE3ADAB1-A8E6-4B64-A985-77A81DB9AC0A}" presName="hierRoot3" presStyleCnt="0"/>
      <dgm:spPr/>
    </dgm:pt>
    <dgm:pt modelId="{E55D58D6-4BE2-472F-A7B5-11696C4D2ECA}" type="pres">
      <dgm:prSet presAssocID="{AE3ADAB1-A8E6-4B64-A985-77A81DB9AC0A}" presName="composite3" presStyleCnt="0"/>
      <dgm:spPr/>
    </dgm:pt>
    <dgm:pt modelId="{566AEEE3-6DAB-4D46-BB25-6B281D697CD6}" type="pres">
      <dgm:prSet presAssocID="{AE3ADAB1-A8E6-4B64-A985-77A81DB9AC0A}" presName="background3" presStyleLbl="node3" presStyleIdx="0" presStyleCnt="3"/>
      <dgm:spPr/>
    </dgm:pt>
    <dgm:pt modelId="{61708498-6D60-43C5-8792-27D3F3DCED17}" type="pres">
      <dgm:prSet presAssocID="{AE3ADAB1-A8E6-4B64-A985-77A81DB9AC0A}" presName="text3" presStyleLbl="fgAcc3" presStyleIdx="0" presStyleCnt="3">
        <dgm:presLayoutVars>
          <dgm:chPref val="3"/>
        </dgm:presLayoutVars>
      </dgm:prSet>
      <dgm:spPr/>
      <dgm:t>
        <a:bodyPr/>
        <a:lstStyle/>
        <a:p>
          <a:endParaRPr lang="en-IN"/>
        </a:p>
      </dgm:t>
    </dgm:pt>
    <dgm:pt modelId="{69A74252-92F3-41F2-91D5-46AF6CB26720}" type="pres">
      <dgm:prSet presAssocID="{AE3ADAB1-A8E6-4B64-A985-77A81DB9AC0A}" presName="hierChild4" presStyleCnt="0"/>
      <dgm:spPr/>
    </dgm:pt>
    <dgm:pt modelId="{EB0E731D-67AE-4847-A351-79257062B9A5}" type="pres">
      <dgm:prSet presAssocID="{712C6DC4-D9D7-4668-967C-9893BE8E08D8}" presName="Name17" presStyleLbl="parChTrans1D3" presStyleIdx="1" presStyleCnt="3"/>
      <dgm:spPr/>
      <dgm:t>
        <a:bodyPr/>
        <a:lstStyle/>
        <a:p>
          <a:endParaRPr lang="en-IN"/>
        </a:p>
      </dgm:t>
    </dgm:pt>
    <dgm:pt modelId="{4F275F43-61FF-4254-A88C-3FB052186875}" type="pres">
      <dgm:prSet presAssocID="{47EB51B3-B87C-43C4-9357-7A0B910AB045}" presName="hierRoot3" presStyleCnt="0"/>
      <dgm:spPr/>
    </dgm:pt>
    <dgm:pt modelId="{8598D673-078E-48F1-8DD1-30A954E51688}" type="pres">
      <dgm:prSet presAssocID="{47EB51B3-B87C-43C4-9357-7A0B910AB045}" presName="composite3" presStyleCnt="0"/>
      <dgm:spPr/>
    </dgm:pt>
    <dgm:pt modelId="{C5DE708C-9C63-40D6-A6EC-D7D65A37E549}" type="pres">
      <dgm:prSet presAssocID="{47EB51B3-B87C-43C4-9357-7A0B910AB045}" presName="background3" presStyleLbl="node3" presStyleIdx="1" presStyleCnt="3"/>
      <dgm:spPr/>
    </dgm:pt>
    <dgm:pt modelId="{0E6E685C-72FC-46F9-8C15-07C313646D0D}" type="pres">
      <dgm:prSet presAssocID="{47EB51B3-B87C-43C4-9357-7A0B910AB045}" presName="text3" presStyleLbl="fgAcc3" presStyleIdx="1" presStyleCnt="3">
        <dgm:presLayoutVars>
          <dgm:chPref val="3"/>
        </dgm:presLayoutVars>
      </dgm:prSet>
      <dgm:spPr/>
      <dgm:t>
        <a:bodyPr/>
        <a:lstStyle/>
        <a:p>
          <a:endParaRPr lang="en-IN"/>
        </a:p>
      </dgm:t>
    </dgm:pt>
    <dgm:pt modelId="{F8BD6BBE-AC5D-489F-B88F-597AC379A0C2}" type="pres">
      <dgm:prSet presAssocID="{47EB51B3-B87C-43C4-9357-7A0B910AB045}" presName="hierChild4" presStyleCnt="0"/>
      <dgm:spPr/>
    </dgm:pt>
    <dgm:pt modelId="{BC6D21CF-2A07-4766-8362-0222D43EF103}" type="pres">
      <dgm:prSet presAssocID="{F763F92C-BCCD-40FC-8E57-7C4FC71F0336}" presName="Name10" presStyleLbl="parChTrans1D2" presStyleIdx="1" presStyleCnt="2"/>
      <dgm:spPr/>
      <dgm:t>
        <a:bodyPr/>
        <a:lstStyle/>
        <a:p>
          <a:endParaRPr lang="en-IN"/>
        </a:p>
      </dgm:t>
    </dgm:pt>
    <dgm:pt modelId="{51A2FCA3-7199-443E-9BB0-FDDA152597EA}" type="pres">
      <dgm:prSet presAssocID="{A84B8140-F5EF-41D3-99CF-218DE4E27CF9}" presName="hierRoot2" presStyleCnt="0"/>
      <dgm:spPr/>
    </dgm:pt>
    <dgm:pt modelId="{AB71FA7E-0516-4F08-9473-291CFA2822D7}" type="pres">
      <dgm:prSet presAssocID="{A84B8140-F5EF-41D3-99CF-218DE4E27CF9}" presName="composite2" presStyleCnt="0"/>
      <dgm:spPr/>
    </dgm:pt>
    <dgm:pt modelId="{C27EF1B9-06B3-4367-AEE7-C70451A096F0}" type="pres">
      <dgm:prSet presAssocID="{A84B8140-F5EF-41D3-99CF-218DE4E27CF9}" presName="background2" presStyleLbl="node2" presStyleIdx="1" presStyleCnt="2"/>
      <dgm:spPr/>
    </dgm:pt>
    <dgm:pt modelId="{7E8365EA-7D63-426D-9487-C52BE389CC02}" type="pres">
      <dgm:prSet presAssocID="{A84B8140-F5EF-41D3-99CF-218DE4E27CF9}" presName="text2" presStyleLbl="fgAcc2" presStyleIdx="1" presStyleCnt="2">
        <dgm:presLayoutVars>
          <dgm:chPref val="3"/>
        </dgm:presLayoutVars>
      </dgm:prSet>
      <dgm:spPr/>
      <dgm:t>
        <a:bodyPr/>
        <a:lstStyle/>
        <a:p>
          <a:endParaRPr lang="en-IN"/>
        </a:p>
      </dgm:t>
    </dgm:pt>
    <dgm:pt modelId="{A1649A07-901C-4C3D-B4B3-2CA9A5AABD89}" type="pres">
      <dgm:prSet presAssocID="{A84B8140-F5EF-41D3-99CF-218DE4E27CF9}" presName="hierChild3" presStyleCnt="0"/>
      <dgm:spPr/>
    </dgm:pt>
    <dgm:pt modelId="{96B726A2-0A13-4CE9-8DA0-5A9EB1BEE466}" type="pres">
      <dgm:prSet presAssocID="{C6516631-8198-40A0-92B6-E6D47E660EF4}" presName="Name17" presStyleLbl="parChTrans1D3" presStyleIdx="2" presStyleCnt="3"/>
      <dgm:spPr/>
      <dgm:t>
        <a:bodyPr/>
        <a:lstStyle/>
        <a:p>
          <a:endParaRPr lang="en-IN"/>
        </a:p>
      </dgm:t>
    </dgm:pt>
    <dgm:pt modelId="{2F245221-9D19-4241-9028-7D528DA448CC}" type="pres">
      <dgm:prSet presAssocID="{B102DF72-0F2D-4DE8-84F3-11FBD5532635}" presName="hierRoot3" presStyleCnt="0"/>
      <dgm:spPr/>
    </dgm:pt>
    <dgm:pt modelId="{4D5AC1D1-C529-4CC0-9051-6EF566588D3D}" type="pres">
      <dgm:prSet presAssocID="{B102DF72-0F2D-4DE8-84F3-11FBD5532635}" presName="composite3" presStyleCnt="0"/>
      <dgm:spPr/>
    </dgm:pt>
    <dgm:pt modelId="{4D7B9B4E-F66F-4567-B061-FF4A4CB0DF5B}" type="pres">
      <dgm:prSet presAssocID="{B102DF72-0F2D-4DE8-84F3-11FBD5532635}" presName="background3" presStyleLbl="node3" presStyleIdx="2" presStyleCnt="3"/>
      <dgm:spPr/>
    </dgm:pt>
    <dgm:pt modelId="{53876EC0-2A27-4EC5-A06A-00D2BEF3ED9A}" type="pres">
      <dgm:prSet presAssocID="{B102DF72-0F2D-4DE8-84F3-11FBD5532635}" presName="text3" presStyleLbl="fgAcc3" presStyleIdx="2" presStyleCnt="3">
        <dgm:presLayoutVars>
          <dgm:chPref val="3"/>
        </dgm:presLayoutVars>
      </dgm:prSet>
      <dgm:spPr/>
      <dgm:t>
        <a:bodyPr/>
        <a:lstStyle/>
        <a:p>
          <a:endParaRPr lang="en-IN"/>
        </a:p>
      </dgm:t>
    </dgm:pt>
    <dgm:pt modelId="{BDC1DA46-2A24-45DF-9D26-7670EA75AF35}" type="pres">
      <dgm:prSet presAssocID="{B102DF72-0F2D-4DE8-84F3-11FBD5532635}" presName="hierChild4" presStyleCnt="0"/>
      <dgm:spPr/>
    </dgm:pt>
  </dgm:ptLst>
  <dgm:cxnLst>
    <dgm:cxn modelId="{08844289-52D7-4765-A2EC-AF8EB144B16A}" type="presOf" srcId="{946A4CE8-6874-4F8A-AC89-17251EE3768A}" destId="{A702DEC3-9D97-4F6E-A3C0-039DC5D97C2A}" srcOrd="0" destOrd="0" presId="urn:microsoft.com/office/officeart/2005/8/layout/hierarchy1"/>
    <dgm:cxn modelId="{02DB6501-BD6C-41B2-AF21-2DAC90C135EB}" srcId="{A88A7A53-612C-4FF6-9440-CF182116174A}" destId="{A84B8140-F5EF-41D3-99CF-218DE4E27CF9}" srcOrd="1" destOrd="0" parTransId="{F763F92C-BCCD-40FC-8E57-7C4FC71F0336}" sibTransId="{D63D17FE-5FAC-4967-B54E-FBEFF6BAFCE6}"/>
    <dgm:cxn modelId="{2E55C690-C3D6-472B-9103-406936CF9C61}" type="presOf" srcId="{9B8F47FF-ED11-4C6A-853C-C6CC1EDEAC2C}" destId="{4FFD6016-D3A6-4E0E-8F81-09860611C362}" srcOrd="0" destOrd="0" presId="urn:microsoft.com/office/officeart/2005/8/layout/hierarchy1"/>
    <dgm:cxn modelId="{C4B7C665-FFE6-4B49-9365-ED808EAE97B9}" type="presOf" srcId="{47EB51B3-B87C-43C4-9357-7A0B910AB045}" destId="{0E6E685C-72FC-46F9-8C15-07C313646D0D}" srcOrd="0" destOrd="0" presId="urn:microsoft.com/office/officeart/2005/8/layout/hierarchy1"/>
    <dgm:cxn modelId="{F23AB566-53B5-4451-82F0-99C9F105E045}" type="presOf" srcId="{C6516631-8198-40A0-92B6-E6D47E660EF4}" destId="{96B726A2-0A13-4CE9-8DA0-5A9EB1BEE466}" srcOrd="0" destOrd="0" presId="urn:microsoft.com/office/officeart/2005/8/layout/hierarchy1"/>
    <dgm:cxn modelId="{771E4925-491E-434E-857F-15C3BF3FEFAA}" srcId="{EDCB5E43-8625-4FA3-9810-C87F4E1A8ECD}" destId="{47EB51B3-B87C-43C4-9357-7A0B910AB045}" srcOrd="1" destOrd="0" parTransId="{712C6DC4-D9D7-4668-967C-9893BE8E08D8}" sibTransId="{8D3D27DB-091B-4AAE-8DFE-C2E00B1524FC}"/>
    <dgm:cxn modelId="{AFAA85B4-6FC5-4CAB-88DC-2DFBD15DC6AB}" type="presOf" srcId="{A84B8140-F5EF-41D3-99CF-218DE4E27CF9}" destId="{7E8365EA-7D63-426D-9487-C52BE389CC02}" srcOrd="0" destOrd="0" presId="urn:microsoft.com/office/officeart/2005/8/layout/hierarchy1"/>
    <dgm:cxn modelId="{7B5BB0EC-4567-41A3-B356-BCD36A3FC9DB}" srcId="{EDCB5E43-8625-4FA3-9810-C87F4E1A8ECD}" destId="{AE3ADAB1-A8E6-4B64-A985-77A81DB9AC0A}" srcOrd="0" destOrd="0" parTransId="{946A4CE8-6874-4F8A-AC89-17251EE3768A}" sibTransId="{2662F570-F7CD-4E11-BED6-5B5AE0A5EC61}"/>
    <dgm:cxn modelId="{5BA17900-1A64-4CC4-9E1D-912407C0ECDC}" type="presOf" srcId="{F763F92C-BCCD-40FC-8E57-7C4FC71F0336}" destId="{BC6D21CF-2A07-4766-8362-0222D43EF103}" srcOrd="0" destOrd="0" presId="urn:microsoft.com/office/officeart/2005/8/layout/hierarchy1"/>
    <dgm:cxn modelId="{0A175E61-EF50-491D-8265-44C1BA155C5D}" srcId="{48DD3E24-9E1E-4E89-9248-B61A9C4B2CA1}" destId="{A88A7A53-612C-4FF6-9440-CF182116174A}" srcOrd="0" destOrd="0" parTransId="{73358A2B-B395-40DB-9C98-B6D8BAEFDA05}" sibTransId="{DD048E70-529F-4E9B-9AFC-087A5497EBBF}"/>
    <dgm:cxn modelId="{36B11D15-926E-4E03-A335-3D89846CEC6E}" type="presOf" srcId="{B102DF72-0F2D-4DE8-84F3-11FBD5532635}" destId="{53876EC0-2A27-4EC5-A06A-00D2BEF3ED9A}" srcOrd="0" destOrd="0" presId="urn:microsoft.com/office/officeart/2005/8/layout/hierarchy1"/>
    <dgm:cxn modelId="{4D1E5BE6-A481-4003-9CFF-66670A80E0EB}" type="presOf" srcId="{A88A7A53-612C-4FF6-9440-CF182116174A}" destId="{FDE01890-4959-42EC-BB63-13D76CF0342E}" srcOrd="0" destOrd="0" presId="urn:microsoft.com/office/officeart/2005/8/layout/hierarchy1"/>
    <dgm:cxn modelId="{077A1F01-14B0-42E2-BE47-17B9ECD0DF3F}" type="presOf" srcId="{EDCB5E43-8625-4FA3-9810-C87F4E1A8ECD}" destId="{644244D4-5C68-4D43-8B7A-69127A72B202}" srcOrd="0" destOrd="0" presId="urn:microsoft.com/office/officeart/2005/8/layout/hierarchy1"/>
    <dgm:cxn modelId="{180B6879-9418-461B-B433-0FF60502ED0E}" type="presOf" srcId="{AE3ADAB1-A8E6-4B64-A985-77A81DB9AC0A}" destId="{61708498-6D60-43C5-8792-27D3F3DCED17}" srcOrd="0" destOrd="0" presId="urn:microsoft.com/office/officeart/2005/8/layout/hierarchy1"/>
    <dgm:cxn modelId="{CDEE30E4-4597-4CF4-A65A-2A5B64E91A00}" srcId="{A84B8140-F5EF-41D3-99CF-218DE4E27CF9}" destId="{B102DF72-0F2D-4DE8-84F3-11FBD5532635}" srcOrd="0" destOrd="0" parTransId="{C6516631-8198-40A0-92B6-E6D47E660EF4}" sibTransId="{E6CB9B66-FEB5-4FE4-B5B0-DA3F7F586358}"/>
    <dgm:cxn modelId="{74848A40-0D8D-4DB7-8678-43B476F230F6}" type="presOf" srcId="{712C6DC4-D9D7-4668-967C-9893BE8E08D8}" destId="{EB0E731D-67AE-4847-A351-79257062B9A5}" srcOrd="0" destOrd="0" presId="urn:microsoft.com/office/officeart/2005/8/layout/hierarchy1"/>
    <dgm:cxn modelId="{229DE464-BCD3-4B7D-AEB7-1A3DBE1972C2}" type="presOf" srcId="{48DD3E24-9E1E-4E89-9248-B61A9C4B2CA1}" destId="{3F5457B3-4459-48B2-B118-95A71B5DFDF4}" srcOrd="0" destOrd="0" presId="urn:microsoft.com/office/officeart/2005/8/layout/hierarchy1"/>
    <dgm:cxn modelId="{547CA789-A551-42B5-ACD8-A937BEC1F01B}" srcId="{A88A7A53-612C-4FF6-9440-CF182116174A}" destId="{EDCB5E43-8625-4FA3-9810-C87F4E1A8ECD}" srcOrd="0" destOrd="0" parTransId="{9B8F47FF-ED11-4C6A-853C-C6CC1EDEAC2C}" sibTransId="{DF7FEF6B-469A-487B-A7C1-E9EFEBB03172}"/>
    <dgm:cxn modelId="{2B3ECB54-95A1-46B5-A75F-8FE7F3ABBBD5}" type="presParOf" srcId="{3F5457B3-4459-48B2-B118-95A71B5DFDF4}" destId="{6AC88669-EF14-4A33-B755-02CD7D62B682}" srcOrd="0" destOrd="0" presId="urn:microsoft.com/office/officeart/2005/8/layout/hierarchy1"/>
    <dgm:cxn modelId="{20760592-9D61-44B4-991A-D724694AC629}" type="presParOf" srcId="{6AC88669-EF14-4A33-B755-02CD7D62B682}" destId="{25E1D30C-15D7-40B3-BF67-64AC57C67FE7}" srcOrd="0" destOrd="0" presId="urn:microsoft.com/office/officeart/2005/8/layout/hierarchy1"/>
    <dgm:cxn modelId="{BCF89E36-13F1-4BFD-A9D0-7AD524403EA6}" type="presParOf" srcId="{25E1D30C-15D7-40B3-BF67-64AC57C67FE7}" destId="{42F6EAB6-3D39-4FA1-8B0F-7D5913C64AAD}" srcOrd="0" destOrd="0" presId="urn:microsoft.com/office/officeart/2005/8/layout/hierarchy1"/>
    <dgm:cxn modelId="{4BD6A222-9957-4E0C-B1BB-26AB8F5C5C7C}" type="presParOf" srcId="{25E1D30C-15D7-40B3-BF67-64AC57C67FE7}" destId="{FDE01890-4959-42EC-BB63-13D76CF0342E}" srcOrd="1" destOrd="0" presId="urn:microsoft.com/office/officeart/2005/8/layout/hierarchy1"/>
    <dgm:cxn modelId="{A2040ED4-C743-49E9-B6C0-BB88F7E4F793}" type="presParOf" srcId="{6AC88669-EF14-4A33-B755-02CD7D62B682}" destId="{145E7B6D-D1E4-4D50-98E7-FA4841BFAF27}" srcOrd="1" destOrd="0" presId="urn:microsoft.com/office/officeart/2005/8/layout/hierarchy1"/>
    <dgm:cxn modelId="{13E14B72-F417-444A-89A8-8610CAB0A45B}" type="presParOf" srcId="{145E7B6D-D1E4-4D50-98E7-FA4841BFAF27}" destId="{4FFD6016-D3A6-4E0E-8F81-09860611C362}" srcOrd="0" destOrd="0" presId="urn:microsoft.com/office/officeart/2005/8/layout/hierarchy1"/>
    <dgm:cxn modelId="{78B268E1-C21A-4935-BC63-1B446963C36C}" type="presParOf" srcId="{145E7B6D-D1E4-4D50-98E7-FA4841BFAF27}" destId="{68B0FD34-A69E-43B5-8CBF-E94D3CF58D5F}" srcOrd="1" destOrd="0" presId="urn:microsoft.com/office/officeart/2005/8/layout/hierarchy1"/>
    <dgm:cxn modelId="{ACFD7E1E-6214-4D91-A3B7-575D7F797B54}" type="presParOf" srcId="{68B0FD34-A69E-43B5-8CBF-E94D3CF58D5F}" destId="{57CCA7E6-5D24-4442-BBCD-825497F2191A}" srcOrd="0" destOrd="0" presId="urn:microsoft.com/office/officeart/2005/8/layout/hierarchy1"/>
    <dgm:cxn modelId="{9DE353F4-4C34-45C8-9EC9-75BDD1F8639D}" type="presParOf" srcId="{57CCA7E6-5D24-4442-BBCD-825497F2191A}" destId="{B6DD4E3F-59CB-44E1-83E9-3F41CC12377E}" srcOrd="0" destOrd="0" presId="urn:microsoft.com/office/officeart/2005/8/layout/hierarchy1"/>
    <dgm:cxn modelId="{1B6B419F-F489-49DF-A40D-D36A4EE6F80E}" type="presParOf" srcId="{57CCA7E6-5D24-4442-BBCD-825497F2191A}" destId="{644244D4-5C68-4D43-8B7A-69127A72B202}" srcOrd="1" destOrd="0" presId="urn:microsoft.com/office/officeart/2005/8/layout/hierarchy1"/>
    <dgm:cxn modelId="{52CCE0B0-8FCD-4ED7-9F00-B4B88F9B5088}" type="presParOf" srcId="{68B0FD34-A69E-43B5-8CBF-E94D3CF58D5F}" destId="{9342D334-09A7-4417-BB40-704D0BEF3D6E}" srcOrd="1" destOrd="0" presId="urn:microsoft.com/office/officeart/2005/8/layout/hierarchy1"/>
    <dgm:cxn modelId="{007BE51C-A919-47E2-A418-0B296FF24304}" type="presParOf" srcId="{9342D334-09A7-4417-BB40-704D0BEF3D6E}" destId="{A702DEC3-9D97-4F6E-A3C0-039DC5D97C2A}" srcOrd="0" destOrd="0" presId="urn:microsoft.com/office/officeart/2005/8/layout/hierarchy1"/>
    <dgm:cxn modelId="{6CD0516E-C924-4CC7-B051-F272942BAD7D}" type="presParOf" srcId="{9342D334-09A7-4417-BB40-704D0BEF3D6E}" destId="{32517673-B02D-47A9-A325-50C34FA445D6}" srcOrd="1" destOrd="0" presId="urn:microsoft.com/office/officeart/2005/8/layout/hierarchy1"/>
    <dgm:cxn modelId="{B7471297-8515-4605-9108-A28C89B8985A}" type="presParOf" srcId="{32517673-B02D-47A9-A325-50C34FA445D6}" destId="{E55D58D6-4BE2-472F-A7B5-11696C4D2ECA}" srcOrd="0" destOrd="0" presId="urn:microsoft.com/office/officeart/2005/8/layout/hierarchy1"/>
    <dgm:cxn modelId="{79A0B9D3-76CD-43F7-A483-E2CE947FB90F}" type="presParOf" srcId="{E55D58D6-4BE2-472F-A7B5-11696C4D2ECA}" destId="{566AEEE3-6DAB-4D46-BB25-6B281D697CD6}" srcOrd="0" destOrd="0" presId="urn:microsoft.com/office/officeart/2005/8/layout/hierarchy1"/>
    <dgm:cxn modelId="{A0A58873-2B67-4A49-A231-42F03912734B}" type="presParOf" srcId="{E55D58D6-4BE2-472F-A7B5-11696C4D2ECA}" destId="{61708498-6D60-43C5-8792-27D3F3DCED17}" srcOrd="1" destOrd="0" presId="urn:microsoft.com/office/officeart/2005/8/layout/hierarchy1"/>
    <dgm:cxn modelId="{F16C33B1-B51F-404B-ACE4-B5A7AAE96860}" type="presParOf" srcId="{32517673-B02D-47A9-A325-50C34FA445D6}" destId="{69A74252-92F3-41F2-91D5-46AF6CB26720}" srcOrd="1" destOrd="0" presId="urn:microsoft.com/office/officeart/2005/8/layout/hierarchy1"/>
    <dgm:cxn modelId="{2BE23B6F-EDBE-467B-AFA2-0E52C9A0D40C}" type="presParOf" srcId="{9342D334-09A7-4417-BB40-704D0BEF3D6E}" destId="{EB0E731D-67AE-4847-A351-79257062B9A5}" srcOrd="2" destOrd="0" presId="urn:microsoft.com/office/officeart/2005/8/layout/hierarchy1"/>
    <dgm:cxn modelId="{91939B29-1EC0-4B0E-91F2-AC8BAAB043CB}" type="presParOf" srcId="{9342D334-09A7-4417-BB40-704D0BEF3D6E}" destId="{4F275F43-61FF-4254-A88C-3FB052186875}" srcOrd="3" destOrd="0" presId="urn:microsoft.com/office/officeart/2005/8/layout/hierarchy1"/>
    <dgm:cxn modelId="{A9DF1306-BB4F-4F4B-BAD2-47E402F69009}" type="presParOf" srcId="{4F275F43-61FF-4254-A88C-3FB052186875}" destId="{8598D673-078E-48F1-8DD1-30A954E51688}" srcOrd="0" destOrd="0" presId="urn:microsoft.com/office/officeart/2005/8/layout/hierarchy1"/>
    <dgm:cxn modelId="{B95A809B-745C-45A5-84FD-E26D19BC9003}" type="presParOf" srcId="{8598D673-078E-48F1-8DD1-30A954E51688}" destId="{C5DE708C-9C63-40D6-A6EC-D7D65A37E549}" srcOrd="0" destOrd="0" presId="urn:microsoft.com/office/officeart/2005/8/layout/hierarchy1"/>
    <dgm:cxn modelId="{07A01760-D0EE-43C6-B36E-1E57CCC26479}" type="presParOf" srcId="{8598D673-078E-48F1-8DD1-30A954E51688}" destId="{0E6E685C-72FC-46F9-8C15-07C313646D0D}" srcOrd="1" destOrd="0" presId="urn:microsoft.com/office/officeart/2005/8/layout/hierarchy1"/>
    <dgm:cxn modelId="{BA77AD14-495C-4BA2-9489-86F303413655}" type="presParOf" srcId="{4F275F43-61FF-4254-A88C-3FB052186875}" destId="{F8BD6BBE-AC5D-489F-B88F-597AC379A0C2}" srcOrd="1" destOrd="0" presId="urn:microsoft.com/office/officeart/2005/8/layout/hierarchy1"/>
    <dgm:cxn modelId="{09C533D2-7B4D-437D-96E2-D7E160A378FD}" type="presParOf" srcId="{145E7B6D-D1E4-4D50-98E7-FA4841BFAF27}" destId="{BC6D21CF-2A07-4766-8362-0222D43EF103}" srcOrd="2" destOrd="0" presId="urn:microsoft.com/office/officeart/2005/8/layout/hierarchy1"/>
    <dgm:cxn modelId="{4B221BED-7154-4AA7-85EF-0FB509A06B51}" type="presParOf" srcId="{145E7B6D-D1E4-4D50-98E7-FA4841BFAF27}" destId="{51A2FCA3-7199-443E-9BB0-FDDA152597EA}" srcOrd="3" destOrd="0" presId="urn:microsoft.com/office/officeart/2005/8/layout/hierarchy1"/>
    <dgm:cxn modelId="{027E32F2-8934-4716-9117-992A6D3E495C}" type="presParOf" srcId="{51A2FCA3-7199-443E-9BB0-FDDA152597EA}" destId="{AB71FA7E-0516-4F08-9473-291CFA2822D7}" srcOrd="0" destOrd="0" presId="urn:microsoft.com/office/officeart/2005/8/layout/hierarchy1"/>
    <dgm:cxn modelId="{48D02B02-281B-4353-8C63-F8C67EC7B48F}" type="presParOf" srcId="{AB71FA7E-0516-4F08-9473-291CFA2822D7}" destId="{C27EF1B9-06B3-4367-AEE7-C70451A096F0}" srcOrd="0" destOrd="0" presId="urn:microsoft.com/office/officeart/2005/8/layout/hierarchy1"/>
    <dgm:cxn modelId="{64033CF6-A4B6-423D-9221-7938C5435D27}" type="presParOf" srcId="{AB71FA7E-0516-4F08-9473-291CFA2822D7}" destId="{7E8365EA-7D63-426D-9487-C52BE389CC02}" srcOrd="1" destOrd="0" presId="urn:microsoft.com/office/officeart/2005/8/layout/hierarchy1"/>
    <dgm:cxn modelId="{E1D4C857-58A8-4492-86CF-238A9AE75B9A}" type="presParOf" srcId="{51A2FCA3-7199-443E-9BB0-FDDA152597EA}" destId="{A1649A07-901C-4C3D-B4B3-2CA9A5AABD89}" srcOrd="1" destOrd="0" presId="urn:microsoft.com/office/officeart/2005/8/layout/hierarchy1"/>
    <dgm:cxn modelId="{632B3D86-FDD8-4A33-AB2A-3359334198B3}" type="presParOf" srcId="{A1649A07-901C-4C3D-B4B3-2CA9A5AABD89}" destId="{96B726A2-0A13-4CE9-8DA0-5A9EB1BEE466}" srcOrd="0" destOrd="0" presId="urn:microsoft.com/office/officeart/2005/8/layout/hierarchy1"/>
    <dgm:cxn modelId="{16B477E3-E499-4168-A1BC-973A9E9E8086}" type="presParOf" srcId="{A1649A07-901C-4C3D-B4B3-2CA9A5AABD89}" destId="{2F245221-9D19-4241-9028-7D528DA448CC}" srcOrd="1" destOrd="0" presId="urn:microsoft.com/office/officeart/2005/8/layout/hierarchy1"/>
    <dgm:cxn modelId="{3E9FDEFD-FE83-4949-B95E-B2AC5B00A98B}" type="presParOf" srcId="{2F245221-9D19-4241-9028-7D528DA448CC}" destId="{4D5AC1D1-C529-4CC0-9051-6EF566588D3D}" srcOrd="0" destOrd="0" presId="urn:microsoft.com/office/officeart/2005/8/layout/hierarchy1"/>
    <dgm:cxn modelId="{9BB1D5CB-B137-4A24-8792-207F68D216D1}" type="presParOf" srcId="{4D5AC1D1-C529-4CC0-9051-6EF566588D3D}" destId="{4D7B9B4E-F66F-4567-B061-FF4A4CB0DF5B}" srcOrd="0" destOrd="0" presId="urn:microsoft.com/office/officeart/2005/8/layout/hierarchy1"/>
    <dgm:cxn modelId="{D8A80716-962A-4FA4-9EEF-C4D8B685ECAF}" type="presParOf" srcId="{4D5AC1D1-C529-4CC0-9051-6EF566588D3D}" destId="{53876EC0-2A27-4EC5-A06A-00D2BEF3ED9A}" srcOrd="1" destOrd="0" presId="urn:microsoft.com/office/officeart/2005/8/layout/hierarchy1"/>
    <dgm:cxn modelId="{E737AC19-57CF-4984-816A-02F6633E0E3B}" type="presParOf" srcId="{2F245221-9D19-4241-9028-7D528DA448CC}" destId="{BDC1DA46-2A24-45DF-9D26-7670EA75AF35}" srcOrd="1" destOrd="0" presId="urn:microsoft.com/office/officeart/2005/8/layout/hierarchy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AFF057-860B-4409-9E49-1E3BBB4C820C}" type="doc">
      <dgm:prSet loTypeId="urn:microsoft.com/office/officeart/2005/8/layout/process4" loCatId="process" qsTypeId="urn:microsoft.com/office/officeart/2005/8/quickstyle/simple3" qsCatId="simple" csTypeId="urn:microsoft.com/office/officeart/2005/8/colors/accent1_5" csCatId="accent1" phldr="1"/>
      <dgm:spPr/>
      <dgm:t>
        <a:bodyPr/>
        <a:lstStyle/>
        <a:p>
          <a:endParaRPr lang="en-US"/>
        </a:p>
      </dgm:t>
    </dgm:pt>
    <dgm:pt modelId="{5E4B2C50-91C4-47A0-B993-BDBC7EEB9F06}">
      <dgm:prSet phldrT="[Text]"/>
      <dgm:spPr/>
      <dgm:t>
        <a:bodyPr/>
        <a:lstStyle/>
        <a:p>
          <a:r>
            <a:rPr lang="en-US" dirty="0" smtClean="0">
              <a:solidFill>
                <a:schemeClr val="tx1"/>
              </a:solidFill>
            </a:rPr>
            <a:t>Earning Per Share</a:t>
          </a:r>
          <a:endParaRPr lang="en-US" dirty="0">
            <a:solidFill>
              <a:schemeClr val="tx1"/>
            </a:solidFill>
          </a:endParaRPr>
        </a:p>
      </dgm:t>
    </dgm:pt>
    <dgm:pt modelId="{FAF675C9-739A-4E3D-A4AF-097657D3AB28}" type="parTrans" cxnId="{FC23631B-4E41-4CE5-AAD8-C2D56E11F624}">
      <dgm:prSet/>
      <dgm:spPr/>
      <dgm:t>
        <a:bodyPr/>
        <a:lstStyle/>
        <a:p>
          <a:endParaRPr lang="en-US"/>
        </a:p>
      </dgm:t>
    </dgm:pt>
    <dgm:pt modelId="{FFAC5961-4F6C-4A7E-A5F7-930AE3DD8B14}" type="sibTrans" cxnId="{FC23631B-4E41-4CE5-AAD8-C2D56E11F624}">
      <dgm:prSet/>
      <dgm:spPr/>
      <dgm:t>
        <a:bodyPr/>
        <a:lstStyle/>
        <a:p>
          <a:endParaRPr lang="en-US"/>
        </a:p>
      </dgm:t>
    </dgm:pt>
    <dgm:pt modelId="{65A2AC33-B7D2-421B-9DD7-2641B42E5936}">
      <dgm:prSet phldrT="[Text]"/>
      <dgm:spPr/>
      <dgm:t>
        <a:bodyPr/>
        <a:lstStyle/>
        <a:p>
          <a:r>
            <a:rPr lang="en-US" dirty="0" smtClean="0">
              <a:solidFill>
                <a:schemeClr val="tx1"/>
              </a:solidFill>
            </a:rPr>
            <a:t>Rs. 21.50</a:t>
          </a:r>
        </a:p>
      </dgm:t>
    </dgm:pt>
    <dgm:pt modelId="{4749D40D-AB9A-470C-9AC0-FD4D2CE7F8C9}" type="parTrans" cxnId="{1C3325D7-033B-436F-8C63-18FCB3023E35}">
      <dgm:prSet/>
      <dgm:spPr/>
      <dgm:t>
        <a:bodyPr/>
        <a:lstStyle/>
        <a:p>
          <a:endParaRPr lang="en-US"/>
        </a:p>
      </dgm:t>
    </dgm:pt>
    <dgm:pt modelId="{B8EED328-D52F-4E00-8E89-94C3B0F65E19}" type="sibTrans" cxnId="{1C3325D7-033B-436F-8C63-18FCB3023E35}">
      <dgm:prSet/>
      <dgm:spPr/>
      <dgm:t>
        <a:bodyPr/>
        <a:lstStyle/>
        <a:p>
          <a:endParaRPr lang="en-US"/>
        </a:p>
      </dgm:t>
    </dgm:pt>
    <dgm:pt modelId="{8F9912D0-0D14-4534-AC59-33F0C55DE2AF}">
      <dgm:prSet phldrT="[Text]"/>
      <dgm:spPr/>
      <dgm:t>
        <a:bodyPr/>
        <a:lstStyle/>
        <a:p>
          <a:r>
            <a:rPr lang="en-US" dirty="0" smtClean="0">
              <a:solidFill>
                <a:schemeClr val="tx1"/>
              </a:solidFill>
            </a:rPr>
            <a:t>Rs. 14.50</a:t>
          </a:r>
          <a:endParaRPr lang="en-US" dirty="0">
            <a:solidFill>
              <a:schemeClr val="tx1"/>
            </a:solidFill>
          </a:endParaRPr>
        </a:p>
      </dgm:t>
    </dgm:pt>
    <dgm:pt modelId="{BD5FA8AB-E336-43E9-A3DB-2A04A1D9074C}" type="parTrans" cxnId="{86B4D308-1D32-4CA8-96E1-E6970B5508F7}">
      <dgm:prSet/>
      <dgm:spPr/>
      <dgm:t>
        <a:bodyPr/>
        <a:lstStyle/>
        <a:p>
          <a:endParaRPr lang="en-US"/>
        </a:p>
      </dgm:t>
    </dgm:pt>
    <dgm:pt modelId="{16F2DADD-E301-41AE-AF73-1A1049805995}" type="sibTrans" cxnId="{86B4D308-1D32-4CA8-96E1-E6970B5508F7}">
      <dgm:prSet/>
      <dgm:spPr/>
      <dgm:t>
        <a:bodyPr/>
        <a:lstStyle/>
        <a:p>
          <a:endParaRPr lang="en-US"/>
        </a:p>
      </dgm:t>
    </dgm:pt>
    <dgm:pt modelId="{9375EC90-F410-4825-9FE4-9972058D74D3}">
      <dgm:prSet phldrT="[Text]"/>
      <dgm:spPr/>
      <dgm:t>
        <a:bodyPr/>
        <a:lstStyle/>
        <a:p>
          <a:r>
            <a:rPr lang="en-US" dirty="0" smtClean="0">
              <a:solidFill>
                <a:schemeClr val="tx1"/>
              </a:solidFill>
            </a:rPr>
            <a:t>Dividend Per Share	</a:t>
          </a:r>
          <a:endParaRPr lang="en-US" dirty="0">
            <a:solidFill>
              <a:schemeClr val="tx1"/>
            </a:solidFill>
          </a:endParaRPr>
        </a:p>
      </dgm:t>
    </dgm:pt>
    <dgm:pt modelId="{6E5AFD1B-68AD-4322-8D60-9F84B63E0F02}" type="parTrans" cxnId="{651A9E4F-8035-4FB4-A5F9-F91D20A46E52}">
      <dgm:prSet/>
      <dgm:spPr/>
      <dgm:t>
        <a:bodyPr/>
        <a:lstStyle/>
        <a:p>
          <a:endParaRPr lang="en-US"/>
        </a:p>
      </dgm:t>
    </dgm:pt>
    <dgm:pt modelId="{412F7C72-D796-4606-B619-614556782EB4}" type="sibTrans" cxnId="{651A9E4F-8035-4FB4-A5F9-F91D20A46E52}">
      <dgm:prSet/>
      <dgm:spPr/>
      <dgm:t>
        <a:bodyPr/>
        <a:lstStyle/>
        <a:p>
          <a:endParaRPr lang="en-US"/>
        </a:p>
      </dgm:t>
    </dgm:pt>
    <dgm:pt modelId="{06D87BDC-7C87-4146-B637-CB605D8EF871}">
      <dgm:prSet phldrT="[Text]"/>
      <dgm:spPr/>
      <dgm:t>
        <a:bodyPr/>
        <a:lstStyle/>
        <a:p>
          <a:r>
            <a:rPr lang="en-US" dirty="0" smtClean="0">
              <a:solidFill>
                <a:schemeClr val="tx1"/>
              </a:solidFill>
            </a:rPr>
            <a:t>Rs. 2.00	</a:t>
          </a:r>
          <a:endParaRPr lang="en-US" dirty="0">
            <a:solidFill>
              <a:schemeClr val="tx1"/>
            </a:solidFill>
          </a:endParaRPr>
        </a:p>
      </dgm:t>
    </dgm:pt>
    <dgm:pt modelId="{03355D79-8E36-4F78-BD0E-F5C1393274DF}" type="parTrans" cxnId="{64DC4CAE-ECC3-4014-AC5C-F228368810A5}">
      <dgm:prSet/>
      <dgm:spPr/>
      <dgm:t>
        <a:bodyPr/>
        <a:lstStyle/>
        <a:p>
          <a:endParaRPr lang="en-US"/>
        </a:p>
      </dgm:t>
    </dgm:pt>
    <dgm:pt modelId="{8AC768CE-9B22-409F-9E6A-F098CAAED0DA}" type="sibTrans" cxnId="{64DC4CAE-ECC3-4014-AC5C-F228368810A5}">
      <dgm:prSet/>
      <dgm:spPr/>
      <dgm:t>
        <a:bodyPr/>
        <a:lstStyle/>
        <a:p>
          <a:endParaRPr lang="en-US"/>
        </a:p>
      </dgm:t>
    </dgm:pt>
    <dgm:pt modelId="{4F33D768-14AC-40B4-825A-F51F0C0F87BB}">
      <dgm:prSet phldrT="[Text]"/>
      <dgm:spPr/>
      <dgm:t>
        <a:bodyPr/>
        <a:lstStyle/>
        <a:p>
          <a:r>
            <a:rPr lang="en-US" dirty="0" smtClean="0">
              <a:solidFill>
                <a:schemeClr val="tx1"/>
              </a:solidFill>
            </a:rPr>
            <a:t>Rs. 1.5</a:t>
          </a:r>
          <a:endParaRPr lang="en-US" dirty="0">
            <a:solidFill>
              <a:schemeClr val="tx1"/>
            </a:solidFill>
          </a:endParaRPr>
        </a:p>
      </dgm:t>
    </dgm:pt>
    <dgm:pt modelId="{9F7C6618-DE49-4630-8130-51F4196BA96C}" type="parTrans" cxnId="{767A34D8-AE2D-492C-A67D-DAAC6E686030}">
      <dgm:prSet/>
      <dgm:spPr/>
      <dgm:t>
        <a:bodyPr/>
        <a:lstStyle/>
        <a:p>
          <a:endParaRPr lang="en-US"/>
        </a:p>
      </dgm:t>
    </dgm:pt>
    <dgm:pt modelId="{745DB4D3-2E39-449B-A43A-5EFA3D98540F}" type="sibTrans" cxnId="{767A34D8-AE2D-492C-A67D-DAAC6E686030}">
      <dgm:prSet/>
      <dgm:spPr/>
      <dgm:t>
        <a:bodyPr/>
        <a:lstStyle/>
        <a:p>
          <a:endParaRPr lang="en-US"/>
        </a:p>
      </dgm:t>
    </dgm:pt>
    <dgm:pt modelId="{9F13D78C-8D12-45B2-A5D5-1CBF45574F26}" type="pres">
      <dgm:prSet presAssocID="{DCAFF057-860B-4409-9E49-1E3BBB4C820C}" presName="Name0" presStyleCnt="0">
        <dgm:presLayoutVars>
          <dgm:dir/>
          <dgm:animLvl val="lvl"/>
          <dgm:resizeHandles val="exact"/>
        </dgm:presLayoutVars>
      </dgm:prSet>
      <dgm:spPr/>
      <dgm:t>
        <a:bodyPr/>
        <a:lstStyle/>
        <a:p>
          <a:endParaRPr lang="en-US"/>
        </a:p>
      </dgm:t>
    </dgm:pt>
    <dgm:pt modelId="{571EEDD6-4FD5-42D5-81AA-6269D4FD8433}" type="pres">
      <dgm:prSet presAssocID="{9375EC90-F410-4825-9FE4-9972058D74D3}" presName="boxAndChildren" presStyleCnt="0"/>
      <dgm:spPr/>
    </dgm:pt>
    <dgm:pt modelId="{5C71AB7F-485E-4CB0-8CA1-962F004998F5}" type="pres">
      <dgm:prSet presAssocID="{9375EC90-F410-4825-9FE4-9972058D74D3}" presName="parentTextBox" presStyleLbl="node1" presStyleIdx="0" presStyleCnt="2"/>
      <dgm:spPr/>
      <dgm:t>
        <a:bodyPr/>
        <a:lstStyle/>
        <a:p>
          <a:endParaRPr lang="en-US"/>
        </a:p>
      </dgm:t>
    </dgm:pt>
    <dgm:pt modelId="{DA15D425-8DAD-425D-A842-7D5B8FDAC4A4}" type="pres">
      <dgm:prSet presAssocID="{9375EC90-F410-4825-9FE4-9972058D74D3}" presName="entireBox" presStyleLbl="node1" presStyleIdx="0" presStyleCnt="2"/>
      <dgm:spPr/>
      <dgm:t>
        <a:bodyPr/>
        <a:lstStyle/>
        <a:p>
          <a:endParaRPr lang="en-US"/>
        </a:p>
      </dgm:t>
    </dgm:pt>
    <dgm:pt modelId="{2DD61FAB-EFF1-4FDC-ADC9-74132285525F}" type="pres">
      <dgm:prSet presAssocID="{9375EC90-F410-4825-9FE4-9972058D74D3}" presName="descendantBox" presStyleCnt="0"/>
      <dgm:spPr/>
    </dgm:pt>
    <dgm:pt modelId="{7E586EA1-DF68-40FB-9EEC-B41BEE2A49BA}" type="pres">
      <dgm:prSet presAssocID="{06D87BDC-7C87-4146-B637-CB605D8EF871}" presName="childTextBox" presStyleLbl="fgAccFollowNode1" presStyleIdx="0" presStyleCnt="4">
        <dgm:presLayoutVars>
          <dgm:bulletEnabled val="1"/>
        </dgm:presLayoutVars>
      </dgm:prSet>
      <dgm:spPr/>
      <dgm:t>
        <a:bodyPr/>
        <a:lstStyle/>
        <a:p>
          <a:endParaRPr lang="en-US"/>
        </a:p>
      </dgm:t>
    </dgm:pt>
    <dgm:pt modelId="{07D7CFCA-EFDB-4763-9E3A-58513C7FB5D7}" type="pres">
      <dgm:prSet presAssocID="{4F33D768-14AC-40B4-825A-F51F0C0F87BB}" presName="childTextBox" presStyleLbl="fgAccFollowNode1" presStyleIdx="1" presStyleCnt="4">
        <dgm:presLayoutVars>
          <dgm:bulletEnabled val="1"/>
        </dgm:presLayoutVars>
      </dgm:prSet>
      <dgm:spPr/>
      <dgm:t>
        <a:bodyPr/>
        <a:lstStyle/>
        <a:p>
          <a:endParaRPr lang="en-US"/>
        </a:p>
      </dgm:t>
    </dgm:pt>
    <dgm:pt modelId="{0EFABAC4-6000-4E8C-B967-DEF751078372}" type="pres">
      <dgm:prSet presAssocID="{FFAC5961-4F6C-4A7E-A5F7-930AE3DD8B14}" presName="sp" presStyleCnt="0"/>
      <dgm:spPr/>
    </dgm:pt>
    <dgm:pt modelId="{9845DC21-3D50-44BD-BAE9-7204384B146D}" type="pres">
      <dgm:prSet presAssocID="{5E4B2C50-91C4-47A0-B993-BDBC7EEB9F06}" presName="arrowAndChildren" presStyleCnt="0"/>
      <dgm:spPr/>
    </dgm:pt>
    <dgm:pt modelId="{439E6EA6-AFFB-4A29-B800-D73FB104DAF1}" type="pres">
      <dgm:prSet presAssocID="{5E4B2C50-91C4-47A0-B993-BDBC7EEB9F06}" presName="parentTextArrow" presStyleLbl="node1" presStyleIdx="0" presStyleCnt="2"/>
      <dgm:spPr/>
      <dgm:t>
        <a:bodyPr/>
        <a:lstStyle/>
        <a:p>
          <a:endParaRPr lang="en-US"/>
        </a:p>
      </dgm:t>
    </dgm:pt>
    <dgm:pt modelId="{B4E54DB7-90EA-4008-83D0-3A9E1828F883}" type="pres">
      <dgm:prSet presAssocID="{5E4B2C50-91C4-47A0-B993-BDBC7EEB9F06}" presName="arrow" presStyleLbl="node1" presStyleIdx="1" presStyleCnt="2"/>
      <dgm:spPr/>
      <dgm:t>
        <a:bodyPr/>
        <a:lstStyle/>
        <a:p>
          <a:endParaRPr lang="en-US"/>
        </a:p>
      </dgm:t>
    </dgm:pt>
    <dgm:pt modelId="{53E4F451-FEE3-4C0B-9CAE-7029B0102E01}" type="pres">
      <dgm:prSet presAssocID="{5E4B2C50-91C4-47A0-B993-BDBC7EEB9F06}" presName="descendantArrow" presStyleCnt="0"/>
      <dgm:spPr/>
    </dgm:pt>
    <dgm:pt modelId="{AB642C6D-C681-46B5-BE2D-3AD67A8C5E19}" type="pres">
      <dgm:prSet presAssocID="{65A2AC33-B7D2-421B-9DD7-2641B42E5936}" presName="childTextArrow" presStyleLbl="fgAccFollowNode1" presStyleIdx="2" presStyleCnt="4">
        <dgm:presLayoutVars>
          <dgm:bulletEnabled val="1"/>
        </dgm:presLayoutVars>
      </dgm:prSet>
      <dgm:spPr/>
      <dgm:t>
        <a:bodyPr/>
        <a:lstStyle/>
        <a:p>
          <a:endParaRPr lang="en-US"/>
        </a:p>
      </dgm:t>
    </dgm:pt>
    <dgm:pt modelId="{D93A1E23-7D6F-4003-ADFB-C2B52C24EA94}" type="pres">
      <dgm:prSet presAssocID="{8F9912D0-0D14-4534-AC59-33F0C55DE2AF}" presName="childTextArrow" presStyleLbl="fgAccFollowNode1" presStyleIdx="3" presStyleCnt="4">
        <dgm:presLayoutVars>
          <dgm:bulletEnabled val="1"/>
        </dgm:presLayoutVars>
      </dgm:prSet>
      <dgm:spPr/>
      <dgm:t>
        <a:bodyPr/>
        <a:lstStyle/>
        <a:p>
          <a:endParaRPr lang="en-US"/>
        </a:p>
      </dgm:t>
    </dgm:pt>
  </dgm:ptLst>
  <dgm:cxnLst>
    <dgm:cxn modelId="{767A34D8-AE2D-492C-A67D-DAAC6E686030}" srcId="{9375EC90-F410-4825-9FE4-9972058D74D3}" destId="{4F33D768-14AC-40B4-825A-F51F0C0F87BB}" srcOrd="1" destOrd="0" parTransId="{9F7C6618-DE49-4630-8130-51F4196BA96C}" sibTransId="{745DB4D3-2E39-449B-A43A-5EFA3D98540F}"/>
    <dgm:cxn modelId="{A6105B9E-0F9C-45F6-9DA7-A30327C8549A}" type="presOf" srcId="{4F33D768-14AC-40B4-825A-F51F0C0F87BB}" destId="{07D7CFCA-EFDB-4763-9E3A-58513C7FB5D7}" srcOrd="0" destOrd="0" presId="urn:microsoft.com/office/officeart/2005/8/layout/process4"/>
    <dgm:cxn modelId="{F5B6360B-7B2F-4ED2-9CFF-235D57F7FBDF}" type="presOf" srcId="{65A2AC33-B7D2-421B-9DD7-2641B42E5936}" destId="{AB642C6D-C681-46B5-BE2D-3AD67A8C5E19}" srcOrd="0" destOrd="0" presId="urn:microsoft.com/office/officeart/2005/8/layout/process4"/>
    <dgm:cxn modelId="{651A9E4F-8035-4FB4-A5F9-F91D20A46E52}" srcId="{DCAFF057-860B-4409-9E49-1E3BBB4C820C}" destId="{9375EC90-F410-4825-9FE4-9972058D74D3}" srcOrd="1" destOrd="0" parTransId="{6E5AFD1B-68AD-4322-8D60-9F84B63E0F02}" sibTransId="{412F7C72-D796-4606-B619-614556782EB4}"/>
    <dgm:cxn modelId="{86B4D308-1D32-4CA8-96E1-E6970B5508F7}" srcId="{5E4B2C50-91C4-47A0-B993-BDBC7EEB9F06}" destId="{8F9912D0-0D14-4534-AC59-33F0C55DE2AF}" srcOrd="1" destOrd="0" parTransId="{BD5FA8AB-E336-43E9-A3DB-2A04A1D9074C}" sibTransId="{16F2DADD-E301-41AE-AF73-1A1049805995}"/>
    <dgm:cxn modelId="{C5761753-EEDD-4CB3-9C2E-B060D0B4B6BB}" type="presOf" srcId="{8F9912D0-0D14-4534-AC59-33F0C55DE2AF}" destId="{D93A1E23-7D6F-4003-ADFB-C2B52C24EA94}" srcOrd="0" destOrd="0" presId="urn:microsoft.com/office/officeart/2005/8/layout/process4"/>
    <dgm:cxn modelId="{64DC4CAE-ECC3-4014-AC5C-F228368810A5}" srcId="{9375EC90-F410-4825-9FE4-9972058D74D3}" destId="{06D87BDC-7C87-4146-B637-CB605D8EF871}" srcOrd="0" destOrd="0" parTransId="{03355D79-8E36-4F78-BD0E-F5C1393274DF}" sibTransId="{8AC768CE-9B22-409F-9E6A-F098CAAED0DA}"/>
    <dgm:cxn modelId="{FC23631B-4E41-4CE5-AAD8-C2D56E11F624}" srcId="{DCAFF057-860B-4409-9E49-1E3BBB4C820C}" destId="{5E4B2C50-91C4-47A0-B993-BDBC7EEB9F06}" srcOrd="0" destOrd="0" parTransId="{FAF675C9-739A-4E3D-A4AF-097657D3AB28}" sibTransId="{FFAC5961-4F6C-4A7E-A5F7-930AE3DD8B14}"/>
    <dgm:cxn modelId="{B324E3B1-570E-43E6-AF61-04BE8C273274}" type="presOf" srcId="{9375EC90-F410-4825-9FE4-9972058D74D3}" destId="{5C71AB7F-485E-4CB0-8CA1-962F004998F5}" srcOrd="0" destOrd="0" presId="urn:microsoft.com/office/officeart/2005/8/layout/process4"/>
    <dgm:cxn modelId="{DB6B0199-5A3F-49DC-8926-9E4C8A87A440}" type="presOf" srcId="{06D87BDC-7C87-4146-B637-CB605D8EF871}" destId="{7E586EA1-DF68-40FB-9EEC-B41BEE2A49BA}" srcOrd="0" destOrd="0" presId="urn:microsoft.com/office/officeart/2005/8/layout/process4"/>
    <dgm:cxn modelId="{B9BBC3A4-66B9-4ED7-93B1-357D4F95CE04}" type="presOf" srcId="{5E4B2C50-91C4-47A0-B993-BDBC7EEB9F06}" destId="{B4E54DB7-90EA-4008-83D0-3A9E1828F883}" srcOrd="1" destOrd="0" presId="urn:microsoft.com/office/officeart/2005/8/layout/process4"/>
    <dgm:cxn modelId="{DB5873F2-F90A-423D-B453-D5CA4F26792A}" type="presOf" srcId="{9375EC90-F410-4825-9FE4-9972058D74D3}" destId="{DA15D425-8DAD-425D-A842-7D5B8FDAC4A4}" srcOrd="1" destOrd="0" presId="urn:microsoft.com/office/officeart/2005/8/layout/process4"/>
    <dgm:cxn modelId="{015417DF-2201-4A66-8F85-77F1A2D58CC3}" type="presOf" srcId="{DCAFF057-860B-4409-9E49-1E3BBB4C820C}" destId="{9F13D78C-8D12-45B2-A5D5-1CBF45574F26}" srcOrd="0" destOrd="0" presId="urn:microsoft.com/office/officeart/2005/8/layout/process4"/>
    <dgm:cxn modelId="{1C3325D7-033B-436F-8C63-18FCB3023E35}" srcId="{5E4B2C50-91C4-47A0-B993-BDBC7EEB9F06}" destId="{65A2AC33-B7D2-421B-9DD7-2641B42E5936}" srcOrd="0" destOrd="0" parTransId="{4749D40D-AB9A-470C-9AC0-FD4D2CE7F8C9}" sibTransId="{B8EED328-D52F-4E00-8E89-94C3B0F65E19}"/>
    <dgm:cxn modelId="{332B8B7C-BF6F-481A-ABA9-FC43C6CABDF8}" type="presOf" srcId="{5E4B2C50-91C4-47A0-B993-BDBC7EEB9F06}" destId="{439E6EA6-AFFB-4A29-B800-D73FB104DAF1}" srcOrd="0" destOrd="0" presId="urn:microsoft.com/office/officeart/2005/8/layout/process4"/>
    <dgm:cxn modelId="{540467D6-048A-4554-A86A-E63F35939D40}" type="presParOf" srcId="{9F13D78C-8D12-45B2-A5D5-1CBF45574F26}" destId="{571EEDD6-4FD5-42D5-81AA-6269D4FD8433}" srcOrd="0" destOrd="0" presId="urn:microsoft.com/office/officeart/2005/8/layout/process4"/>
    <dgm:cxn modelId="{563CA3D5-EFA8-42A6-ACF7-BC06C56154EC}" type="presParOf" srcId="{571EEDD6-4FD5-42D5-81AA-6269D4FD8433}" destId="{5C71AB7F-485E-4CB0-8CA1-962F004998F5}" srcOrd="0" destOrd="0" presId="urn:microsoft.com/office/officeart/2005/8/layout/process4"/>
    <dgm:cxn modelId="{CCF45210-A9BE-4982-A5E7-1F41CAC7D59B}" type="presParOf" srcId="{571EEDD6-4FD5-42D5-81AA-6269D4FD8433}" destId="{DA15D425-8DAD-425D-A842-7D5B8FDAC4A4}" srcOrd="1" destOrd="0" presId="urn:microsoft.com/office/officeart/2005/8/layout/process4"/>
    <dgm:cxn modelId="{E61D555C-7853-47C6-996D-F70308378993}" type="presParOf" srcId="{571EEDD6-4FD5-42D5-81AA-6269D4FD8433}" destId="{2DD61FAB-EFF1-4FDC-ADC9-74132285525F}" srcOrd="2" destOrd="0" presId="urn:microsoft.com/office/officeart/2005/8/layout/process4"/>
    <dgm:cxn modelId="{8AD4E6BB-1B78-4277-9D64-4FD44996ABD3}" type="presParOf" srcId="{2DD61FAB-EFF1-4FDC-ADC9-74132285525F}" destId="{7E586EA1-DF68-40FB-9EEC-B41BEE2A49BA}" srcOrd="0" destOrd="0" presId="urn:microsoft.com/office/officeart/2005/8/layout/process4"/>
    <dgm:cxn modelId="{94C9565E-D7AA-4A7D-A6A6-B71DD8344569}" type="presParOf" srcId="{2DD61FAB-EFF1-4FDC-ADC9-74132285525F}" destId="{07D7CFCA-EFDB-4763-9E3A-58513C7FB5D7}" srcOrd="1" destOrd="0" presId="urn:microsoft.com/office/officeart/2005/8/layout/process4"/>
    <dgm:cxn modelId="{DB6FE89C-A9B4-4FE2-9AE1-318342C9B7D3}" type="presParOf" srcId="{9F13D78C-8D12-45B2-A5D5-1CBF45574F26}" destId="{0EFABAC4-6000-4E8C-B967-DEF751078372}" srcOrd="1" destOrd="0" presId="urn:microsoft.com/office/officeart/2005/8/layout/process4"/>
    <dgm:cxn modelId="{D981E987-B523-4D48-9DB2-27A7D5F8229A}" type="presParOf" srcId="{9F13D78C-8D12-45B2-A5D5-1CBF45574F26}" destId="{9845DC21-3D50-44BD-BAE9-7204384B146D}" srcOrd="2" destOrd="0" presId="urn:microsoft.com/office/officeart/2005/8/layout/process4"/>
    <dgm:cxn modelId="{2A0E0AD3-1202-4271-A943-C2CB0E0276BF}" type="presParOf" srcId="{9845DC21-3D50-44BD-BAE9-7204384B146D}" destId="{439E6EA6-AFFB-4A29-B800-D73FB104DAF1}" srcOrd="0" destOrd="0" presId="urn:microsoft.com/office/officeart/2005/8/layout/process4"/>
    <dgm:cxn modelId="{52BB452D-D6E0-4276-8EC0-75772372A06B}" type="presParOf" srcId="{9845DC21-3D50-44BD-BAE9-7204384B146D}" destId="{B4E54DB7-90EA-4008-83D0-3A9E1828F883}" srcOrd="1" destOrd="0" presId="urn:microsoft.com/office/officeart/2005/8/layout/process4"/>
    <dgm:cxn modelId="{0209E9E9-D0CF-4E5C-9B3B-CC07418120B9}" type="presParOf" srcId="{9845DC21-3D50-44BD-BAE9-7204384B146D}" destId="{53E4F451-FEE3-4C0B-9CAE-7029B0102E01}" srcOrd="2" destOrd="0" presId="urn:microsoft.com/office/officeart/2005/8/layout/process4"/>
    <dgm:cxn modelId="{875CF819-250F-4F7B-8CA9-6E74375C901C}" type="presParOf" srcId="{53E4F451-FEE3-4C0B-9CAE-7029B0102E01}" destId="{AB642C6D-C681-46B5-BE2D-3AD67A8C5E19}" srcOrd="0" destOrd="0" presId="urn:microsoft.com/office/officeart/2005/8/layout/process4"/>
    <dgm:cxn modelId="{849BED64-8595-4862-9C38-0A6A69848A92}" type="presParOf" srcId="{53E4F451-FEE3-4C0B-9CAE-7029B0102E01}" destId="{D93A1E23-7D6F-4003-ADFB-C2B52C24EA94}"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4/14/2017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4"/>
          <p:cNvSpPr>
            <a:spLocks noGrp="1" noChangeArrowheads="1"/>
          </p:cNvSpPr>
          <p:nvPr>
            <p:ph type="ftr" idx="11"/>
          </p:nvPr>
        </p:nvSpPr>
        <p:spPr>
          <a:ln/>
        </p:spPr>
        <p:txBody>
          <a:bodyPr/>
          <a:lstStyle>
            <a:lvl1pPr>
              <a:defRPr/>
            </a:lvl1pPr>
          </a:lstStyle>
          <a:p>
            <a:pPr>
              <a:defRPr/>
            </a:pPr>
            <a:endParaRPr lang="en-US"/>
          </a:p>
        </p:txBody>
      </p:sp>
      <p:sp>
        <p:nvSpPr>
          <p:cNvPr id="4" name="Rectangle 5"/>
          <p:cNvSpPr>
            <a:spLocks noGrp="1" noChangeArrowheads="1"/>
          </p:cNvSpPr>
          <p:nvPr>
            <p:ph type="sldNum" idx="12"/>
          </p:nvPr>
        </p:nvSpPr>
        <p:spPr>
          <a:ln/>
        </p:spPr>
        <p:txBody>
          <a:bodyPr/>
          <a:lstStyle>
            <a:lvl1pPr>
              <a:defRPr/>
            </a:lvl1pPr>
          </a:lstStyle>
          <a:p>
            <a:pPr>
              <a:defRPr/>
            </a:pPr>
            <a:fld id="{1D24FD47-8FFB-463A-8E11-73BC8FA658D4}" type="slidenum">
              <a:rPr lang="en-US"/>
              <a:pPr>
                <a:defRPr/>
              </a:pPr>
              <a:t>‹#›</a:t>
            </a:fld>
            <a:endParaRPr lang="en-US"/>
          </a:p>
        </p:txBody>
      </p:sp>
    </p:spTree>
    <p:extLst>
      <p:ext uri="{BB962C8B-B14F-4D97-AF65-F5344CB8AC3E}">
        <p14:creationId xmlns:p14="http://schemas.microsoft.com/office/powerpoint/2010/main" val="12922782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4"/>
          <p:cNvSpPr>
            <a:spLocks noGrp="1" noChangeArrowheads="1"/>
          </p:cNvSpPr>
          <p:nvPr>
            <p:ph type="ftr" idx="11"/>
          </p:nvPr>
        </p:nvSpPr>
        <p:spPr>
          <a:ln/>
        </p:spPr>
        <p:txBody>
          <a:bodyPr/>
          <a:lstStyle>
            <a:lvl1pPr>
              <a:defRPr/>
            </a:lvl1pPr>
          </a:lstStyle>
          <a:p>
            <a:pPr>
              <a:defRPr/>
            </a:pPr>
            <a:endParaRPr lang="en-US"/>
          </a:p>
        </p:txBody>
      </p:sp>
      <p:sp>
        <p:nvSpPr>
          <p:cNvPr id="4" name="Rectangle 5"/>
          <p:cNvSpPr>
            <a:spLocks noGrp="1" noChangeArrowheads="1"/>
          </p:cNvSpPr>
          <p:nvPr>
            <p:ph type="sldNum" idx="12"/>
          </p:nvPr>
        </p:nvSpPr>
        <p:spPr>
          <a:ln/>
        </p:spPr>
        <p:txBody>
          <a:bodyPr/>
          <a:lstStyle>
            <a:lvl1pPr>
              <a:defRPr/>
            </a:lvl1pPr>
          </a:lstStyle>
          <a:p>
            <a:pPr>
              <a:defRPr/>
            </a:pPr>
            <a:fld id="{1D24FD47-8FFB-463A-8E11-73BC8FA658D4}" type="slidenum">
              <a:rPr lang="en-US"/>
              <a:pPr>
                <a:defRPr/>
              </a:pPr>
              <a:t>‹#›</a:t>
            </a:fld>
            <a:endParaRPr lang="en-US"/>
          </a:p>
        </p:txBody>
      </p:sp>
    </p:spTree>
    <p:extLst>
      <p:ext uri="{BB962C8B-B14F-4D97-AF65-F5344CB8AC3E}">
        <p14:creationId xmlns:p14="http://schemas.microsoft.com/office/powerpoint/2010/main" val="20064151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4"/>
          <p:cNvSpPr>
            <a:spLocks noGrp="1" noChangeArrowheads="1"/>
          </p:cNvSpPr>
          <p:nvPr>
            <p:ph type="ftr" idx="11"/>
          </p:nvPr>
        </p:nvSpPr>
        <p:spPr>
          <a:ln/>
        </p:spPr>
        <p:txBody>
          <a:bodyPr/>
          <a:lstStyle>
            <a:lvl1pPr>
              <a:defRPr/>
            </a:lvl1pPr>
          </a:lstStyle>
          <a:p>
            <a:pPr>
              <a:defRPr/>
            </a:pPr>
            <a:endParaRPr lang="en-US"/>
          </a:p>
        </p:txBody>
      </p:sp>
      <p:sp>
        <p:nvSpPr>
          <p:cNvPr id="4" name="Rectangle 5"/>
          <p:cNvSpPr>
            <a:spLocks noGrp="1" noChangeArrowheads="1"/>
          </p:cNvSpPr>
          <p:nvPr>
            <p:ph type="sldNum" idx="12"/>
          </p:nvPr>
        </p:nvSpPr>
        <p:spPr>
          <a:ln/>
        </p:spPr>
        <p:txBody>
          <a:bodyPr/>
          <a:lstStyle>
            <a:lvl1pPr>
              <a:defRPr/>
            </a:lvl1pPr>
          </a:lstStyle>
          <a:p>
            <a:pPr>
              <a:defRPr/>
            </a:pPr>
            <a:fld id="{1D24FD47-8FFB-463A-8E11-73BC8FA658D4}" type="slidenum">
              <a:rPr lang="en-US"/>
              <a:pPr>
                <a:defRPr/>
              </a:pPr>
              <a:t>‹#›</a:t>
            </a:fld>
            <a:endParaRPr lang="en-US"/>
          </a:p>
        </p:txBody>
      </p:sp>
    </p:spTree>
    <p:extLst>
      <p:ext uri="{BB962C8B-B14F-4D97-AF65-F5344CB8AC3E}">
        <p14:creationId xmlns:p14="http://schemas.microsoft.com/office/powerpoint/2010/main" val="1179149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3"/>
          <p:cNvSpPr>
            <a:spLocks noGrp="1" noChangeArrowheads="1"/>
          </p:cNvSpPr>
          <p:nvPr>
            <p:ph type="dt" idx="10"/>
          </p:nvPr>
        </p:nvSpPr>
        <p:spPr>
          <a:ln/>
        </p:spPr>
        <p:txBody>
          <a:bodyPr/>
          <a:lstStyle>
            <a:lvl1pPr>
              <a:defRPr/>
            </a:lvl1pPr>
          </a:lstStyle>
          <a:p>
            <a:pPr>
              <a:defRPr/>
            </a:pPr>
            <a:endParaRPr lang="en-US"/>
          </a:p>
        </p:txBody>
      </p:sp>
      <p:sp>
        <p:nvSpPr>
          <p:cNvPr id="3" name="Rectangle 4"/>
          <p:cNvSpPr>
            <a:spLocks noGrp="1" noChangeArrowheads="1"/>
          </p:cNvSpPr>
          <p:nvPr>
            <p:ph type="ftr" idx="11"/>
          </p:nvPr>
        </p:nvSpPr>
        <p:spPr>
          <a:ln/>
        </p:spPr>
        <p:txBody>
          <a:bodyPr/>
          <a:lstStyle>
            <a:lvl1pPr>
              <a:defRPr/>
            </a:lvl1pPr>
          </a:lstStyle>
          <a:p>
            <a:pPr>
              <a:defRPr/>
            </a:pPr>
            <a:endParaRPr lang="en-US"/>
          </a:p>
        </p:txBody>
      </p:sp>
      <p:sp>
        <p:nvSpPr>
          <p:cNvPr id="4" name="Rectangle 5"/>
          <p:cNvSpPr>
            <a:spLocks noGrp="1" noChangeArrowheads="1"/>
          </p:cNvSpPr>
          <p:nvPr>
            <p:ph type="sldNum" idx="12"/>
          </p:nvPr>
        </p:nvSpPr>
        <p:spPr>
          <a:ln/>
        </p:spPr>
        <p:txBody>
          <a:bodyPr/>
          <a:lstStyle>
            <a:lvl1pPr>
              <a:defRPr/>
            </a:lvl1pPr>
          </a:lstStyle>
          <a:p>
            <a:pPr>
              <a:defRPr/>
            </a:pPr>
            <a:fld id="{1D24FD47-8FFB-463A-8E11-73BC8FA658D4}" type="slidenum">
              <a:rPr lang="en-US"/>
              <a:pPr>
                <a:defRPr/>
              </a:pPr>
              <a:t>‹#›</a:t>
            </a:fld>
            <a:endParaRPr lang="en-US"/>
          </a:p>
        </p:txBody>
      </p:sp>
    </p:spTree>
    <p:extLst>
      <p:ext uri="{BB962C8B-B14F-4D97-AF65-F5344CB8AC3E}">
        <p14:creationId xmlns:p14="http://schemas.microsoft.com/office/powerpoint/2010/main" val="6977682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1CB2291-79CB-4872-A4BC-A597123F08DE}"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8728249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D1C2669-5E10-417D-B81D-14839FB9051E}"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129329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4AEFD3E-F47E-4D85-A70B-3D1230E4E6FC}"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18032746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7600" y="1600201"/>
            <a:ext cx="53848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313D42-25BD-4B8F-81A0-34DD6BDE1387}"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729367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6B7ED26-0C92-43AE-9EC9-59E9FCFF7ECE}"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10058479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9DD2872-1C5B-40E7-8934-66E4DBB393D8}"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947231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9934D51-591A-4195-A277-5597A43C3EBF}"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115608018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E2053AF-43C7-4CCD-B3B6-8FF81944CCE2}"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3354652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6DD62CC-BFA5-44E6-B3D3-655148B4CA39}"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27341769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EB40C32-E090-44F4-B286-7AB5CE7921C4}"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40708839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C143A67-F009-48FD-AA26-E17C5891FBF5}"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2755617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4.jpe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6.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4/14/2017</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8641" y="273629"/>
            <a:ext cx="10968959" cy="114348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7" name="Rectangle 2"/>
          <p:cNvSpPr>
            <a:spLocks noGrp="1" noChangeArrowheads="1"/>
          </p:cNvSpPr>
          <p:nvPr>
            <p:ph type="body" idx="1"/>
          </p:nvPr>
        </p:nvSpPr>
        <p:spPr bwMode="auto">
          <a:xfrm>
            <a:off x="608641" y="1604329"/>
            <a:ext cx="10968959" cy="4524955"/>
          </a:xfrm>
          <a:prstGeom prst="rect">
            <a:avLst/>
          </a:prstGeom>
          <a:noFill/>
          <a:ln w="9525">
            <a:noFill/>
            <a:round/>
            <a:headEnd/>
            <a:tailEnd/>
          </a:ln>
        </p:spPr>
        <p:txBody>
          <a:bodyPr vert="horz" wrap="square" lIns="0" tIns="28224"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2" name="Rectangle 3"/>
          <p:cNvSpPr>
            <a:spLocks noGrp="1" noChangeArrowheads="1"/>
          </p:cNvSpPr>
          <p:nvPr>
            <p:ph type="dt"/>
          </p:nvPr>
        </p:nvSpPr>
        <p:spPr bwMode="auto">
          <a:xfrm>
            <a:off x="60864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buFont typeface="Times New Roman" pitchFamily="16" charset="0"/>
              <a:buNone/>
              <a:tabLst>
                <a:tab pos="656722" algn="l"/>
                <a:tab pos="1313444" algn="l"/>
                <a:tab pos="1970166"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8" name="Rectangle 4"/>
          <p:cNvSpPr>
            <a:spLocks noGrp="1" noChangeArrowheads="1"/>
          </p:cNvSpPr>
          <p:nvPr>
            <p:ph type="ftr"/>
          </p:nvPr>
        </p:nvSpPr>
        <p:spPr bwMode="auto">
          <a:xfrm>
            <a:off x="4170240" y="6247376"/>
            <a:ext cx="386304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buFont typeface="Times New Roman" pitchFamily="16" charset="0"/>
              <a:buNone/>
              <a:tabLst>
                <a:tab pos="656722" algn="l"/>
                <a:tab pos="1313444" algn="l"/>
                <a:tab pos="1970166" algn="l"/>
                <a:tab pos="2626888"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9" name="Rectangle 5"/>
          <p:cNvSpPr>
            <a:spLocks noGrp="1" noChangeArrowheads="1"/>
          </p:cNvSpPr>
          <p:nvPr>
            <p:ph type="sldNum"/>
          </p:nvPr>
        </p:nvSpPr>
        <p:spPr bwMode="auto">
          <a:xfrm>
            <a:off x="874176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defRPr sz="1270" smtClean="0">
                <a:solidFill>
                  <a:srgbClr val="000000"/>
                </a:solidFill>
                <a:latin typeface="Times New Roman" pitchFamily="-105" charset="0"/>
                <a:cs typeface="Arial Unicode MS" pitchFamily="-105" charset="0"/>
              </a:defRPr>
            </a:lvl1pPr>
          </a:lstStyle>
          <a:p>
            <a:pPr fontAlgn="base" hangingPunct="0">
              <a:lnSpc>
                <a:spcPct val="93000"/>
              </a:lnSpc>
              <a:spcBef>
                <a:spcPct val="0"/>
              </a:spcBef>
              <a:spcAft>
                <a:spcPct val="0"/>
              </a:spcAft>
              <a:buClr>
                <a:srgbClr val="000000"/>
              </a:buClr>
              <a:buSzPct val="100000"/>
              <a:buFont typeface="Times New Roman" pitchFamily="-105" charset="0"/>
              <a:buNone/>
              <a:defRPr/>
            </a:pPr>
            <a:fld id="{DD85721C-E124-425D-9811-A8E0FC6EF4A8}" type="slidenum">
              <a:rPr lang="en-US"/>
              <a:pPr fontAlgn="base" hangingPunct="0">
                <a:lnSpc>
                  <a:spcPct val="93000"/>
                </a:lnSpc>
                <a:spcBef>
                  <a:spcPct val="0"/>
                </a:spcBef>
                <a:spcAft>
                  <a:spcPct val="0"/>
                </a:spcAft>
                <a:buClr>
                  <a:srgbClr val="000000"/>
                </a:buClr>
                <a:buSzPct val="100000"/>
                <a:buFont typeface="Times New Roman" pitchFamily="-105" charset="0"/>
                <a:buNone/>
                <a:defRPr/>
              </a:pPr>
              <a:t>‹#›</a:t>
            </a:fld>
            <a:endParaRPr lang="en-US"/>
          </a:p>
        </p:txBody>
      </p:sp>
    </p:spTree>
    <p:extLst>
      <p:ext uri="{BB962C8B-B14F-4D97-AF65-F5344CB8AC3E}">
        <p14:creationId xmlns:p14="http://schemas.microsoft.com/office/powerpoint/2010/main" val="1642170607"/>
      </p:ext>
    </p:extLst>
  </p:cSld>
  <p:clrMap bg1="lt1" tx1="dk1" bg2="lt2" tx2="dk2" accent1="accent1" accent2="accent2" accent3="accent3" accent4="accent4" accent5="accent5" accent6="accent6" hlink="hlink" folHlink="folHlink"/>
  <p:sldLayoutIdLst>
    <p:sldLayoutId id="2147483670" r:id="rId1"/>
  </p:sldLayoutIdLst>
  <p:txStyles>
    <p:titleStyle>
      <a:lvl1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mj-lt"/>
          <a:ea typeface="+mj-ea"/>
          <a:cs typeface="+mj-cs"/>
        </a:defRPr>
      </a:lvl1pPr>
      <a:lvl2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2pPr>
      <a:lvl3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3pPr>
      <a:lvl4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4pPr>
      <a:lvl5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5pPr>
      <a:lvl6pPr marL="2281245"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6pPr>
      <a:lvl7pPr marL="2696017"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7pPr>
      <a:lvl8pPr marL="3110789"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8pPr>
      <a:lvl9pPr marL="3525561"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9pPr>
    </p:titleStyle>
    <p:bodyStyle>
      <a:lvl1pPr marL="311079" indent="-311079" algn="l" defTabSz="414772" rtl="0" eaLnBrk="1" fontAlgn="base" hangingPunct="1">
        <a:lnSpc>
          <a:spcPct val="93000"/>
        </a:lnSpc>
        <a:spcBef>
          <a:spcPct val="0"/>
        </a:spcBef>
        <a:spcAft>
          <a:spcPts val="1293"/>
        </a:spcAft>
        <a:buClr>
          <a:srgbClr val="000000"/>
        </a:buClr>
        <a:buSzPct val="100000"/>
        <a:buFont typeface="Times New Roman" pitchFamily="-105" charset="0"/>
        <a:buChar char="•"/>
        <a:defRPr sz="2903">
          <a:solidFill>
            <a:srgbClr val="000000"/>
          </a:solidFill>
          <a:latin typeface="+mn-lt"/>
          <a:ea typeface="+mn-ea"/>
          <a:cs typeface="+mn-cs"/>
        </a:defRPr>
      </a:lvl1pPr>
      <a:lvl2pPr marL="674004" indent="-259232" algn="l" defTabSz="414772" rtl="0" eaLnBrk="1" fontAlgn="base" hangingPunct="1">
        <a:lnSpc>
          <a:spcPct val="93000"/>
        </a:lnSpc>
        <a:spcBef>
          <a:spcPct val="0"/>
        </a:spcBef>
        <a:spcAft>
          <a:spcPts val="1032"/>
        </a:spcAft>
        <a:buClr>
          <a:srgbClr val="000000"/>
        </a:buClr>
        <a:buSzPct val="100000"/>
        <a:buFont typeface="Times New Roman" pitchFamily="-105" charset="0"/>
        <a:buChar char="–"/>
        <a:defRPr sz="2540">
          <a:solidFill>
            <a:srgbClr val="000000"/>
          </a:solidFill>
          <a:latin typeface="+mn-lt"/>
          <a:ea typeface="+mn-ea"/>
          <a:cs typeface="+mn-cs"/>
        </a:defRPr>
      </a:lvl2pPr>
      <a:lvl3pPr marL="1036930" indent="-207386" algn="l" defTabSz="414772" rtl="0" eaLnBrk="1" fontAlgn="base" hangingPunct="1">
        <a:lnSpc>
          <a:spcPct val="93000"/>
        </a:lnSpc>
        <a:spcBef>
          <a:spcPct val="0"/>
        </a:spcBef>
        <a:spcAft>
          <a:spcPts val="771"/>
        </a:spcAft>
        <a:buClr>
          <a:srgbClr val="000000"/>
        </a:buClr>
        <a:buSzPct val="100000"/>
        <a:buFont typeface="Times New Roman" pitchFamily="-105" charset="0"/>
        <a:buChar char="•"/>
        <a:defRPr sz="2177">
          <a:solidFill>
            <a:srgbClr val="000000"/>
          </a:solidFill>
          <a:latin typeface="+mn-lt"/>
          <a:ea typeface="+mn-ea"/>
          <a:cs typeface="+mn-cs"/>
        </a:defRPr>
      </a:lvl3pPr>
      <a:lvl4pPr marL="1451701" indent="-207386" algn="l" defTabSz="414772" rtl="0" eaLnBrk="1" fontAlgn="base" hangingPunct="1">
        <a:lnSpc>
          <a:spcPct val="93000"/>
        </a:lnSpc>
        <a:spcBef>
          <a:spcPct val="0"/>
        </a:spcBef>
        <a:spcAft>
          <a:spcPts val="522"/>
        </a:spcAft>
        <a:buClr>
          <a:srgbClr val="000000"/>
        </a:buClr>
        <a:buSzPct val="100000"/>
        <a:buFont typeface="Times New Roman" pitchFamily="-105" charset="0"/>
        <a:buChar char="–"/>
        <a:defRPr sz="1814">
          <a:solidFill>
            <a:srgbClr val="000000"/>
          </a:solidFill>
          <a:latin typeface="+mn-lt"/>
          <a:ea typeface="+mn-ea"/>
          <a:cs typeface="+mn-cs"/>
        </a:defRPr>
      </a:lvl4pPr>
      <a:lvl5pPr marL="1866473" indent="-207386" algn="l" defTabSz="414772" rtl="0" eaLnBrk="1" fontAlgn="base" hangingPunct="1">
        <a:lnSpc>
          <a:spcPct val="93000"/>
        </a:lnSpc>
        <a:spcBef>
          <a:spcPct val="0"/>
        </a:spcBef>
        <a:spcAft>
          <a:spcPts val="261"/>
        </a:spcAft>
        <a:buClr>
          <a:srgbClr val="000000"/>
        </a:buClr>
        <a:buSzPct val="100000"/>
        <a:buFont typeface="Times New Roman" pitchFamily="-105" charset="0"/>
        <a:buChar char="»"/>
        <a:defRPr sz="1814">
          <a:solidFill>
            <a:srgbClr val="000000"/>
          </a:solidFill>
          <a:latin typeface="+mn-lt"/>
          <a:ea typeface="+mn-ea"/>
          <a:cs typeface="+mn-cs"/>
        </a:defRPr>
      </a:lvl5pPr>
      <a:lvl6pPr marL="2281245"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6pPr>
      <a:lvl7pPr marL="2696017"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7pPr>
      <a:lvl8pPr marL="3110789"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8pPr>
      <a:lvl9pPr marL="3525561"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9pPr>
    </p:bodyStyle>
    <p:otherStyle>
      <a:defPPr>
        <a:defRPr lang="en-US"/>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8641" y="273629"/>
            <a:ext cx="10968959" cy="114348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7" name="Rectangle 2"/>
          <p:cNvSpPr>
            <a:spLocks noGrp="1" noChangeArrowheads="1"/>
          </p:cNvSpPr>
          <p:nvPr>
            <p:ph type="body" idx="1"/>
          </p:nvPr>
        </p:nvSpPr>
        <p:spPr bwMode="auto">
          <a:xfrm>
            <a:off x="608641" y="1604329"/>
            <a:ext cx="10968959" cy="4524955"/>
          </a:xfrm>
          <a:prstGeom prst="rect">
            <a:avLst/>
          </a:prstGeom>
          <a:noFill/>
          <a:ln w="9525">
            <a:noFill/>
            <a:round/>
            <a:headEnd/>
            <a:tailEnd/>
          </a:ln>
        </p:spPr>
        <p:txBody>
          <a:bodyPr vert="horz" wrap="square" lIns="0" tIns="28224"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2" name="Rectangle 3"/>
          <p:cNvSpPr>
            <a:spLocks noGrp="1" noChangeArrowheads="1"/>
          </p:cNvSpPr>
          <p:nvPr>
            <p:ph type="dt"/>
          </p:nvPr>
        </p:nvSpPr>
        <p:spPr bwMode="auto">
          <a:xfrm>
            <a:off x="60864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buFont typeface="Times New Roman" pitchFamily="16" charset="0"/>
              <a:buNone/>
              <a:tabLst>
                <a:tab pos="656722" algn="l"/>
                <a:tab pos="1313444" algn="l"/>
                <a:tab pos="1970166"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8" name="Rectangle 4"/>
          <p:cNvSpPr>
            <a:spLocks noGrp="1" noChangeArrowheads="1"/>
          </p:cNvSpPr>
          <p:nvPr>
            <p:ph type="ftr"/>
          </p:nvPr>
        </p:nvSpPr>
        <p:spPr bwMode="auto">
          <a:xfrm>
            <a:off x="4170240" y="6247376"/>
            <a:ext cx="386304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buFont typeface="Times New Roman" pitchFamily="16" charset="0"/>
              <a:buNone/>
              <a:tabLst>
                <a:tab pos="656722" algn="l"/>
                <a:tab pos="1313444" algn="l"/>
                <a:tab pos="1970166" algn="l"/>
                <a:tab pos="2626888"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9" name="Rectangle 5"/>
          <p:cNvSpPr>
            <a:spLocks noGrp="1" noChangeArrowheads="1"/>
          </p:cNvSpPr>
          <p:nvPr>
            <p:ph type="sldNum"/>
          </p:nvPr>
        </p:nvSpPr>
        <p:spPr bwMode="auto">
          <a:xfrm>
            <a:off x="874176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defRPr sz="1270" smtClean="0">
                <a:solidFill>
                  <a:srgbClr val="000000"/>
                </a:solidFill>
                <a:latin typeface="Times New Roman" pitchFamily="-105" charset="0"/>
                <a:cs typeface="Arial Unicode MS" pitchFamily="-105" charset="0"/>
              </a:defRPr>
            </a:lvl1pPr>
          </a:lstStyle>
          <a:p>
            <a:pPr fontAlgn="base" hangingPunct="0">
              <a:lnSpc>
                <a:spcPct val="93000"/>
              </a:lnSpc>
              <a:spcBef>
                <a:spcPct val="0"/>
              </a:spcBef>
              <a:spcAft>
                <a:spcPct val="0"/>
              </a:spcAft>
              <a:buClr>
                <a:srgbClr val="000000"/>
              </a:buClr>
              <a:buSzPct val="100000"/>
              <a:buFont typeface="Times New Roman" pitchFamily="-105" charset="0"/>
              <a:buNone/>
              <a:defRPr/>
            </a:pPr>
            <a:fld id="{DD85721C-E124-425D-9811-A8E0FC6EF4A8}" type="slidenum">
              <a:rPr lang="en-US"/>
              <a:pPr fontAlgn="base" hangingPunct="0">
                <a:lnSpc>
                  <a:spcPct val="93000"/>
                </a:lnSpc>
                <a:spcBef>
                  <a:spcPct val="0"/>
                </a:spcBef>
                <a:spcAft>
                  <a:spcPct val="0"/>
                </a:spcAft>
                <a:buClr>
                  <a:srgbClr val="000000"/>
                </a:buClr>
                <a:buSzPct val="100000"/>
                <a:buFont typeface="Times New Roman" pitchFamily="-105" charset="0"/>
                <a:buNone/>
                <a:defRPr/>
              </a:pPr>
              <a:t>‹#›</a:t>
            </a:fld>
            <a:endParaRPr lang="en-US"/>
          </a:p>
        </p:txBody>
      </p:sp>
    </p:spTree>
    <p:extLst>
      <p:ext uri="{BB962C8B-B14F-4D97-AF65-F5344CB8AC3E}">
        <p14:creationId xmlns:p14="http://schemas.microsoft.com/office/powerpoint/2010/main" val="2807885272"/>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mj-lt"/>
          <a:ea typeface="+mj-ea"/>
          <a:cs typeface="+mj-cs"/>
        </a:defRPr>
      </a:lvl1pPr>
      <a:lvl2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2pPr>
      <a:lvl3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3pPr>
      <a:lvl4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4pPr>
      <a:lvl5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5pPr>
      <a:lvl6pPr marL="2281245"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6pPr>
      <a:lvl7pPr marL="2696017"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7pPr>
      <a:lvl8pPr marL="3110789"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8pPr>
      <a:lvl9pPr marL="3525561"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9pPr>
    </p:titleStyle>
    <p:bodyStyle>
      <a:lvl1pPr marL="311079" indent="-311079" algn="l" defTabSz="414772" rtl="0" eaLnBrk="1" fontAlgn="base" hangingPunct="1">
        <a:lnSpc>
          <a:spcPct val="93000"/>
        </a:lnSpc>
        <a:spcBef>
          <a:spcPct val="0"/>
        </a:spcBef>
        <a:spcAft>
          <a:spcPts val="1293"/>
        </a:spcAft>
        <a:buClr>
          <a:srgbClr val="000000"/>
        </a:buClr>
        <a:buSzPct val="100000"/>
        <a:buFont typeface="Times New Roman" pitchFamily="-105" charset="0"/>
        <a:buChar char="•"/>
        <a:defRPr sz="2903">
          <a:solidFill>
            <a:srgbClr val="000000"/>
          </a:solidFill>
          <a:latin typeface="+mn-lt"/>
          <a:ea typeface="+mn-ea"/>
          <a:cs typeface="+mn-cs"/>
        </a:defRPr>
      </a:lvl1pPr>
      <a:lvl2pPr marL="674004" indent="-259232" algn="l" defTabSz="414772" rtl="0" eaLnBrk="1" fontAlgn="base" hangingPunct="1">
        <a:lnSpc>
          <a:spcPct val="93000"/>
        </a:lnSpc>
        <a:spcBef>
          <a:spcPct val="0"/>
        </a:spcBef>
        <a:spcAft>
          <a:spcPts val="1032"/>
        </a:spcAft>
        <a:buClr>
          <a:srgbClr val="000000"/>
        </a:buClr>
        <a:buSzPct val="100000"/>
        <a:buFont typeface="Times New Roman" pitchFamily="-105" charset="0"/>
        <a:buChar char="–"/>
        <a:defRPr sz="2540">
          <a:solidFill>
            <a:srgbClr val="000000"/>
          </a:solidFill>
          <a:latin typeface="+mn-lt"/>
          <a:ea typeface="+mn-ea"/>
          <a:cs typeface="+mn-cs"/>
        </a:defRPr>
      </a:lvl2pPr>
      <a:lvl3pPr marL="1036930" indent="-207386" algn="l" defTabSz="414772" rtl="0" eaLnBrk="1" fontAlgn="base" hangingPunct="1">
        <a:lnSpc>
          <a:spcPct val="93000"/>
        </a:lnSpc>
        <a:spcBef>
          <a:spcPct val="0"/>
        </a:spcBef>
        <a:spcAft>
          <a:spcPts val="771"/>
        </a:spcAft>
        <a:buClr>
          <a:srgbClr val="000000"/>
        </a:buClr>
        <a:buSzPct val="100000"/>
        <a:buFont typeface="Times New Roman" pitchFamily="-105" charset="0"/>
        <a:buChar char="•"/>
        <a:defRPr sz="2177">
          <a:solidFill>
            <a:srgbClr val="000000"/>
          </a:solidFill>
          <a:latin typeface="+mn-lt"/>
          <a:ea typeface="+mn-ea"/>
          <a:cs typeface="+mn-cs"/>
        </a:defRPr>
      </a:lvl3pPr>
      <a:lvl4pPr marL="1451701" indent="-207386" algn="l" defTabSz="414772" rtl="0" eaLnBrk="1" fontAlgn="base" hangingPunct="1">
        <a:lnSpc>
          <a:spcPct val="93000"/>
        </a:lnSpc>
        <a:spcBef>
          <a:spcPct val="0"/>
        </a:spcBef>
        <a:spcAft>
          <a:spcPts val="522"/>
        </a:spcAft>
        <a:buClr>
          <a:srgbClr val="000000"/>
        </a:buClr>
        <a:buSzPct val="100000"/>
        <a:buFont typeface="Times New Roman" pitchFamily="-105" charset="0"/>
        <a:buChar char="–"/>
        <a:defRPr sz="1814">
          <a:solidFill>
            <a:srgbClr val="000000"/>
          </a:solidFill>
          <a:latin typeface="+mn-lt"/>
          <a:ea typeface="+mn-ea"/>
          <a:cs typeface="+mn-cs"/>
        </a:defRPr>
      </a:lvl4pPr>
      <a:lvl5pPr marL="1866473" indent="-207386" algn="l" defTabSz="414772" rtl="0" eaLnBrk="1" fontAlgn="base" hangingPunct="1">
        <a:lnSpc>
          <a:spcPct val="93000"/>
        </a:lnSpc>
        <a:spcBef>
          <a:spcPct val="0"/>
        </a:spcBef>
        <a:spcAft>
          <a:spcPts val="261"/>
        </a:spcAft>
        <a:buClr>
          <a:srgbClr val="000000"/>
        </a:buClr>
        <a:buSzPct val="100000"/>
        <a:buFont typeface="Times New Roman" pitchFamily="-105" charset="0"/>
        <a:buChar char="»"/>
        <a:defRPr sz="1814">
          <a:solidFill>
            <a:srgbClr val="000000"/>
          </a:solidFill>
          <a:latin typeface="+mn-lt"/>
          <a:ea typeface="+mn-ea"/>
          <a:cs typeface="+mn-cs"/>
        </a:defRPr>
      </a:lvl5pPr>
      <a:lvl6pPr marL="2281245"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6pPr>
      <a:lvl7pPr marL="2696017"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7pPr>
      <a:lvl8pPr marL="3110789"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8pPr>
      <a:lvl9pPr marL="3525561"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9pPr>
    </p:bodyStyle>
    <p:otherStyle>
      <a:defPPr>
        <a:defRPr lang="en-US"/>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8641" y="273629"/>
            <a:ext cx="10968959" cy="114348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7" name="Rectangle 2"/>
          <p:cNvSpPr>
            <a:spLocks noGrp="1" noChangeArrowheads="1"/>
          </p:cNvSpPr>
          <p:nvPr>
            <p:ph type="body" idx="1"/>
          </p:nvPr>
        </p:nvSpPr>
        <p:spPr bwMode="auto">
          <a:xfrm>
            <a:off x="608641" y="1604329"/>
            <a:ext cx="10968959" cy="4524955"/>
          </a:xfrm>
          <a:prstGeom prst="rect">
            <a:avLst/>
          </a:prstGeom>
          <a:noFill/>
          <a:ln w="9525">
            <a:noFill/>
            <a:round/>
            <a:headEnd/>
            <a:tailEnd/>
          </a:ln>
        </p:spPr>
        <p:txBody>
          <a:bodyPr vert="horz" wrap="square" lIns="0" tIns="28224"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2" name="Rectangle 3"/>
          <p:cNvSpPr>
            <a:spLocks noGrp="1" noChangeArrowheads="1"/>
          </p:cNvSpPr>
          <p:nvPr>
            <p:ph type="dt"/>
          </p:nvPr>
        </p:nvSpPr>
        <p:spPr bwMode="auto">
          <a:xfrm>
            <a:off x="60864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buFont typeface="Times New Roman" pitchFamily="16" charset="0"/>
              <a:buNone/>
              <a:tabLst>
                <a:tab pos="656722" algn="l"/>
                <a:tab pos="1313444" algn="l"/>
                <a:tab pos="1970166"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8" name="Rectangle 4"/>
          <p:cNvSpPr>
            <a:spLocks noGrp="1" noChangeArrowheads="1"/>
          </p:cNvSpPr>
          <p:nvPr>
            <p:ph type="ftr"/>
          </p:nvPr>
        </p:nvSpPr>
        <p:spPr bwMode="auto">
          <a:xfrm>
            <a:off x="4170240" y="6247376"/>
            <a:ext cx="386304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buFont typeface="Times New Roman" pitchFamily="16" charset="0"/>
              <a:buNone/>
              <a:tabLst>
                <a:tab pos="656722" algn="l"/>
                <a:tab pos="1313444" algn="l"/>
                <a:tab pos="1970166" algn="l"/>
                <a:tab pos="2626888"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9" name="Rectangle 5"/>
          <p:cNvSpPr>
            <a:spLocks noGrp="1" noChangeArrowheads="1"/>
          </p:cNvSpPr>
          <p:nvPr>
            <p:ph type="sldNum"/>
          </p:nvPr>
        </p:nvSpPr>
        <p:spPr bwMode="auto">
          <a:xfrm>
            <a:off x="874176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defRPr sz="1270" smtClean="0">
                <a:solidFill>
                  <a:srgbClr val="000000"/>
                </a:solidFill>
                <a:latin typeface="Times New Roman" pitchFamily="-105" charset="0"/>
                <a:cs typeface="Arial Unicode MS" pitchFamily="-105" charset="0"/>
              </a:defRPr>
            </a:lvl1pPr>
          </a:lstStyle>
          <a:p>
            <a:pPr fontAlgn="base" hangingPunct="0">
              <a:lnSpc>
                <a:spcPct val="93000"/>
              </a:lnSpc>
              <a:spcBef>
                <a:spcPct val="0"/>
              </a:spcBef>
              <a:spcAft>
                <a:spcPct val="0"/>
              </a:spcAft>
              <a:buClr>
                <a:srgbClr val="000000"/>
              </a:buClr>
              <a:buSzPct val="100000"/>
              <a:buFont typeface="Times New Roman" pitchFamily="-105" charset="0"/>
              <a:buNone/>
              <a:defRPr/>
            </a:pPr>
            <a:fld id="{DD85721C-E124-425D-9811-A8E0FC6EF4A8}" type="slidenum">
              <a:rPr lang="en-US"/>
              <a:pPr fontAlgn="base" hangingPunct="0">
                <a:lnSpc>
                  <a:spcPct val="93000"/>
                </a:lnSpc>
                <a:spcBef>
                  <a:spcPct val="0"/>
                </a:spcBef>
                <a:spcAft>
                  <a:spcPct val="0"/>
                </a:spcAft>
                <a:buClr>
                  <a:srgbClr val="000000"/>
                </a:buClr>
                <a:buSzPct val="100000"/>
                <a:buFont typeface="Times New Roman" pitchFamily="-105" charset="0"/>
                <a:buNone/>
                <a:defRPr/>
              </a:pPr>
              <a:t>‹#›</a:t>
            </a:fld>
            <a:endParaRPr lang="en-US"/>
          </a:p>
        </p:txBody>
      </p:sp>
    </p:spTree>
    <p:extLst>
      <p:ext uri="{BB962C8B-B14F-4D97-AF65-F5344CB8AC3E}">
        <p14:creationId xmlns:p14="http://schemas.microsoft.com/office/powerpoint/2010/main" val="348691744"/>
      </p:ext>
    </p:extLst>
  </p:cSld>
  <p:clrMap bg1="lt1" tx1="dk1" bg2="lt2" tx2="dk2" accent1="accent1" accent2="accent2" accent3="accent3" accent4="accent4" accent5="accent5" accent6="accent6" hlink="hlink" folHlink="folHlink"/>
  <p:sldLayoutIdLst>
    <p:sldLayoutId id="2147483674" r:id="rId1"/>
  </p:sldLayoutIdLst>
  <p:txStyles>
    <p:titleStyle>
      <a:lvl1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mj-lt"/>
          <a:ea typeface="+mj-ea"/>
          <a:cs typeface="+mj-cs"/>
        </a:defRPr>
      </a:lvl1pPr>
      <a:lvl2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2pPr>
      <a:lvl3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3pPr>
      <a:lvl4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4pPr>
      <a:lvl5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5pPr>
      <a:lvl6pPr marL="2281245"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6pPr>
      <a:lvl7pPr marL="2696017"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7pPr>
      <a:lvl8pPr marL="3110789"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8pPr>
      <a:lvl9pPr marL="3525561"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9pPr>
    </p:titleStyle>
    <p:bodyStyle>
      <a:lvl1pPr marL="311079" indent="-311079" algn="l" defTabSz="414772" rtl="0" eaLnBrk="1" fontAlgn="base" hangingPunct="1">
        <a:lnSpc>
          <a:spcPct val="93000"/>
        </a:lnSpc>
        <a:spcBef>
          <a:spcPct val="0"/>
        </a:spcBef>
        <a:spcAft>
          <a:spcPts val="1293"/>
        </a:spcAft>
        <a:buClr>
          <a:srgbClr val="000000"/>
        </a:buClr>
        <a:buSzPct val="100000"/>
        <a:buFont typeface="Times New Roman" pitchFamily="-105" charset="0"/>
        <a:buChar char="•"/>
        <a:defRPr sz="2903">
          <a:solidFill>
            <a:srgbClr val="000000"/>
          </a:solidFill>
          <a:latin typeface="+mn-lt"/>
          <a:ea typeface="+mn-ea"/>
          <a:cs typeface="+mn-cs"/>
        </a:defRPr>
      </a:lvl1pPr>
      <a:lvl2pPr marL="674004" indent="-259232" algn="l" defTabSz="414772" rtl="0" eaLnBrk="1" fontAlgn="base" hangingPunct="1">
        <a:lnSpc>
          <a:spcPct val="93000"/>
        </a:lnSpc>
        <a:spcBef>
          <a:spcPct val="0"/>
        </a:spcBef>
        <a:spcAft>
          <a:spcPts val="1032"/>
        </a:spcAft>
        <a:buClr>
          <a:srgbClr val="000000"/>
        </a:buClr>
        <a:buSzPct val="100000"/>
        <a:buFont typeface="Times New Roman" pitchFamily="-105" charset="0"/>
        <a:buChar char="–"/>
        <a:defRPr sz="2540">
          <a:solidFill>
            <a:srgbClr val="000000"/>
          </a:solidFill>
          <a:latin typeface="+mn-lt"/>
          <a:ea typeface="+mn-ea"/>
          <a:cs typeface="+mn-cs"/>
        </a:defRPr>
      </a:lvl2pPr>
      <a:lvl3pPr marL="1036930" indent="-207386" algn="l" defTabSz="414772" rtl="0" eaLnBrk="1" fontAlgn="base" hangingPunct="1">
        <a:lnSpc>
          <a:spcPct val="93000"/>
        </a:lnSpc>
        <a:spcBef>
          <a:spcPct val="0"/>
        </a:spcBef>
        <a:spcAft>
          <a:spcPts val="771"/>
        </a:spcAft>
        <a:buClr>
          <a:srgbClr val="000000"/>
        </a:buClr>
        <a:buSzPct val="100000"/>
        <a:buFont typeface="Times New Roman" pitchFamily="-105" charset="0"/>
        <a:buChar char="•"/>
        <a:defRPr sz="2177">
          <a:solidFill>
            <a:srgbClr val="000000"/>
          </a:solidFill>
          <a:latin typeface="+mn-lt"/>
          <a:ea typeface="+mn-ea"/>
          <a:cs typeface="+mn-cs"/>
        </a:defRPr>
      </a:lvl3pPr>
      <a:lvl4pPr marL="1451701" indent="-207386" algn="l" defTabSz="414772" rtl="0" eaLnBrk="1" fontAlgn="base" hangingPunct="1">
        <a:lnSpc>
          <a:spcPct val="93000"/>
        </a:lnSpc>
        <a:spcBef>
          <a:spcPct val="0"/>
        </a:spcBef>
        <a:spcAft>
          <a:spcPts val="522"/>
        </a:spcAft>
        <a:buClr>
          <a:srgbClr val="000000"/>
        </a:buClr>
        <a:buSzPct val="100000"/>
        <a:buFont typeface="Times New Roman" pitchFamily="-105" charset="0"/>
        <a:buChar char="–"/>
        <a:defRPr sz="1814">
          <a:solidFill>
            <a:srgbClr val="000000"/>
          </a:solidFill>
          <a:latin typeface="+mn-lt"/>
          <a:ea typeface="+mn-ea"/>
          <a:cs typeface="+mn-cs"/>
        </a:defRPr>
      </a:lvl4pPr>
      <a:lvl5pPr marL="1866473" indent="-207386" algn="l" defTabSz="414772" rtl="0" eaLnBrk="1" fontAlgn="base" hangingPunct="1">
        <a:lnSpc>
          <a:spcPct val="93000"/>
        </a:lnSpc>
        <a:spcBef>
          <a:spcPct val="0"/>
        </a:spcBef>
        <a:spcAft>
          <a:spcPts val="261"/>
        </a:spcAft>
        <a:buClr>
          <a:srgbClr val="000000"/>
        </a:buClr>
        <a:buSzPct val="100000"/>
        <a:buFont typeface="Times New Roman" pitchFamily="-105" charset="0"/>
        <a:buChar char="»"/>
        <a:defRPr sz="1814">
          <a:solidFill>
            <a:srgbClr val="000000"/>
          </a:solidFill>
          <a:latin typeface="+mn-lt"/>
          <a:ea typeface="+mn-ea"/>
          <a:cs typeface="+mn-cs"/>
        </a:defRPr>
      </a:lvl5pPr>
      <a:lvl6pPr marL="2281245"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6pPr>
      <a:lvl7pPr marL="2696017"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7pPr>
      <a:lvl8pPr marL="3110789"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8pPr>
      <a:lvl9pPr marL="3525561"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9pPr>
    </p:bodyStyle>
    <p:otherStyle>
      <a:defPPr>
        <a:defRPr lang="en-US"/>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608641" y="273629"/>
            <a:ext cx="10968959" cy="114348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smtClean="0"/>
              <a:t>Click to edit the title text format</a:t>
            </a:r>
          </a:p>
        </p:txBody>
      </p:sp>
      <p:sp>
        <p:nvSpPr>
          <p:cNvPr id="1027" name="Rectangle 2"/>
          <p:cNvSpPr>
            <a:spLocks noGrp="1" noChangeArrowheads="1"/>
          </p:cNvSpPr>
          <p:nvPr>
            <p:ph type="body" idx="1"/>
          </p:nvPr>
        </p:nvSpPr>
        <p:spPr bwMode="auto">
          <a:xfrm>
            <a:off x="608641" y="1604329"/>
            <a:ext cx="10968959" cy="4524955"/>
          </a:xfrm>
          <a:prstGeom prst="rect">
            <a:avLst/>
          </a:prstGeom>
          <a:noFill/>
          <a:ln w="9525">
            <a:noFill/>
            <a:round/>
            <a:headEnd/>
            <a:tailEnd/>
          </a:ln>
        </p:spPr>
        <p:txBody>
          <a:bodyPr vert="horz" wrap="square" lIns="0" tIns="28224" rIns="0" bIns="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
        <p:nvSpPr>
          <p:cNvPr id="2" name="Rectangle 3"/>
          <p:cNvSpPr>
            <a:spLocks noGrp="1" noChangeArrowheads="1"/>
          </p:cNvSpPr>
          <p:nvPr>
            <p:ph type="dt"/>
          </p:nvPr>
        </p:nvSpPr>
        <p:spPr bwMode="auto">
          <a:xfrm>
            <a:off x="60864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buFont typeface="Times New Roman" pitchFamily="16" charset="0"/>
              <a:buNone/>
              <a:tabLst>
                <a:tab pos="656722" algn="l"/>
                <a:tab pos="1313444" algn="l"/>
                <a:tab pos="1970166"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8" name="Rectangle 4"/>
          <p:cNvSpPr>
            <a:spLocks noGrp="1" noChangeArrowheads="1"/>
          </p:cNvSpPr>
          <p:nvPr>
            <p:ph type="ftr"/>
          </p:nvPr>
        </p:nvSpPr>
        <p:spPr bwMode="auto">
          <a:xfrm>
            <a:off x="4170240" y="6247376"/>
            <a:ext cx="386304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buFont typeface="Times New Roman" pitchFamily="16" charset="0"/>
              <a:buNone/>
              <a:tabLst>
                <a:tab pos="656722" algn="l"/>
                <a:tab pos="1313444" algn="l"/>
                <a:tab pos="1970166" algn="l"/>
                <a:tab pos="2626888" algn="l"/>
              </a:tabLst>
              <a:defRPr sz="1270">
                <a:solidFill>
                  <a:srgbClr val="000000"/>
                </a:solidFill>
                <a:latin typeface="Times New Roman" pitchFamily="16" charset="0"/>
                <a:cs typeface="Arial Unicode MS" charset="0"/>
              </a:defRPr>
            </a:lvl1pPr>
          </a:lstStyle>
          <a:p>
            <a:pPr fontAlgn="base" hangingPunct="0">
              <a:lnSpc>
                <a:spcPct val="93000"/>
              </a:lnSpc>
              <a:spcBef>
                <a:spcPct val="0"/>
              </a:spcBef>
              <a:spcAft>
                <a:spcPct val="0"/>
              </a:spcAft>
              <a:buClr>
                <a:srgbClr val="000000"/>
              </a:buClr>
              <a:buSzPct val="100000"/>
              <a:defRPr/>
            </a:pPr>
            <a:endParaRPr lang="en-US"/>
          </a:p>
        </p:txBody>
      </p:sp>
      <p:sp>
        <p:nvSpPr>
          <p:cNvPr id="1029" name="Rectangle 5"/>
          <p:cNvSpPr>
            <a:spLocks noGrp="1" noChangeArrowheads="1"/>
          </p:cNvSpPr>
          <p:nvPr>
            <p:ph type="sldNum"/>
          </p:nvPr>
        </p:nvSpPr>
        <p:spPr bwMode="auto">
          <a:xfrm>
            <a:off x="8741761" y="6247376"/>
            <a:ext cx="2837760" cy="47093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defRPr sz="1270" smtClean="0">
                <a:solidFill>
                  <a:srgbClr val="000000"/>
                </a:solidFill>
                <a:latin typeface="Times New Roman" pitchFamily="-105" charset="0"/>
                <a:cs typeface="Arial Unicode MS" pitchFamily="-105" charset="0"/>
              </a:defRPr>
            </a:lvl1pPr>
          </a:lstStyle>
          <a:p>
            <a:pPr fontAlgn="base" hangingPunct="0">
              <a:lnSpc>
                <a:spcPct val="93000"/>
              </a:lnSpc>
              <a:spcBef>
                <a:spcPct val="0"/>
              </a:spcBef>
              <a:spcAft>
                <a:spcPct val="0"/>
              </a:spcAft>
              <a:buClr>
                <a:srgbClr val="000000"/>
              </a:buClr>
              <a:buSzPct val="100000"/>
              <a:buFont typeface="Times New Roman" pitchFamily="-105" charset="0"/>
              <a:buNone/>
              <a:defRPr/>
            </a:pPr>
            <a:fld id="{DD85721C-E124-425D-9811-A8E0FC6EF4A8}" type="slidenum">
              <a:rPr lang="en-US"/>
              <a:pPr fontAlgn="base" hangingPunct="0">
                <a:lnSpc>
                  <a:spcPct val="93000"/>
                </a:lnSpc>
                <a:spcBef>
                  <a:spcPct val="0"/>
                </a:spcBef>
                <a:spcAft>
                  <a:spcPct val="0"/>
                </a:spcAft>
                <a:buClr>
                  <a:srgbClr val="000000"/>
                </a:buClr>
                <a:buSzPct val="100000"/>
                <a:buFont typeface="Times New Roman" pitchFamily="-105" charset="0"/>
                <a:buNone/>
                <a:defRPr/>
              </a:pPr>
              <a:t>‹#›</a:t>
            </a:fld>
            <a:endParaRPr lang="en-US"/>
          </a:p>
        </p:txBody>
      </p:sp>
    </p:spTree>
    <p:extLst>
      <p:ext uri="{BB962C8B-B14F-4D97-AF65-F5344CB8AC3E}">
        <p14:creationId xmlns:p14="http://schemas.microsoft.com/office/powerpoint/2010/main" val="315473843"/>
      </p:ext>
    </p:extLst>
  </p:cSld>
  <p:clrMap bg1="lt1" tx1="dk1" bg2="lt2" tx2="dk2" accent1="accent1" accent2="accent2" accent3="accent3" accent4="accent4" accent5="accent5" accent6="accent6" hlink="hlink" folHlink="folHlink"/>
  <p:sldLayoutIdLst>
    <p:sldLayoutId id="2147483676" r:id="rId1"/>
  </p:sldLayoutIdLst>
  <p:txStyles>
    <p:titleStyle>
      <a:lvl1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mj-lt"/>
          <a:ea typeface="+mj-ea"/>
          <a:cs typeface="+mj-cs"/>
        </a:defRPr>
      </a:lvl1pPr>
      <a:lvl2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2pPr>
      <a:lvl3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3pPr>
      <a:lvl4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4pPr>
      <a:lvl5pPr algn="ctr" defTabSz="414772" rtl="0" eaLnBrk="1" fontAlgn="base" hangingPunct="1">
        <a:lnSpc>
          <a:spcPct val="93000"/>
        </a:lnSpc>
        <a:spcBef>
          <a:spcPct val="0"/>
        </a:spcBef>
        <a:spcAft>
          <a:spcPct val="0"/>
        </a:spcAft>
        <a:buClr>
          <a:srgbClr val="000000"/>
        </a:buClr>
        <a:buSzPct val="100000"/>
        <a:buFont typeface="Times New Roman" pitchFamily="-105" charset="0"/>
        <a:defRPr sz="3992">
          <a:solidFill>
            <a:srgbClr val="000000"/>
          </a:solidFill>
          <a:latin typeface="Arial" charset="0"/>
          <a:ea typeface="MS Gothic" charset="0"/>
          <a:cs typeface="MS Gothic" charset="0"/>
        </a:defRPr>
      </a:lvl5pPr>
      <a:lvl6pPr marL="2281245"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6pPr>
      <a:lvl7pPr marL="2696017"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7pPr>
      <a:lvl8pPr marL="3110789"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8pPr>
      <a:lvl9pPr marL="3525561" indent="-207386" algn="ctr" defTabSz="414772" rtl="0" eaLnBrk="1" fontAlgn="base" hangingPunct="1">
        <a:lnSpc>
          <a:spcPct val="93000"/>
        </a:lnSpc>
        <a:spcBef>
          <a:spcPct val="0"/>
        </a:spcBef>
        <a:spcAft>
          <a:spcPct val="0"/>
        </a:spcAft>
        <a:buClr>
          <a:srgbClr val="000000"/>
        </a:buClr>
        <a:buSzPct val="100000"/>
        <a:buFont typeface="Times New Roman" pitchFamily="16" charset="0"/>
        <a:defRPr sz="3992">
          <a:solidFill>
            <a:srgbClr val="000000"/>
          </a:solidFill>
          <a:latin typeface="Arial" charset="0"/>
          <a:ea typeface="MS Gothic" charset="0"/>
          <a:cs typeface="MS Gothic" charset="0"/>
        </a:defRPr>
      </a:lvl9pPr>
    </p:titleStyle>
    <p:bodyStyle>
      <a:lvl1pPr marL="311079" indent="-311079" algn="l" defTabSz="414772" rtl="0" eaLnBrk="1" fontAlgn="base" hangingPunct="1">
        <a:lnSpc>
          <a:spcPct val="93000"/>
        </a:lnSpc>
        <a:spcBef>
          <a:spcPct val="0"/>
        </a:spcBef>
        <a:spcAft>
          <a:spcPts val="1293"/>
        </a:spcAft>
        <a:buClr>
          <a:srgbClr val="000000"/>
        </a:buClr>
        <a:buSzPct val="100000"/>
        <a:buFont typeface="Times New Roman" pitchFamily="-105" charset="0"/>
        <a:buChar char="•"/>
        <a:defRPr sz="2903">
          <a:solidFill>
            <a:srgbClr val="000000"/>
          </a:solidFill>
          <a:latin typeface="+mn-lt"/>
          <a:ea typeface="+mn-ea"/>
          <a:cs typeface="+mn-cs"/>
        </a:defRPr>
      </a:lvl1pPr>
      <a:lvl2pPr marL="674004" indent="-259232" algn="l" defTabSz="414772" rtl="0" eaLnBrk="1" fontAlgn="base" hangingPunct="1">
        <a:lnSpc>
          <a:spcPct val="93000"/>
        </a:lnSpc>
        <a:spcBef>
          <a:spcPct val="0"/>
        </a:spcBef>
        <a:spcAft>
          <a:spcPts val="1032"/>
        </a:spcAft>
        <a:buClr>
          <a:srgbClr val="000000"/>
        </a:buClr>
        <a:buSzPct val="100000"/>
        <a:buFont typeface="Times New Roman" pitchFamily="-105" charset="0"/>
        <a:buChar char="–"/>
        <a:defRPr sz="2540">
          <a:solidFill>
            <a:srgbClr val="000000"/>
          </a:solidFill>
          <a:latin typeface="+mn-lt"/>
          <a:ea typeface="+mn-ea"/>
          <a:cs typeface="+mn-cs"/>
        </a:defRPr>
      </a:lvl2pPr>
      <a:lvl3pPr marL="1036930" indent="-207386" algn="l" defTabSz="414772" rtl="0" eaLnBrk="1" fontAlgn="base" hangingPunct="1">
        <a:lnSpc>
          <a:spcPct val="93000"/>
        </a:lnSpc>
        <a:spcBef>
          <a:spcPct val="0"/>
        </a:spcBef>
        <a:spcAft>
          <a:spcPts val="771"/>
        </a:spcAft>
        <a:buClr>
          <a:srgbClr val="000000"/>
        </a:buClr>
        <a:buSzPct val="100000"/>
        <a:buFont typeface="Times New Roman" pitchFamily="-105" charset="0"/>
        <a:buChar char="•"/>
        <a:defRPr sz="2177">
          <a:solidFill>
            <a:srgbClr val="000000"/>
          </a:solidFill>
          <a:latin typeface="+mn-lt"/>
          <a:ea typeface="+mn-ea"/>
          <a:cs typeface="+mn-cs"/>
        </a:defRPr>
      </a:lvl3pPr>
      <a:lvl4pPr marL="1451701" indent="-207386" algn="l" defTabSz="414772" rtl="0" eaLnBrk="1" fontAlgn="base" hangingPunct="1">
        <a:lnSpc>
          <a:spcPct val="93000"/>
        </a:lnSpc>
        <a:spcBef>
          <a:spcPct val="0"/>
        </a:spcBef>
        <a:spcAft>
          <a:spcPts val="522"/>
        </a:spcAft>
        <a:buClr>
          <a:srgbClr val="000000"/>
        </a:buClr>
        <a:buSzPct val="100000"/>
        <a:buFont typeface="Times New Roman" pitchFamily="-105" charset="0"/>
        <a:buChar char="–"/>
        <a:defRPr sz="1814">
          <a:solidFill>
            <a:srgbClr val="000000"/>
          </a:solidFill>
          <a:latin typeface="+mn-lt"/>
          <a:ea typeface="+mn-ea"/>
          <a:cs typeface="+mn-cs"/>
        </a:defRPr>
      </a:lvl4pPr>
      <a:lvl5pPr marL="1866473" indent="-207386" algn="l" defTabSz="414772" rtl="0" eaLnBrk="1" fontAlgn="base" hangingPunct="1">
        <a:lnSpc>
          <a:spcPct val="93000"/>
        </a:lnSpc>
        <a:spcBef>
          <a:spcPct val="0"/>
        </a:spcBef>
        <a:spcAft>
          <a:spcPts val="261"/>
        </a:spcAft>
        <a:buClr>
          <a:srgbClr val="000000"/>
        </a:buClr>
        <a:buSzPct val="100000"/>
        <a:buFont typeface="Times New Roman" pitchFamily="-105" charset="0"/>
        <a:buChar char="»"/>
        <a:defRPr sz="1814">
          <a:solidFill>
            <a:srgbClr val="000000"/>
          </a:solidFill>
          <a:latin typeface="+mn-lt"/>
          <a:ea typeface="+mn-ea"/>
          <a:cs typeface="+mn-cs"/>
        </a:defRPr>
      </a:lvl5pPr>
      <a:lvl6pPr marL="2281245"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6pPr>
      <a:lvl7pPr marL="2696017"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7pPr>
      <a:lvl8pPr marL="3110789"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8pPr>
      <a:lvl9pPr marL="3525561" indent="-207386" algn="l" defTabSz="414772" rtl="0" eaLnBrk="1" fontAlgn="base" hangingPunct="1">
        <a:lnSpc>
          <a:spcPct val="93000"/>
        </a:lnSpc>
        <a:spcBef>
          <a:spcPct val="0"/>
        </a:spcBef>
        <a:spcAft>
          <a:spcPts val="261"/>
        </a:spcAft>
        <a:buClr>
          <a:srgbClr val="000000"/>
        </a:buClr>
        <a:buSzPct val="100000"/>
        <a:buFont typeface="Times New Roman" pitchFamily="16" charset="0"/>
        <a:defRPr sz="1814">
          <a:solidFill>
            <a:srgbClr val="000000"/>
          </a:solidFill>
          <a:latin typeface="+mn-lt"/>
          <a:ea typeface="+mn-ea"/>
          <a:cs typeface="+mn-cs"/>
        </a:defRPr>
      </a:lvl9pPr>
    </p:bodyStyle>
    <p:otherStyle>
      <a:defPPr>
        <a:defRPr lang="en-US"/>
      </a:defPPr>
      <a:lvl1pPr marL="0" algn="l" defTabSz="829544" rtl="0" eaLnBrk="1" latinLnBrk="0" hangingPunct="1">
        <a:defRPr sz="1633" kern="1200">
          <a:solidFill>
            <a:schemeClr val="tx1"/>
          </a:solidFill>
          <a:latin typeface="+mn-lt"/>
          <a:ea typeface="+mn-ea"/>
          <a:cs typeface="+mn-cs"/>
        </a:defRPr>
      </a:lvl1pPr>
      <a:lvl2pPr marL="414772" algn="l" defTabSz="829544" rtl="0" eaLnBrk="1" latinLnBrk="0" hangingPunct="1">
        <a:defRPr sz="1633" kern="1200">
          <a:solidFill>
            <a:schemeClr val="tx1"/>
          </a:solidFill>
          <a:latin typeface="+mn-lt"/>
          <a:ea typeface="+mn-ea"/>
          <a:cs typeface="+mn-cs"/>
        </a:defRPr>
      </a:lvl2pPr>
      <a:lvl3pPr marL="829544" algn="l" defTabSz="829544" rtl="0" eaLnBrk="1" latinLnBrk="0" hangingPunct="1">
        <a:defRPr sz="1633" kern="1200">
          <a:solidFill>
            <a:schemeClr val="tx1"/>
          </a:solidFill>
          <a:latin typeface="+mn-lt"/>
          <a:ea typeface="+mn-ea"/>
          <a:cs typeface="+mn-cs"/>
        </a:defRPr>
      </a:lvl3pPr>
      <a:lvl4pPr marL="1244316" algn="l" defTabSz="829544" rtl="0" eaLnBrk="1" latinLnBrk="0" hangingPunct="1">
        <a:defRPr sz="1633" kern="1200">
          <a:solidFill>
            <a:schemeClr val="tx1"/>
          </a:solidFill>
          <a:latin typeface="+mn-lt"/>
          <a:ea typeface="+mn-ea"/>
          <a:cs typeface="+mn-cs"/>
        </a:defRPr>
      </a:lvl4pPr>
      <a:lvl5pPr marL="1659087" algn="l" defTabSz="829544" rtl="0" eaLnBrk="1" latinLnBrk="0" hangingPunct="1">
        <a:defRPr sz="1633" kern="1200">
          <a:solidFill>
            <a:schemeClr val="tx1"/>
          </a:solidFill>
          <a:latin typeface="+mn-lt"/>
          <a:ea typeface="+mn-ea"/>
          <a:cs typeface="+mn-cs"/>
        </a:defRPr>
      </a:lvl5pPr>
      <a:lvl6pPr marL="2073859" algn="l" defTabSz="829544" rtl="0" eaLnBrk="1" latinLnBrk="0" hangingPunct="1">
        <a:defRPr sz="1633" kern="1200">
          <a:solidFill>
            <a:schemeClr val="tx1"/>
          </a:solidFill>
          <a:latin typeface="+mn-lt"/>
          <a:ea typeface="+mn-ea"/>
          <a:cs typeface="+mn-cs"/>
        </a:defRPr>
      </a:lvl6pPr>
      <a:lvl7pPr marL="2488631" algn="l" defTabSz="829544" rtl="0" eaLnBrk="1" latinLnBrk="0" hangingPunct="1">
        <a:defRPr sz="1633" kern="1200">
          <a:solidFill>
            <a:schemeClr val="tx1"/>
          </a:solidFill>
          <a:latin typeface="+mn-lt"/>
          <a:ea typeface="+mn-ea"/>
          <a:cs typeface="+mn-cs"/>
        </a:defRPr>
      </a:lvl7pPr>
      <a:lvl8pPr marL="2903403" algn="l" defTabSz="829544" rtl="0" eaLnBrk="1" latinLnBrk="0" hangingPunct="1">
        <a:defRPr sz="1633" kern="1200">
          <a:solidFill>
            <a:schemeClr val="tx1"/>
          </a:solidFill>
          <a:latin typeface="+mn-lt"/>
          <a:ea typeface="+mn-ea"/>
          <a:cs typeface="+mn-cs"/>
        </a:defRPr>
      </a:lvl8pPr>
      <a:lvl9pPr marL="3318175" algn="l" defTabSz="829544" rtl="0" eaLnBrk="1" latinLnBrk="0" hangingPunct="1">
        <a:defRPr sz="1633"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s-ES" altLang="en-US" smtClean="0"/>
              <a:t>Haga clic para cambiar el estilo de título	</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s-ES" altLang="en-US" smtClean="0"/>
              <a:t>Haga clic para modificar el estilo de texto del patrón</a:t>
            </a:r>
          </a:p>
          <a:p>
            <a:pPr lvl="1"/>
            <a:r>
              <a:rPr lang="es-ES" altLang="en-US" smtClean="0"/>
              <a:t>Segundo nivel</a:t>
            </a:r>
          </a:p>
          <a:p>
            <a:pPr lvl="2"/>
            <a:r>
              <a:rPr lang="es-ES" altLang="en-US" smtClean="0"/>
              <a:t>Tercer nivel</a:t>
            </a:r>
          </a:p>
          <a:p>
            <a:pPr lvl="3"/>
            <a:r>
              <a:rPr lang="es-ES" altLang="en-US" smtClean="0"/>
              <a:t>Cuarto nivel</a:t>
            </a:r>
          </a:p>
          <a:p>
            <a:pPr lvl="4"/>
            <a:r>
              <a:rPr lang="es-ES" altLang="en-US" smtClean="0"/>
              <a:t>Quinto nivel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D449D4C-8862-4AC4-8899-8A47C9B8DE6D}" type="slidenum">
              <a:rPr kumimoji="0" lang="es-ES" altLang="en-US" sz="1400" b="0" i="0" u="none" strike="noStrike" kern="1200" cap="none" spc="0" normalizeH="0" baseline="0" noProof="0" smtClean="0">
                <a:ln>
                  <a:noFill/>
                </a:ln>
                <a:solidFill>
                  <a:srgbClr val="000000"/>
                </a:solidFill>
                <a:effectLst/>
                <a:uLnTx/>
                <a:uFillTx/>
                <a:latin typeface="Arial"/>
                <a:ea typeface="+mn-ea"/>
                <a:cs typeface="Arial"/>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s-ES" altLang="en-US" sz="1400" b="0" i="0" u="none" strike="noStrike" kern="1200" cap="none" spc="0" normalizeH="0" baseline="0" noProof="0">
              <a:ln>
                <a:noFill/>
              </a:ln>
              <a:solidFill>
                <a:srgbClr val="000000"/>
              </a:solidFill>
              <a:effectLst/>
              <a:uLnTx/>
              <a:uFillTx/>
              <a:latin typeface="Arial"/>
              <a:ea typeface="+mn-ea"/>
              <a:cs typeface="Arial"/>
            </a:endParaRPr>
          </a:p>
        </p:txBody>
      </p:sp>
    </p:spTree>
    <p:extLst>
      <p:ext uri="{BB962C8B-B14F-4D97-AF65-F5344CB8AC3E}">
        <p14:creationId xmlns:p14="http://schemas.microsoft.com/office/powerpoint/2010/main" val="169631442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5.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7.xml"/><Relationship Id="rId1" Type="http://schemas.openxmlformats.org/officeDocument/2006/relationships/themeOverride" Target="../theme/themeOverride6.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8.xml.rels><?xml version="1.0" encoding="UTF-8" standalone="yes"?>
<Relationships xmlns="http://schemas.openxmlformats.org/package/2006/relationships"><Relationship Id="rId2" Type="http://schemas.openxmlformats.org/officeDocument/2006/relationships/hyperlink" Target="file:///C:\Users\V.SAI%20ABHISHEK\Documents\sims%20study2\~$fsaassign.xlsx"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47615" y="768095"/>
            <a:ext cx="7197726" cy="1871131"/>
          </a:xfrm>
        </p:spPr>
        <p:txBody>
          <a:bodyPr/>
          <a:lstStyle/>
          <a:p>
            <a:r>
              <a:rPr lang="en-IN" dirty="0" smtClean="0"/>
              <a:t>Analysis on Apollo tyres ltd.</a:t>
            </a:r>
            <a:endParaRPr lang="en-IN" dirty="0"/>
          </a:p>
        </p:txBody>
      </p:sp>
      <p:sp>
        <p:nvSpPr>
          <p:cNvPr id="3" name="Subtitle 2"/>
          <p:cNvSpPr>
            <a:spLocks noGrp="1"/>
          </p:cNvSpPr>
          <p:nvPr>
            <p:ph type="subTitle" idx="1"/>
          </p:nvPr>
        </p:nvSpPr>
        <p:spPr>
          <a:xfrm>
            <a:off x="7973568" y="3611880"/>
            <a:ext cx="3493007" cy="2179319"/>
          </a:xfrm>
        </p:spPr>
        <p:txBody>
          <a:bodyPr>
            <a:normAutofit/>
          </a:bodyPr>
          <a:lstStyle/>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4401" y="4078224"/>
            <a:ext cx="5442386" cy="1880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7611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777" y="131928"/>
            <a:ext cx="10131425" cy="1456267"/>
          </a:xfrm>
        </p:spPr>
        <p:txBody>
          <a:bodyPr/>
          <a:lstStyle/>
          <a:p>
            <a:r>
              <a:rPr lang="en-IN" b="1" dirty="0" smtClean="0"/>
              <a:t>About Apollo tyres ltd</a:t>
            </a:r>
            <a:endParaRPr lang="en-IN" b="1" dirty="0"/>
          </a:p>
        </p:txBody>
      </p:sp>
      <p:sp>
        <p:nvSpPr>
          <p:cNvPr id="3" name="Content Placeholder 2"/>
          <p:cNvSpPr>
            <a:spLocks noGrp="1"/>
          </p:cNvSpPr>
          <p:nvPr>
            <p:ph idx="1"/>
          </p:nvPr>
        </p:nvSpPr>
        <p:spPr>
          <a:xfrm>
            <a:off x="685801" y="1337733"/>
            <a:ext cx="10682784" cy="4013074"/>
          </a:xfrm>
        </p:spPr>
        <p:txBody>
          <a:bodyPr/>
          <a:lstStyle/>
          <a:p>
            <a:r>
              <a:rPr lang="en-IN" dirty="0"/>
              <a:t>W</a:t>
            </a:r>
            <a:r>
              <a:rPr lang="en-IN" dirty="0" smtClean="0"/>
              <a:t>orld's </a:t>
            </a:r>
            <a:r>
              <a:rPr lang="en-IN" dirty="0"/>
              <a:t>17th biggest tyre manufacturer, with annual consolidated revenues of </a:t>
            </a:r>
            <a:r>
              <a:rPr lang="en-IN" dirty="0" err="1"/>
              <a:t>Rs</a:t>
            </a:r>
            <a:r>
              <a:rPr lang="en-IN" dirty="0"/>
              <a:t> 117.1 billion (US$1.8 billion) in March </a:t>
            </a:r>
            <a:r>
              <a:rPr lang="en-IN" dirty="0" smtClean="0"/>
              <a:t>2016</a:t>
            </a:r>
          </a:p>
          <a:p>
            <a:r>
              <a:rPr lang="en-IN" dirty="0"/>
              <a:t> </a:t>
            </a:r>
            <a:r>
              <a:rPr lang="en-IN" dirty="0" smtClean="0"/>
              <a:t>Founded </a:t>
            </a:r>
            <a:r>
              <a:rPr lang="en-IN" dirty="0"/>
              <a:t>in </a:t>
            </a:r>
            <a:r>
              <a:rPr lang="en-IN" dirty="0" smtClean="0"/>
              <a:t>1972</a:t>
            </a:r>
          </a:p>
          <a:p>
            <a:r>
              <a:rPr lang="en-IN" dirty="0"/>
              <a:t> </a:t>
            </a:r>
            <a:r>
              <a:rPr lang="en-IN" dirty="0" smtClean="0"/>
              <a:t>First </a:t>
            </a:r>
            <a:r>
              <a:rPr lang="en-IN" dirty="0"/>
              <a:t>plant was commissioned in </a:t>
            </a:r>
            <a:r>
              <a:rPr lang="en-IN" dirty="0" err="1"/>
              <a:t>Perambra</a:t>
            </a:r>
            <a:r>
              <a:rPr lang="en-IN" dirty="0"/>
              <a:t>, Thrissur, Kerala, </a:t>
            </a:r>
            <a:r>
              <a:rPr lang="en-IN" dirty="0" smtClean="0"/>
              <a:t>India</a:t>
            </a:r>
          </a:p>
          <a:p>
            <a:r>
              <a:rPr lang="en-IN" dirty="0"/>
              <a:t>C</a:t>
            </a:r>
            <a:r>
              <a:rPr lang="en-IN" dirty="0" smtClean="0"/>
              <a:t>ompany </a:t>
            </a:r>
            <a:r>
              <a:rPr lang="en-IN" dirty="0"/>
              <a:t>now has four manufacturing units in India, and 1 in </a:t>
            </a:r>
            <a:r>
              <a:rPr lang="en-IN" dirty="0" smtClean="0"/>
              <a:t>Netherlands</a:t>
            </a:r>
          </a:p>
          <a:p>
            <a:r>
              <a:rPr lang="en-IN" dirty="0"/>
              <a:t> </a:t>
            </a:r>
            <a:r>
              <a:rPr lang="en-IN" dirty="0" smtClean="0"/>
              <a:t>A </a:t>
            </a:r>
            <a:r>
              <a:rPr lang="en-IN" dirty="0"/>
              <a:t>network of nearly 5,000 dealerships in India, of which over 2,500 are exclusive </a:t>
            </a:r>
            <a:r>
              <a:rPr lang="en-IN" dirty="0" smtClean="0"/>
              <a:t>outlets</a:t>
            </a:r>
          </a:p>
          <a:p>
            <a:r>
              <a:rPr lang="en-IN" dirty="0"/>
              <a:t> </a:t>
            </a:r>
            <a:r>
              <a:rPr lang="en-IN" dirty="0" smtClean="0"/>
              <a:t>Gets </a:t>
            </a:r>
            <a:r>
              <a:rPr lang="en-IN" dirty="0"/>
              <a:t>69% of its revenues from India, 26% from Europe and 5% from other </a:t>
            </a:r>
            <a:r>
              <a:rPr lang="en-IN" dirty="0" smtClean="0"/>
              <a:t>geographies</a:t>
            </a:r>
          </a:p>
          <a:p>
            <a:r>
              <a:rPr lang="en-IN" dirty="0"/>
              <a:t>Apollo announced its entry into the two-wheeler tyre segment with contract manufacturing in March 2016</a:t>
            </a:r>
          </a:p>
        </p:txBody>
      </p:sp>
    </p:spTree>
    <p:extLst>
      <p:ext uri="{BB962C8B-B14F-4D97-AF65-F5344CB8AC3E}">
        <p14:creationId xmlns:p14="http://schemas.microsoft.com/office/powerpoint/2010/main" val="27861993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30223" y="184671"/>
            <a:ext cx="2249302" cy="989036"/>
          </a:xfrm>
        </p:spPr>
        <p:txBody>
          <a:bodyPr/>
          <a:lstStyle/>
          <a:p>
            <a:r>
              <a:rPr lang="en-US" b="1" dirty="0" smtClean="0"/>
              <a:t>History: </a:t>
            </a:r>
            <a:endParaRPr lang="en-US" b="1" dirty="0"/>
          </a:p>
        </p:txBody>
      </p:sp>
      <p:graphicFrame>
        <p:nvGraphicFramePr>
          <p:cNvPr id="5" name="Diagram 4" descr="Basic Timeline" title="SmartArt"/>
          <p:cNvGraphicFramePr/>
          <p:nvPr>
            <p:extLst/>
          </p:nvPr>
        </p:nvGraphicFramePr>
        <p:xfrm>
          <a:off x="927093" y="1741693"/>
          <a:ext cx="9902952" cy="4088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1676714" y="3554890"/>
            <a:ext cx="902811" cy="461665"/>
          </a:xfrm>
          <a:prstGeom prst="rect">
            <a:avLst/>
          </a:prstGeom>
          <a:noFill/>
        </p:spPr>
        <p:txBody>
          <a:bodyPr wrap="none" lIns="91440" tIns="45720" rIns="91440" bIns="45720">
            <a:spAutoFit/>
          </a:bodyPr>
          <a:lstStyle/>
          <a:p>
            <a:pPr algn="ctr"/>
            <a:r>
              <a:rPr lang="en-US" sz="2400" b="1" dirty="0" smtClean="0">
                <a:ln w="22225">
                  <a:solidFill>
                    <a:schemeClr val="accent2"/>
                  </a:solidFill>
                  <a:prstDash val="solid"/>
                </a:ln>
                <a:solidFill>
                  <a:schemeClr val="accent2">
                    <a:lumMod val="40000"/>
                    <a:lumOff val="60000"/>
                  </a:schemeClr>
                </a:solidFill>
              </a:rPr>
              <a:t>1976</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7" name="Rectangle 6"/>
          <p:cNvSpPr/>
          <p:nvPr/>
        </p:nvSpPr>
        <p:spPr>
          <a:xfrm>
            <a:off x="5308047" y="3554886"/>
            <a:ext cx="883576" cy="461665"/>
          </a:xfrm>
          <a:prstGeom prst="rect">
            <a:avLst/>
          </a:prstGeom>
          <a:noFill/>
        </p:spPr>
        <p:txBody>
          <a:bodyPr wrap="none" lIns="91440" tIns="45720" rIns="91440" bIns="45720">
            <a:spAutoFit/>
          </a:bodyPr>
          <a:lstStyle/>
          <a:p>
            <a:pPr algn="ctr"/>
            <a:r>
              <a:rPr lang="en-US" sz="2400" b="1" dirty="0" smtClean="0">
                <a:ln w="22225">
                  <a:solidFill>
                    <a:schemeClr val="accent2"/>
                  </a:solidFill>
                  <a:prstDash val="solid"/>
                </a:ln>
                <a:solidFill>
                  <a:schemeClr val="accent2">
                    <a:lumMod val="40000"/>
                    <a:lumOff val="60000"/>
                  </a:schemeClr>
                </a:solidFill>
              </a:rPr>
              <a:t>1991</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8" name="Rectangle 7"/>
          <p:cNvSpPr/>
          <p:nvPr/>
        </p:nvSpPr>
        <p:spPr>
          <a:xfrm>
            <a:off x="3735443" y="3554886"/>
            <a:ext cx="873958" cy="461665"/>
          </a:xfrm>
          <a:prstGeom prst="rect">
            <a:avLst/>
          </a:prstGeom>
          <a:noFill/>
        </p:spPr>
        <p:txBody>
          <a:bodyPr wrap="none" lIns="91440" tIns="45720" rIns="91440" bIns="45720">
            <a:spAutoFit/>
          </a:bodyPr>
          <a:lstStyle/>
          <a:p>
            <a:pPr algn="ctr"/>
            <a:r>
              <a:rPr lang="en-US" sz="2400" b="1" dirty="0" smtClean="0">
                <a:ln w="22225">
                  <a:solidFill>
                    <a:schemeClr val="accent2"/>
                  </a:solidFill>
                  <a:prstDash val="solid"/>
                </a:ln>
                <a:solidFill>
                  <a:schemeClr val="accent2">
                    <a:lumMod val="40000"/>
                    <a:lumOff val="60000"/>
                  </a:schemeClr>
                </a:solidFill>
              </a:rPr>
              <a:t>1977</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9" name="Rectangle 8"/>
          <p:cNvSpPr/>
          <p:nvPr/>
        </p:nvSpPr>
        <p:spPr>
          <a:xfrm>
            <a:off x="8535314" y="3554884"/>
            <a:ext cx="1008609" cy="461665"/>
          </a:xfrm>
          <a:prstGeom prst="rect">
            <a:avLst/>
          </a:prstGeom>
          <a:noFill/>
        </p:spPr>
        <p:txBody>
          <a:bodyPr wrap="none" lIns="91440" tIns="45720" rIns="91440" bIns="45720">
            <a:spAutoFit/>
          </a:bodyPr>
          <a:lstStyle/>
          <a:p>
            <a:pPr algn="ctr"/>
            <a:r>
              <a:rPr lang="en-US" sz="2400" b="1" cap="none" spc="0" dirty="0" smtClean="0">
                <a:ln w="22225">
                  <a:solidFill>
                    <a:schemeClr val="accent2"/>
                  </a:solidFill>
                  <a:prstDash val="solid"/>
                </a:ln>
                <a:solidFill>
                  <a:schemeClr val="accent2">
                    <a:lumMod val="40000"/>
                    <a:lumOff val="60000"/>
                  </a:schemeClr>
                </a:solidFill>
                <a:effectLst/>
              </a:rPr>
              <a:t>2006</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10" name="Rectangle 9"/>
          <p:cNvSpPr/>
          <p:nvPr/>
        </p:nvSpPr>
        <p:spPr>
          <a:xfrm>
            <a:off x="6953092" y="3554887"/>
            <a:ext cx="917239" cy="461665"/>
          </a:xfrm>
          <a:prstGeom prst="rect">
            <a:avLst/>
          </a:prstGeom>
          <a:noFill/>
        </p:spPr>
        <p:txBody>
          <a:bodyPr wrap="none" lIns="91440" tIns="45720" rIns="91440" bIns="45720">
            <a:spAutoFit/>
          </a:bodyPr>
          <a:lstStyle/>
          <a:p>
            <a:pPr algn="ctr"/>
            <a:r>
              <a:rPr lang="en-US" sz="2400" b="1" dirty="0" smtClean="0">
                <a:ln w="22225">
                  <a:solidFill>
                    <a:schemeClr val="accent2"/>
                  </a:solidFill>
                  <a:prstDash val="solid"/>
                </a:ln>
                <a:solidFill>
                  <a:schemeClr val="accent2">
                    <a:lumMod val="40000"/>
                    <a:lumOff val="60000"/>
                  </a:schemeClr>
                </a:solidFill>
              </a:rPr>
              <a:t>1995</a:t>
            </a:r>
            <a:endParaRPr lang="en-US" sz="2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1784703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90374" y="404884"/>
            <a:ext cx="2016348" cy="917447"/>
          </a:xfrm>
        </p:spPr>
        <p:txBody>
          <a:bodyPr/>
          <a:lstStyle/>
          <a:p>
            <a:r>
              <a:rPr lang="en-US" b="1" dirty="0" smtClean="0"/>
              <a:t>History:</a:t>
            </a:r>
            <a:endParaRPr lang="en-US" b="1" dirty="0"/>
          </a:p>
        </p:txBody>
      </p:sp>
      <p:graphicFrame>
        <p:nvGraphicFramePr>
          <p:cNvPr id="5" name="Diagram 4" descr="Basic Timeline" title="SmartArt"/>
          <p:cNvGraphicFramePr/>
          <p:nvPr>
            <p:extLst/>
          </p:nvPr>
        </p:nvGraphicFramePr>
        <p:xfrm>
          <a:off x="1144524" y="1527048"/>
          <a:ext cx="9902952" cy="45262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p:cNvSpPr/>
          <p:nvPr/>
        </p:nvSpPr>
        <p:spPr>
          <a:xfrm>
            <a:off x="1755551" y="3559355"/>
            <a:ext cx="1018227" cy="461665"/>
          </a:xfrm>
          <a:prstGeom prst="rect">
            <a:avLst/>
          </a:prstGeom>
          <a:noFill/>
        </p:spPr>
        <p:txBody>
          <a:bodyPr wrap="none" lIns="91440" tIns="45720" rIns="91440" bIns="45720">
            <a:spAutoFit/>
          </a:bodyPr>
          <a:lstStyle/>
          <a:p>
            <a:pPr algn="ctr"/>
            <a:r>
              <a:rPr lang="en-US" sz="2400" b="1" cap="none" spc="0" dirty="0" smtClean="0">
                <a:ln w="22225">
                  <a:solidFill>
                    <a:schemeClr val="accent2"/>
                  </a:solidFill>
                  <a:prstDash val="solid"/>
                </a:ln>
                <a:solidFill>
                  <a:schemeClr val="accent2">
                    <a:lumMod val="40000"/>
                    <a:lumOff val="60000"/>
                  </a:schemeClr>
                </a:solidFill>
                <a:effectLst/>
              </a:rPr>
              <a:t>2008</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6" name="Rectangle 5"/>
          <p:cNvSpPr/>
          <p:nvPr/>
        </p:nvSpPr>
        <p:spPr>
          <a:xfrm>
            <a:off x="3982352" y="3559355"/>
            <a:ext cx="1008609" cy="461665"/>
          </a:xfrm>
          <a:prstGeom prst="rect">
            <a:avLst/>
          </a:prstGeom>
          <a:noFill/>
        </p:spPr>
        <p:txBody>
          <a:bodyPr wrap="none" lIns="91440" tIns="45720" rIns="91440" bIns="45720">
            <a:spAutoFit/>
          </a:bodyPr>
          <a:lstStyle/>
          <a:p>
            <a:pPr algn="ctr"/>
            <a:r>
              <a:rPr lang="en-US" sz="2400" b="1" cap="none" spc="0" dirty="0" smtClean="0">
                <a:ln w="22225">
                  <a:solidFill>
                    <a:schemeClr val="accent2"/>
                  </a:solidFill>
                  <a:prstDash val="solid"/>
                </a:ln>
                <a:solidFill>
                  <a:schemeClr val="accent2">
                    <a:lumMod val="40000"/>
                    <a:lumOff val="60000"/>
                  </a:schemeClr>
                </a:solidFill>
                <a:effectLst/>
              </a:rPr>
              <a:t>2009</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7" name="Rectangle 6"/>
          <p:cNvSpPr/>
          <p:nvPr/>
        </p:nvSpPr>
        <p:spPr>
          <a:xfrm>
            <a:off x="6240412" y="3559354"/>
            <a:ext cx="936475" cy="461665"/>
          </a:xfrm>
          <a:prstGeom prst="rect">
            <a:avLst/>
          </a:prstGeom>
          <a:noFill/>
        </p:spPr>
        <p:txBody>
          <a:bodyPr wrap="none" lIns="91440" tIns="45720" rIns="91440" bIns="45720">
            <a:spAutoFit/>
          </a:bodyPr>
          <a:lstStyle/>
          <a:p>
            <a:pPr algn="ctr"/>
            <a:r>
              <a:rPr lang="en-US" sz="2400" b="1" cap="none" spc="0" dirty="0" smtClean="0">
                <a:ln w="22225">
                  <a:solidFill>
                    <a:schemeClr val="accent2"/>
                  </a:solidFill>
                  <a:prstDash val="solid"/>
                </a:ln>
                <a:solidFill>
                  <a:schemeClr val="accent2">
                    <a:lumMod val="40000"/>
                    <a:lumOff val="60000"/>
                  </a:schemeClr>
                </a:solidFill>
                <a:effectLst/>
              </a:rPr>
              <a:t>2013</a:t>
            </a:r>
            <a:endParaRPr lang="en-US" sz="2400" b="1" cap="none" spc="0" dirty="0">
              <a:ln w="22225">
                <a:solidFill>
                  <a:schemeClr val="accent2"/>
                </a:solidFill>
                <a:prstDash val="solid"/>
              </a:ln>
              <a:solidFill>
                <a:schemeClr val="accent2">
                  <a:lumMod val="40000"/>
                  <a:lumOff val="60000"/>
                </a:schemeClr>
              </a:solidFill>
              <a:effectLst/>
            </a:endParaRPr>
          </a:p>
        </p:txBody>
      </p:sp>
      <p:sp>
        <p:nvSpPr>
          <p:cNvPr id="8" name="Rectangle 7"/>
          <p:cNvSpPr/>
          <p:nvPr/>
        </p:nvSpPr>
        <p:spPr>
          <a:xfrm>
            <a:off x="8466411" y="3524958"/>
            <a:ext cx="928460" cy="461665"/>
          </a:xfrm>
          <a:prstGeom prst="rect">
            <a:avLst/>
          </a:prstGeom>
          <a:noFill/>
        </p:spPr>
        <p:txBody>
          <a:bodyPr wrap="none" lIns="91440" tIns="45720" rIns="91440" bIns="45720">
            <a:spAutoFit/>
          </a:bodyPr>
          <a:lstStyle/>
          <a:p>
            <a:pPr algn="ctr"/>
            <a:r>
              <a:rPr lang="en-US" sz="2400" b="1" cap="none" spc="0" dirty="0" smtClean="0">
                <a:ln w="22225">
                  <a:solidFill>
                    <a:schemeClr val="accent2"/>
                  </a:solidFill>
                  <a:prstDash val="solid"/>
                </a:ln>
                <a:solidFill>
                  <a:schemeClr val="accent2">
                    <a:lumMod val="40000"/>
                    <a:lumOff val="60000"/>
                  </a:schemeClr>
                </a:solidFill>
                <a:effectLst/>
              </a:rPr>
              <a:t>2015</a:t>
            </a:r>
            <a:endParaRPr lang="en-US" sz="2400" b="1" cap="none" spc="0" dirty="0">
              <a:ln w="22225">
                <a:solidFill>
                  <a:schemeClr val="accent2"/>
                </a:solidFill>
                <a:prstDash val="solid"/>
              </a:ln>
              <a:solidFill>
                <a:schemeClr val="accent2">
                  <a:lumMod val="40000"/>
                  <a:lumOff val="60000"/>
                </a:schemeClr>
              </a:solidFill>
              <a:effectLst/>
            </a:endParaRPr>
          </a:p>
        </p:txBody>
      </p:sp>
    </p:spTree>
    <p:extLst>
      <p:ext uri="{BB962C8B-B14F-4D97-AF65-F5344CB8AC3E}">
        <p14:creationId xmlns:p14="http://schemas.microsoft.com/office/powerpoint/2010/main" val="4108641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Management discussion and analysis</a:t>
            </a:r>
            <a:endParaRPr lang="en-IN" dirty="0"/>
          </a:p>
        </p:txBody>
      </p:sp>
      <p:sp>
        <p:nvSpPr>
          <p:cNvPr id="8" name="Content Placeholder 7"/>
          <p:cNvSpPr>
            <a:spLocks noGrp="1"/>
          </p:cNvSpPr>
          <p:nvPr>
            <p:ph idx="1"/>
          </p:nvPr>
        </p:nvSpPr>
        <p:spPr/>
        <p:txBody>
          <a:bodyPr>
            <a:normAutofit/>
          </a:bodyPr>
          <a:lstStyle/>
          <a:p>
            <a:r>
              <a:rPr lang="en-IN" dirty="0" smtClean="0"/>
              <a:t>As on 31</a:t>
            </a:r>
            <a:r>
              <a:rPr lang="en-IN" baseline="30000" dirty="0" smtClean="0"/>
              <a:t>st</a:t>
            </a:r>
            <a:r>
              <a:rPr lang="en-IN" dirty="0" smtClean="0"/>
              <a:t> march 2016, Company has 41 subsidiaries including step subsidiary, 1 joint venture and 1 associate</a:t>
            </a:r>
          </a:p>
          <a:p>
            <a:r>
              <a:rPr lang="en-IN" dirty="0"/>
              <a:t>Fiscal Year (FY) 2015-16 was a year of </a:t>
            </a:r>
            <a:r>
              <a:rPr lang="en-IN" dirty="0" smtClean="0"/>
              <a:t>multiple emotions-cautious </a:t>
            </a:r>
            <a:r>
              <a:rPr lang="en-IN" dirty="0"/>
              <a:t>optimism, uncertainty </a:t>
            </a:r>
            <a:r>
              <a:rPr lang="en-IN" dirty="0" smtClean="0"/>
              <a:t>and pessimism</a:t>
            </a:r>
            <a:r>
              <a:rPr lang="en-IN" dirty="0"/>
              <a:t>, depending on which part of </a:t>
            </a:r>
            <a:r>
              <a:rPr lang="en-IN" dirty="0" smtClean="0"/>
              <a:t>the globe </a:t>
            </a:r>
            <a:r>
              <a:rPr lang="en-IN" dirty="0"/>
              <a:t>you looked </a:t>
            </a:r>
            <a:r>
              <a:rPr lang="en-IN" dirty="0" smtClean="0"/>
              <a:t>at</a:t>
            </a:r>
          </a:p>
          <a:p>
            <a:r>
              <a:rPr lang="en-IN" dirty="0" smtClean="0"/>
              <a:t>Apollo Tyres </a:t>
            </a:r>
            <a:r>
              <a:rPr lang="en-IN" dirty="0"/>
              <a:t>continued to focus on consolidating </a:t>
            </a:r>
            <a:r>
              <a:rPr lang="en-IN" dirty="0" smtClean="0"/>
              <a:t>its leadership </a:t>
            </a:r>
            <a:r>
              <a:rPr lang="en-IN" dirty="0"/>
              <a:t>position in-key </a:t>
            </a:r>
            <a:r>
              <a:rPr lang="en-IN" dirty="0" smtClean="0"/>
              <a:t>markets</a:t>
            </a:r>
          </a:p>
          <a:p>
            <a:r>
              <a:rPr lang="en-IN" dirty="0" smtClean="0"/>
              <a:t>By expanding market </a:t>
            </a:r>
            <a:r>
              <a:rPr lang="en-IN" dirty="0"/>
              <a:t>share through new products, </a:t>
            </a:r>
            <a:r>
              <a:rPr lang="en-IN" dirty="0" smtClean="0"/>
              <a:t>focusing on </a:t>
            </a:r>
            <a:r>
              <a:rPr lang="en-IN" dirty="0"/>
              <a:t>enhancing its retail presence and </a:t>
            </a:r>
            <a:r>
              <a:rPr lang="en-IN" dirty="0" smtClean="0"/>
              <a:t>becoming a </a:t>
            </a:r>
            <a:r>
              <a:rPr lang="en-IN" dirty="0"/>
              <a:t>full range player in India with the launch </a:t>
            </a:r>
            <a:r>
              <a:rPr lang="en-IN" dirty="0" smtClean="0"/>
              <a:t>of the </a:t>
            </a:r>
            <a:r>
              <a:rPr lang="en-IN" dirty="0"/>
              <a:t>two-wheelers tyre </a:t>
            </a:r>
            <a:r>
              <a:rPr lang="en-IN" dirty="0" smtClean="0"/>
              <a:t>range</a:t>
            </a:r>
          </a:p>
          <a:p>
            <a:r>
              <a:rPr lang="en-IN" dirty="0" smtClean="0"/>
              <a:t>Company acquired </a:t>
            </a:r>
            <a:r>
              <a:rPr lang="en-IN" dirty="0"/>
              <a:t>the Germany-based tyre </a:t>
            </a:r>
            <a:r>
              <a:rPr lang="en-IN" dirty="0" smtClean="0"/>
              <a:t>distributor, </a:t>
            </a:r>
            <a:r>
              <a:rPr lang="en-IN" dirty="0" err="1"/>
              <a:t>R</a:t>
            </a:r>
            <a:r>
              <a:rPr lang="en-IN" dirty="0" err="1" smtClean="0"/>
              <a:t>eifencom</a:t>
            </a:r>
            <a:r>
              <a:rPr lang="en-IN" dirty="0" smtClean="0"/>
              <a:t> </a:t>
            </a:r>
            <a:r>
              <a:rPr lang="en-IN" dirty="0"/>
              <a:t>GmbH to support its plan of </a:t>
            </a:r>
            <a:r>
              <a:rPr lang="en-IN" dirty="0" smtClean="0"/>
              <a:t>ramping up </a:t>
            </a:r>
            <a:r>
              <a:rPr lang="en-IN" dirty="0"/>
              <a:t>our retail network in Europe</a:t>
            </a:r>
          </a:p>
        </p:txBody>
      </p:sp>
    </p:spTree>
    <p:extLst>
      <p:ext uri="{BB962C8B-B14F-4D97-AF65-F5344CB8AC3E}">
        <p14:creationId xmlns:p14="http://schemas.microsoft.com/office/powerpoint/2010/main" val="550593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industry overview</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Demand from CV industry accounts for 60% of the tyre Industry demand, and is based on the growth of the economy</a:t>
            </a:r>
          </a:p>
          <a:p>
            <a:r>
              <a:rPr lang="en-IN" dirty="0"/>
              <a:t>Major players are MRF, JK Tyres, and Apollo Tyres &amp; CEAT, which account for 63 per cent of the organized tyre market. The other key players include </a:t>
            </a:r>
            <a:r>
              <a:rPr lang="en-IN" dirty="0" smtClean="0"/>
              <a:t>Modi </a:t>
            </a:r>
            <a:r>
              <a:rPr lang="en-IN" b="1" dirty="0" smtClean="0"/>
              <a:t>Rubber</a:t>
            </a:r>
            <a:r>
              <a:rPr lang="en-IN" dirty="0"/>
              <a:t>, </a:t>
            </a:r>
            <a:r>
              <a:rPr lang="en-IN" dirty="0" err="1"/>
              <a:t>Kesoram</a:t>
            </a:r>
            <a:r>
              <a:rPr lang="en-IN" dirty="0"/>
              <a:t> Industries and Goodyear India, with 11 per cent, 7 per cent and 6 per cent share </a:t>
            </a:r>
            <a:r>
              <a:rPr lang="en-IN" dirty="0" smtClean="0"/>
              <a:t>respectively</a:t>
            </a:r>
          </a:p>
          <a:p>
            <a:r>
              <a:rPr lang="en-IN" dirty="0"/>
              <a:t>With growth slowing and anticipating the shift towards radialisation manufacturers adding capacity of 6 </a:t>
            </a:r>
            <a:r>
              <a:rPr lang="en-IN" dirty="0" err="1"/>
              <a:t>mn</a:t>
            </a:r>
            <a:r>
              <a:rPr lang="en-IN" dirty="0"/>
              <a:t> TBR (truck and bus radial), utilisation rates could be lower in the next 2-3 </a:t>
            </a:r>
            <a:r>
              <a:rPr lang="en-IN" dirty="0" smtClean="0"/>
              <a:t>years</a:t>
            </a:r>
          </a:p>
          <a:p>
            <a:r>
              <a:rPr lang="en-IN" dirty="0" smtClean="0"/>
              <a:t>Also</a:t>
            </a:r>
            <a:r>
              <a:rPr lang="en-IN" dirty="0"/>
              <a:t>, over the past two years the manufacturers have been in a capex phase, companies tried to add radial capacity due to the sudden shift in demand towards radial tyres and hence the industry managed good pricing </a:t>
            </a:r>
            <a:r>
              <a:rPr lang="en-IN" dirty="0" smtClean="0"/>
              <a:t>discipline</a:t>
            </a:r>
          </a:p>
          <a:p>
            <a:r>
              <a:rPr lang="en-IN" dirty="0" smtClean="0"/>
              <a:t>It </a:t>
            </a:r>
            <a:r>
              <a:rPr lang="en-IN" dirty="0"/>
              <a:t>will be interesting to see if this discipline continues with lower utilisations. </a:t>
            </a:r>
            <a:endParaRPr lang="en-IN" dirty="0" smtClean="0"/>
          </a:p>
          <a:p>
            <a:r>
              <a:rPr lang="en-IN" dirty="0"/>
              <a:t>On geographical basis, total income from Asia Pacific, Middle East and Africa (APMEA) operations grew by 5.0% YoY at Rs.25.5 </a:t>
            </a:r>
            <a:r>
              <a:rPr lang="en-IN" dirty="0" err="1"/>
              <a:t>bn</a:t>
            </a:r>
            <a:r>
              <a:rPr lang="en-IN" dirty="0"/>
              <a:t> led by India business. The volume in India business grew by 13% YoY led by strong growth of 32% YoY and 16% YoY in Farm tyre and Passenger Car segment </a:t>
            </a:r>
            <a:r>
              <a:rPr lang="en-IN" dirty="0" smtClean="0"/>
              <a:t>respectively</a:t>
            </a:r>
          </a:p>
          <a:p>
            <a:r>
              <a:rPr lang="en-IN" dirty="0"/>
              <a:t>The management has stated that the demand outlook has improved significantly for both, domestic as well as European operations</a:t>
            </a:r>
          </a:p>
        </p:txBody>
      </p:sp>
    </p:spTree>
    <p:extLst>
      <p:ext uri="{BB962C8B-B14F-4D97-AF65-F5344CB8AC3E}">
        <p14:creationId xmlns:p14="http://schemas.microsoft.com/office/powerpoint/2010/main" val="26674307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Industry Overview</a:t>
            </a:r>
            <a:endParaRPr lang="en-IN" dirty="0"/>
          </a:p>
        </p:txBody>
      </p:sp>
      <p:sp>
        <p:nvSpPr>
          <p:cNvPr id="3" name="Content Placeholder 2"/>
          <p:cNvSpPr>
            <a:spLocks noGrp="1"/>
          </p:cNvSpPr>
          <p:nvPr>
            <p:ph idx="1"/>
          </p:nvPr>
        </p:nvSpPr>
        <p:spPr/>
        <p:txBody>
          <a:bodyPr>
            <a:normAutofit/>
          </a:bodyPr>
          <a:lstStyle/>
          <a:p>
            <a:r>
              <a:rPr lang="en-IN" dirty="0" smtClean="0"/>
              <a:t>Overall </a:t>
            </a:r>
            <a:r>
              <a:rPr lang="en-IN" dirty="0"/>
              <a:t>Indian Auto industry </a:t>
            </a:r>
            <a:r>
              <a:rPr lang="en-IN" dirty="0" smtClean="0"/>
              <a:t>witnessed muted </a:t>
            </a:r>
            <a:r>
              <a:rPr lang="en-IN" dirty="0"/>
              <a:t>growth in FY16 at 3.8% as </a:t>
            </a:r>
            <a:r>
              <a:rPr lang="en-IN" dirty="0" smtClean="0"/>
              <a:t>compared to </a:t>
            </a:r>
            <a:r>
              <a:rPr lang="en-IN" dirty="0"/>
              <a:t>7.2% in </a:t>
            </a:r>
            <a:r>
              <a:rPr lang="en-IN" dirty="0" smtClean="0"/>
              <a:t>FY15</a:t>
            </a:r>
          </a:p>
          <a:p>
            <a:r>
              <a:rPr lang="en-IN" dirty="0"/>
              <a:t>Production levels in the Medium </a:t>
            </a:r>
            <a:r>
              <a:rPr lang="en-IN" dirty="0" smtClean="0"/>
              <a:t>and Heavy </a:t>
            </a:r>
            <a:r>
              <a:rPr lang="en-IN" dirty="0"/>
              <a:t>Commercial Vehicles (M&amp;HCV) </a:t>
            </a:r>
            <a:r>
              <a:rPr lang="en-IN" dirty="0" smtClean="0"/>
              <a:t>segment declined </a:t>
            </a:r>
            <a:r>
              <a:rPr lang="en-IN" dirty="0"/>
              <a:t>by 3%, while the Light Truck </a:t>
            </a:r>
            <a:r>
              <a:rPr lang="en-IN" dirty="0" smtClean="0"/>
              <a:t>segment was </a:t>
            </a:r>
            <a:r>
              <a:rPr lang="en-IN" dirty="0"/>
              <a:t>down by 8.6% in volume </a:t>
            </a:r>
            <a:r>
              <a:rPr lang="en-IN" dirty="0" smtClean="0"/>
              <a:t>terms</a:t>
            </a:r>
          </a:p>
          <a:p>
            <a:r>
              <a:rPr lang="en-IN" dirty="0"/>
              <a:t>The Euro Area grew </a:t>
            </a:r>
            <a:r>
              <a:rPr lang="en-IN" dirty="0" smtClean="0"/>
              <a:t>by 1.6</a:t>
            </a:r>
            <a:r>
              <a:rPr lang="en-IN" dirty="0"/>
              <a:t>%, while the European Union (EU) </a:t>
            </a:r>
            <a:r>
              <a:rPr lang="en-IN" dirty="0" smtClean="0"/>
              <a:t>posted a </a:t>
            </a:r>
            <a:r>
              <a:rPr lang="en-IN" dirty="0"/>
              <a:t>rate of 1.9%, as estimated by </a:t>
            </a:r>
            <a:r>
              <a:rPr lang="en-IN" dirty="0" smtClean="0"/>
              <a:t>Eurostat</a:t>
            </a:r>
          </a:p>
          <a:p>
            <a:r>
              <a:rPr lang="en-IN" dirty="0"/>
              <a:t>The </a:t>
            </a:r>
            <a:r>
              <a:rPr lang="en-IN" dirty="0" smtClean="0"/>
              <a:t>replacement market </a:t>
            </a:r>
            <a:r>
              <a:rPr lang="en-IN" dirty="0"/>
              <a:t>continues to support the tyre makers </a:t>
            </a:r>
            <a:r>
              <a:rPr lang="en-IN" dirty="0" smtClean="0"/>
              <a:t>as it </a:t>
            </a:r>
            <a:r>
              <a:rPr lang="en-IN" dirty="0"/>
              <a:t>accounts for 72% of M&amp;HCV and 57% of </a:t>
            </a:r>
            <a:r>
              <a:rPr lang="en-IN" dirty="0" smtClean="0"/>
              <a:t>PV segments</a:t>
            </a:r>
          </a:p>
          <a:p>
            <a:r>
              <a:rPr lang="en-IN" dirty="0" smtClean="0"/>
              <a:t>Export </a:t>
            </a:r>
            <a:r>
              <a:rPr lang="en-IN" dirty="0"/>
              <a:t>obligation fulfilment </a:t>
            </a:r>
            <a:r>
              <a:rPr lang="en-IN" dirty="0" smtClean="0"/>
              <a:t>period was </a:t>
            </a:r>
            <a:r>
              <a:rPr lang="en-IN" dirty="0"/>
              <a:t>reduced to 6 months from 18 </a:t>
            </a:r>
            <a:r>
              <a:rPr lang="en-IN" dirty="0" smtClean="0"/>
              <a:t>months</a:t>
            </a:r>
          </a:p>
          <a:p>
            <a:r>
              <a:rPr lang="en-IN" dirty="0" smtClean="0"/>
              <a:t>Government restricted </a:t>
            </a:r>
            <a:r>
              <a:rPr lang="en-IN" dirty="0"/>
              <a:t>the imports of natural rubber </a:t>
            </a:r>
            <a:r>
              <a:rPr lang="en-IN" dirty="0" smtClean="0"/>
              <a:t>only to </a:t>
            </a:r>
            <a:r>
              <a:rPr lang="en-IN" dirty="0"/>
              <a:t>Chennai and </a:t>
            </a:r>
            <a:r>
              <a:rPr lang="en-IN" dirty="0" err="1"/>
              <a:t>Nhava</a:t>
            </a:r>
            <a:r>
              <a:rPr lang="en-IN" dirty="0"/>
              <a:t> </a:t>
            </a:r>
            <a:r>
              <a:rPr lang="en-IN" dirty="0" err="1"/>
              <a:t>Sheva</a:t>
            </a:r>
            <a:r>
              <a:rPr lang="en-IN" dirty="0"/>
              <a:t> seaports, </a:t>
            </a:r>
            <a:r>
              <a:rPr lang="en-IN" dirty="0" smtClean="0"/>
              <a:t>thus imposing </a:t>
            </a:r>
            <a:r>
              <a:rPr lang="en-IN" dirty="0"/>
              <a:t>extra logistics and handling costs</a:t>
            </a:r>
          </a:p>
        </p:txBody>
      </p:sp>
    </p:spTree>
    <p:extLst>
      <p:ext uri="{BB962C8B-B14F-4D97-AF65-F5344CB8AC3E}">
        <p14:creationId xmlns:p14="http://schemas.microsoft.com/office/powerpoint/2010/main" val="13315954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335" y="283335"/>
            <a:ext cx="4364865" cy="1197735"/>
          </a:xfrm>
        </p:spPr>
        <p:txBody>
          <a:bodyPr/>
          <a:lstStyle/>
          <a:p>
            <a:r>
              <a:rPr lang="en-IN" sz="3600" dirty="0"/>
              <a:t>Industry</a:t>
            </a:r>
            <a:r>
              <a:rPr lang="en-IN" dirty="0"/>
              <a:t> </a:t>
            </a:r>
            <a:r>
              <a:rPr lang="en-IN" sz="3600" dirty="0"/>
              <a:t>Overview</a:t>
            </a:r>
            <a:endParaRPr lang="en-US" sz="36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41566" y="1944710"/>
            <a:ext cx="7087299" cy="3168202"/>
          </a:xfrm>
        </p:spPr>
      </p:pic>
      <p:sp>
        <p:nvSpPr>
          <p:cNvPr id="4" name="Text Placeholder 3"/>
          <p:cNvSpPr>
            <a:spLocks noGrp="1"/>
          </p:cNvSpPr>
          <p:nvPr>
            <p:ph type="body" sz="half" idx="2"/>
          </p:nvPr>
        </p:nvSpPr>
        <p:spPr>
          <a:xfrm>
            <a:off x="283336" y="2279561"/>
            <a:ext cx="4146996" cy="4378816"/>
          </a:xfrm>
        </p:spPr>
        <p:txBody>
          <a:bodyPr>
            <a:normAutofit/>
          </a:bodyPr>
          <a:lstStyle/>
          <a:p>
            <a:pPr algn="just"/>
            <a:r>
              <a:rPr lang="en-US" sz="1800" dirty="0" smtClean="0"/>
              <a:t>As can be seen that the Industry grew at remarkable </a:t>
            </a:r>
            <a:r>
              <a:rPr lang="en-US" sz="1800" b="1" dirty="0" smtClean="0"/>
              <a:t>12% CAGR </a:t>
            </a:r>
            <a:r>
              <a:rPr lang="en-US" sz="1800" dirty="0" smtClean="0"/>
              <a:t>in India since 2011 as compared to Global </a:t>
            </a:r>
            <a:r>
              <a:rPr lang="en-US" sz="1800" b="1" dirty="0" smtClean="0"/>
              <a:t>4-5% CAGR</a:t>
            </a:r>
            <a:r>
              <a:rPr lang="en-US" sz="1800" dirty="0" smtClean="0"/>
              <a:t>. It is expected that global sector will grow at </a:t>
            </a:r>
            <a:r>
              <a:rPr lang="en-US" sz="1800" b="1" dirty="0" smtClean="0"/>
              <a:t>6.8 %</a:t>
            </a:r>
            <a:r>
              <a:rPr lang="en-US" sz="1800" dirty="0" smtClean="0"/>
              <a:t> till 2022 where as it is predicted that the Indian sector will grow at </a:t>
            </a:r>
            <a:r>
              <a:rPr lang="en-US" sz="1800" b="1" dirty="0" smtClean="0"/>
              <a:t>9%</a:t>
            </a:r>
            <a:r>
              <a:rPr lang="en-US" sz="1800" dirty="0" smtClean="0"/>
              <a:t>. The global industry is also taking a big hit because for rising prices in the global market for raw material which reflects the predictions.</a:t>
            </a:r>
            <a:endParaRPr lang="en-US" sz="1800" dirty="0"/>
          </a:p>
        </p:txBody>
      </p:sp>
    </p:spTree>
    <p:extLst>
      <p:ext uri="{BB962C8B-B14F-4D97-AF65-F5344CB8AC3E}">
        <p14:creationId xmlns:p14="http://schemas.microsoft.com/office/powerpoint/2010/main" val="1723279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2689" y="1203960"/>
            <a:ext cx="10131425" cy="1456267"/>
          </a:xfrm>
        </p:spPr>
        <p:txBody>
          <a:bodyPr/>
          <a:lstStyle/>
          <a:p>
            <a:r>
              <a:rPr lang="en-IN" dirty="0" smtClean="0"/>
              <a:t>SWOT analysis</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9261" y="3769614"/>
            <a:ext cx="4941812" cy="19545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Striped Right Arrow 5"/>
          <p:cNvSpPr/>
          <p:nvPr/>
        </p:nvSpPr>
        <p:spPr>
          <a:xfrm rot="2538996">
            <a:off x="4425695" y="2365631"/>
            <a:ext cx="1645920" cy="977265"/>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576502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1523521" y="4995855"/>
            <a:ext cx="9144960" cy="1862146"/>
          </a:xfrm>
          <a:prstGeom prst="rect">
            <a:avLst/>
          </a:prstGeom>
          <a:gradFill rotWithShape="1">
            <a:gsLst>
              <a:gs pos="61000">
                <a:sysClr val="window" lastClr="FFFFFF">
                  <a:alpha val="0"/>
                </a:sysClr>
              </a:gs>
              <a:gs pos="100000">
                <a:sysClr val="window" lastClr="FFFFFF">
                  <a:lumMod val="85000"/>
                </a:sysClr>
              </a:gs>
            </a:gsLst>
            <a:lin ang="16200000" scaled="0"/>
          </a:gradFill>
          <a:ln w="9525" cap="flat" cmpd="sng" algn="ctr">
            <a:noFill/>
            <a:prstDash val="solid"/>
          </a:ln>
          <a:effectLst/>
        </p:spPr>
        <p:txBody>
          <a:bodyPr anchor="ctr"/>
          <a:lstStyle/>
          <a:p>
            <a:pPr algn="ctr" defTabSz="829544">
              <a:defRPr/>
            </a:pPr>
            <a:endParaRPr lang="en-US" sz="1633" kern="0">
              <a:solidFill>
                <a:sysClr val="window" lastClr="FFFFFF"/>
              </a:solidFill>
              <a:latin typeface="Calibri"/>
            </a:endParaRPr>
          </a:p>
        </p:txBody>
      </p:sp>
      <p:sp>
        <p:nvSpPr>
          <p:cNvPr id="2" name="Rectangle 1"/>
          <p:cNvSpPr/>
          <p:nvPr/>
        </p:nvSpPr>
        <p:spPr bwMode="auto">
          <a:xfrm>
            <a:off x="5335600" y="521046"/>
            <a:ext cx="1429644" cy="1430062"/>
          </a:xfrm>
          <a:prstGeom prst="rect">
            <a:avLst/>
          </a:prstGeom>
          <a:gradFill flip="none" rotWithShape="1">
            <a:gsLst>
              <a:gs pos="0">
                <a:srgbClr val="00B0F0"/>
              </a:gs>
              <a:gs pos="100000">
                <a:srgbClr val="004C84"/>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3" name="TextBox 2"/>
          <p:cNvSpPr txBox="1"/>
          <p:nvPr/>
        </p:nvSpPr>
        <p:spPr>
          <a:xfrm>
            <a:off x="5700034" y="765756"/>
            <a:ext cx="700779" cy="949299"/>
          </a:xfrm>
          <a:prstGeom prst="rect">
            <a:avLst/>
          </a:prstGeom>
          <a:noFill/>
        </p:spPr>
        <p:txBody>
          <a:bodyPr>
            <a:spAutoFit/>
          </a:bodyPr>
          <a:lstStyle/>
          <a:p>
            <a:pPr fontAlgn="base" hangingPunct="0">
              <a:lnSpc>
                <a:spcPct val="93000"/>
              </a:lnSpc>
              <a:spcBef>
                <a:spcPct val="0"/>
              </a:spcBef>
              <a:spcAft>
                <a:spcPct val="0"/>
              </a:spcAft>
              <a:buClr>
                <a:srgbClr val="000000"/>
              </a:buClr>
              <a:buSzPct val="100000"/>
              <a:buFont typeface="Times New Roman" pitchFamily="16" charset="0"/>
              <a:buNone/>
              <a:defRPr/>
            </a:pPr>
            <a:r>
              <a:rPr lang="en-US" sz="5988" b="1" dirty="0">
                <a:solidFill>
                  <a:srgbClr val="000000">
                    <a:lumMod val="75000"/>
                    <a:lumOff val="25000"/>
                  </a:srgbClr>
                </a:solidFill>
                <a:effectLst>
                  <a:innerShdw blurRad="63500" dist="76200" dir="13500000">
                    <a:prstClr val="black">
                      <a:alpha val="38000"/>
                    </a:prstClr>
                  </a:innerShdw>
                </a:effectLst>
                <a:latin typeface="Verdana" pitchFamily="34" charset="0"/>
              </a:rPr>
              <a:t>S</a:t>
            </a:r>
          </a:p>
        </p:txBody>
      </p:sp>
      <p:sp>
        <p:nvSpPr>
          <p:cNvPr id="8" name="Rectangle 7"/>
          <p:cNvSpPr/>
          <p:nvPr/>
        </p:nvSpPr>
        <p:spPr bwMode="auto">
          <a:xfrm>
            <a:off x="3261783" y="2495782"/>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10" name="Rectangle 9"/>
          <p:cNvSpPr/>
          <p:nvPr/>
        </p:nvSpPr>
        <p:spPr bwMode="auto">
          <a:xfrm>
            <a:off x="7317248" y="2495782"/>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13" name="Rectangle 12"/>
          <p:cNvSpPr/>
          <p:nvPr/>
        </p:nvSpPr>
        <p:spPr bwMode="auto">
          <a:xfrm>
            <a:off x="5344817" y="2495782"/>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14" name="Rectangle 13"/>
          <p:cNvSpPr/>
          <p:nvPr/>
        </p:nvSpPr>
        <p:spPr bwMode="auto">
          <a:xfrm>
            <a:off x="1879237" y="4492128"/>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15" name="Rectangle 14"/>
          <p:cNvSpPr/>
          <p:nvPr/>
        </p:nvSpPr>
        <p:spPr bwMode="auto">
          <a:xfrm>
            <a:off x="8999345" y="4492128"/>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16" name="Rectangle 15"/>
          <p:cNvSpPr/>
          <p:nvPr/>
        </p:nvSpPr>
        <p:spPr bwMode="auto">
          <a:xfrm>
            <a:off x="5344817" y="4492128"/>
            <a:ext cx="1429644" cy="1430062"/>
          </a:xfrm>
          <a:prstGeom prst="rect">
            <a:avLst/>
          </a:prstGeom>
          <a:gradFill flip="none" rotWithShape="1">
            <a:gsLst>
              <a:gs pos="0">
                <a:srgbClr val="A5D8F9"/>
              </a:gs>
              <a:gs pos="100000">
                <a:srgbClr val="0070C0"/>
              </a:gs>
            </a:gsLst>
            <a:lin ang="5400000" scaled="0"/>
            <a:tileRect/>
          </a:gradFill>
          <a:ln w="9525" cap="flat" cmpd="sng" algn="ctr">
            <a:noFill/>
            <a:prstDash val="solid"/>
            <a:round/>
            <a:headEnd type="none" w="med" len="med"/>
            <a:tailEnd type="none" w="med" len="med"/>
          </a:ln>
          <a:effectLst/>
          <a:scene3d>
            <a:camera prst="perspectiveBelow">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pitchFamily="16" charset="0"/>
              <a:buNone/>
              <a:defRPr/>
            </a:pPr>
            <a:endParaRPr lang="en-US" sz="1633">
              <a:solidFill>
                <a:srgbClr val="000000"/>
              </a:solidFill>
            </a:endParaRPr>
          </a:p>
        </p:txBody>
      </p:sp>
      <p:sp>
        <p:nvSpPr>
          <p:cNvPr id="5133" name="TextBox 16"/>
          <p:cNvSpPr txBox="1">
            <a:spLocks noChangeArrowheads="1"/>
          </p:cNvSpPr>
          <p:nvPr/>
        </p:nvSpPr>
        <p:spPr bwMode="auto">
          <a:xfrm>
            <a:off x="3274319" y="2520192"/>
            <a:ext cx="1451672" cy="136479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Apollo Tyres has the advantage of a diversified market base across geographies</a:t>
            </a:r>
            <a:endParaRPr lang="en-US" sz="1270" dirty="0">
              <a:solidFill>
                <a:srgbClr val="000000"/>
              </a:solidFill>
            </a:endParaRPr>
          </a:p>
        </p:txBody>
      </p:sp>
      <p:sp>
        <p:nvSpPr>
          <p:cNvPr id="24" name="Nedadbuet pil 24"/>
          <p:cNvSpPr>
            <a:spLocks noChangeArrowheads="1"/>
          </p:cNvSpPr>
          <p:nvPr/>
        </p:nvSpPr>
        <p:spPr bwMode="auto">
          <a:xfrm>
            <a:off x="6879443"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5" name="Nedadbuet pil 24"/>
          <p:cNvSpPr>
            <a:spLocks noChangeArrowheads="1"/>
          </p:cNvSpPr>
          <p:nvPr/>
        </p:nvSpPr>
        <p:spPr bwMode="auto">
          <a:xfrm flipH="1">
            <a:off x="4079789"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6" name="Nedadbuet pil 24"/>
          <p:cNvSpPr>
            <a:spLocks noChangeArrowheads="1"/>
          </p:cNvSpPr>
          <p:nvPr/>
        </p:nvSpPr>
        <p:spPr bwMode="auto">
          <a:xfrm>
            <a:off x="8791964"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7" name="Nedadbuet pil 24"/>
          <p:cNvSpPr>
            <a:spLocks noChangeArrowheads="1"/>
          </p:cNvSpPr>
          <p:nvPr/>
        </p:nvSpPr>
        <p:spPr bwMode="auto">
          <a:xfrm flipH="1">
            <a:off x="2083740"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5138" name="TextBox 27"/>
          <p:cNvSpPr txBox="1">
            <a:spLocks noChangeArrowheads="1"/>
          </p:cNvSpPr>
          <p:nvPr/>
        </p:nvSpPr>
        <p:spPr bwMode="auto">
          <a:xfrm>
            <a:off x="5344817" y="2434698"/>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An entry into the two wheeler tyre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segment, the Company is now a full range tyre player in India</a:t>
            </a:r>
            <a:endParaRPr lang="en-US" sz="1452" dirty="0">
              <a:solidFill>
                <a:srgbClr val="000000"/>
              </a:solidFill>
            </a:endParaRPr>
          </a:p>
        </p:txBody>
      </p:sp>
      <p:sp>
        <p:nvSpPr>
          <p:cNvPr id="5139" name="TextBox 28"/>
          <p:cNvSpPr txBox="1">
            <a:spLocks noChangeArrowheads="1"/>
          </p:cNvSpPr>
          <p:nvPr/>
        </p:nvSpPr>
        <p:spPr bwMode="auto">
          <a:xfrm>
            <a:off x="7305728" y="2602354"/>
            <a:ext cx="1451672" cy="100123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Apollo Tyres enjoys an extensive distribution</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network</a:t>
            </a:r>
            <a:endParaRPr lang="en-US" sz="1452" dirty="0">
              <a:solidFill>
                <a:srgbClr val="000000"/>
              </a:solidFill>
            </a:endParaRPr>
          </a:p>
        </p:txBody>
      </p:sp>
      <p:sp>
        <p:nvSpPr>
          <p:cNvPr id="5140" name="TextBox 29"/>
          <p:cNvSpPr txBox="1">
            <a:spLocks noChangeArrowheads="1"/>
          </p:cNvSpPr>
          <p:nvPr/>
        </p:nvSpPr>
        <p:spPr bwMode="auto">
          <a:xfrm>
            <a:off x="1861957" y="4581122"/>
            <a:ext cx="1451672" cy="136479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 Europe, the Company’s brand ‘</a:t>
            </a:r>
            <a:r>
              <a:rPr lang="en-IN" sz="1270" b="1" dirty="0" err="1">
                <a:solidFill>
                  <a:srgbClr val="000000"/>
                </a:solidFill>
              </a:rPr>
              <a:t>Vredestein</a:t>
            </a:r>
            <a:r>
              <a:rPr lang="en-IN" sz="1270" b="1" dirty="0">
                <a:solidFill>
                  <a:srgbClr val="000000"/>
                </a:solidFill>
              </a:rPr>
              <a:t>’</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has an established presence</a:t>
            </a:r>
            <a:endParaRPr lang="en-US" sz="1452" dirty="0">
              <a:solidFill>
                <a:srgbClr val="000000"/>
              </a:solidFill>
            </a:endParaRPr>
          </a:p>
        </p:txBody>
      </p:sp>
      <p:sp>
        <p:nvSpPr>
          <p:cNvPr id="5141" name="TextBox 30"/>
          <p:cNvSpPr txBox="1">
            <a:spLocks noChangeArrowheads="1"/>
          </p:cNvSpPr>
          <p:nvPr/>
        </p:nvSpPr>
        <p:spPr bwMode="auto">
          <a:xfrm>
            <a:off x="5326960" y="4581122"/>
            <a:ext cx="1451672" cy="136479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Company has acquired </a:t>
            </a:r>
            <a:r>
              <a:rPr lang="en-IN" sz="1270" b="1" dirty="0" err="1">
                <a:solidFill>
                  <a:srgbClr val="000000"/>
                </a:solidFill>
              </a:rPr>
              <a:t>reifencom</a:t>
            </a:r>
            <a:endParaRPr lang="en-IN" sz="1270" b="1" dirty="0">
              <a:solidFill>
                <a:srgbClr val="000000"/>
              </a:solidFill>
            </a:endParaRP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GmbH, one of the largest tyre distributors</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 Germany</a:t>
            </a:r>
            <a:endParaRPr lang="en-US" sz="1452" dirty="0">
              <a:solidFill>
                <a:srgbClr val="000000"/>
              </a:solidFill>
            </a:endParaRPr>
          </a:p>
        </p:txBody>
      </p:sp>
      <p:sp>
        <p:nvSpPr>
          <p:cNvPr id="5142" name="TextBox 31"/>
          <p:cNvSpPr txBox="1">
            <a:spLocks noChangeArrowheads="1"/>
          </p:cNvSpPr>
          <p:nvPr/>
        </p:nvSpPr>
        <p:spPr bwMode="auto">
          <a:xfrm>
            <a:off x="8990705" y="4581122"/>
            <a:ext cx="1451672" cy="118301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modern Research &amp;</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Development (R&amp;D) facilities for PV and CV</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tyres</a:t>
            </a:r>
            <a:endParaRPr lang="en-US" sz="1452" dirty="0">
              <a:solidFill>
                <a:srgbClr val="000000"/>
              </a:solidFill>
            </a:endParaRPr>
          </a:p>
        </p:txBody>
      </p:sp>
      <p:sp>
        <p:nvSpPr>
          <p:cNvPr id="33" name="Down Arrow 32"/>
          <p:cNvSpPr>
            <a:spLocks noChangeArrowheads="1"/>
          </p:cNvSpPr>
          <p:nvPr/>
        </p:nvSpPr>
        <p:spPr bwMode="auto">
          <a:xfrm>
            <a:off x="5879978" y="199461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34" name="Down Arrow 33"/>
          <p:cNvSpPr>
            <a:spLocks noChangeArrowheads="1"/>
          </p:cNvSpPr>
          <p:nvPr/>
        </p:nvSpPr>
        <p:spPr bwMode="auto">
          <a:xfrm>
            <a:off x="5879978" y="399066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5145" name="Tekstboks 3"/>
          <p:cNvSpPr txBox="1">
            <a:spLocks noChangeArrowheads="1"/>
          </p:cNvSpPr>
          <p:nvPr/>
        </p:nvSpPr>
        <p:spPr bwMode="auto">
          <a:xfrm>
            <a:off x="1740984" y="525656"/>
            <a:ext cx="994696"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a:solidFill>
                  <a:srgbClr val="000000"/>
                </a:solidFill>
                <a:latin typeface="Calibri" pitchFamily="34" charset="0"/>
                <a:ea typeface="Calibri" pitchFamily="34" charset="0"/>
                <a:cs typeface="Calibri" pitchFamily="34" charset="0"/>
              </a:rPr>
              <a:t>Strengths</a:t>
            </a:r>
          </a:p>
        </p:txBody>
      </p:sp>
      <p:sp>
        <p:nvSpPr>
          <p:cNvPr id="5146" name="Tekstboks 3"/>
          <p:cNvSpPr txBox="1">
            <a:spLocks noChangeArrowheads="1"/>
          </p:cNvSpPr>
          <p:nvPr/>
        </p:nvSpPr>
        <p:spPr bwMode="auto">
          <a:xfrm>
            <a:off x="1743864" y="247707"/>
            <a:ext cx="1553374"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b="1">
                <a:solidFill>
                  <a:srgbClr val="000000"/>
                </a:solidFill>
                <a:latin typeface="Calibri" pitchFamily="34" charset="0"/>
                <a:ea typeface="Calibri" pitchFamily="34" charset="0"/>
                <a:cs typeface="Calibri" pitchFamily="34" charset="0"/>
              </a:rPr>
              <a:t>SWOT </a:t>
            </a:r>
            <a:r>
              <a:rPr lang="da-DK" sz="1633">
                <a:solidFill>
                  <a:srgbClr val="000000"/>
                </a:solidFill>
                <a:latin typeface="Calibri" pitchFamily="34" charset="0"/>
                <a:ea typeface="Calibri" pitchFamily="34" charset="0"/>
                <a:cs typeface="Calibri" pitchFamily="34" charset="0"/>
              </a:rPr>
              <a:t>ANALYSIS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p:cNvSpPr/>
          <p:nvPr/>
        </p:nvSpPr>
        <p:spPr>
          <a:xfrm>
            <a:off x="1523521" y="4995855"/>
            <a:ext cx="9144960" cy="1862146"/>
          </a:xfrm>
          <a:prstGeom prst="rect">
            <a:avLst/>
          </a:prstGeom>
          <a:gradFill rotWithShape="1">
            <a:gsLst>
              <a:gs pos="61000">
                <a:sysClr val="window" lastClr="FFFFFF">
                  <a:alpha val="0"/>
                </a:sysClr>
              </a:gs>
              <a:gs pos="100000">
                <a:sysClr val="window" lastClr="FFFFFF">
                  <a:lumMod val="85000"/>
                </a:sysClr>
              </a:gs>
            </a:gsLst>
            <a:lin ang="16200000" scaled="0"/>
          </a:gradFill>
          <a:ln w="9525" cap="flat" cmpd="sng" algn="ctr">
            <a:noFill/>
            <a:prstDash val="solid"/>
          </a:ln>
          <a:effectLst/>
        </p:spPr>
        <p:txBody>
          <a:bodyPr anchor="ctr"/>
          <a:lstStyle/>
          <a:p>
            <a:pPr algn="ctr" defTabSz="829544">
              <a:defRPr/>
            </a:pPr>
            <a:endParaRPr lang="en-US" sz="1633" kern="0">
              <a:solidFill>
                <a:sysClr val="window" lastClr="FFFFFF"/>
              </a:solidFill>
              <a:latin typeface="Calibri"/>
            </a:endParaRPr>
          </a:p>
        </p:txBody>
      </p:sp>
      <p:sp>
        <p:nvSpPr>
          <p:cNvPr id="2" name="Rectangle 1"/>
          <p:cNvSpPr/>
          <p:nvPr/>
        </p:nvSpPr>
        <p:spPr bwMode="auto">
          <a:xfrm>
            <a:off x="5335600" y="521046"/>
            <a:ext cx="1429644" cy="1430062"/>
          </a:xfrm>
          <a:prstGeom prst="rect">
            <a:avLst/>
          </a:prstGeom>
          <a:gradFill flip="none" rotWithShape="1">
            <a:gsLst>
              <a:gs pos="0">
                <a:schemeClr val="bg1">
                  <a:lumMod val="75000"/>
                </a:schemeClr>
              </a:gs>
              <a:gs pos="100000">
                <a:schemeClr val="tx1">
                  <a:lumMod val="65000"/>
                  <a:lumOff val="3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3" name="TextBox 2"/>
          <p:cNvSpPr txBox="1"/>
          <p:nvPr/>
        </p:nvSpPr>
        <p:spPr>
          <a:xfrm>
            <a:off x="5570385" y="722551"/>
            <a:ext cx="735411" cy="949299"/>
          </a:xfrm>
          <a:prstGeom prst="rect">
            <a:avLst/>
          </a:prstGeom>
          <a:noFill/>
        </p:spPr>
        <p:txBody>
          <a:bodyPr>
            <a:spAutoFit/>
          </a:bodyPr>
          <a:lstStyle/>
          <a:p>
            <a:pPr fontAlgn="base" hangingPunct="0">
              <a:lnSpc>
                <a:spcPct val="93000"/>
              </a:lnSpc>
              <a:spcBef>
                <a:spcPct val="0"/>
              </a:spcBef>
              <a:spcAft>
                <a:spcPct val="0"/>
              </a:spcAft>
              <a:buClr>
                <a:srgbClr val="000000"/>
              </a:buClr>
              <a:buSzPct val="100000"/>
              <a:buFont typeface="Times New Roman" pitchFamily="16" charset="0"/>
              <a:buNone/>
              <a:defRPr/>
            </a:pPr>
            <a:r>
              <a:rPr lang="en-US" sz="5988" b="1" dirty="0">
                <a:solidFill>
                  <a:srgbClr val="000000">
                    <a:lumMod val="75000"/>
                    <a:lumOff val="25000"/>
                  </a:srgbClr>
                </a:solidFill>
                <a:effectLst>
                  <a:innerShdw blurRad="63500" dist="76200" dir="13500000">
                    <a:prstClr val="black">
                      <a:alpha val="38000"/>
                    </a:prstClr>
                  </a:innerShdw>
                </a:effectLst>
                <a:latin typeface="Verdana" pitchFamily="34" charset="0"/>
              </a:rPr>
              <a:t>W</a:t>
            </a:r>
          </a:p>
        </p:txBody>
      </p:sp>
      <p:sp>
        <p:nvSpPr>
          <p:cNvPr id="8" name="Rectangle 7"/>
          <p:cNvSpPr/>
          <p:nvPr/>
        </p:nvSpPr>
        <p:spPr bwMode="auto">
          <a:xfrm>
            <a:off x="3261783" y="2495782"/>
            <a:ext cx="1429644" cy="1430062"/>
          </a:xfrm>
          <a:prstGeom prst="rect">
            <a:avLst/>
          </a:prstGeom>
          <a:gradFill flip="none" rotWithShape="1">
            <a:gsLst>
              <a:gs pos="0">
                <a:schemeClr val="bg1">
                  <a:lumMod val="8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0" name="Rectangle 9"/>
          <p:cNvSpPr/>
          <p:nvPr/>
        </p:nvSpPr>
        <p:spPr bwMode="auto">
          <a:xfrm>
            <a:off x="7317248" y="2495782"/>
            <a:ext cx="1429644" cy="1430062"/>
          </a:xfrm>
          <a:prstGeom prst="rect">
            <a:avLst/>
          </a:prstGeom>
          <a:gradFill flip="none" rotWithShape="1">
            <a:gsLst>
              <a:gs pos="0">
                <a:schemeClr val="bg1">
                  <a:lumMod val="8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3" name="Rectangle 12"/>
          <p:cNvSpPr/>
          <p:nvPr/>
        </p:nvSpPr>
        <p:spPr bwMode="auto">
          <a:xfrm>
            <a:off x="5344817" y="2482829"/>
            <a:ext cx="1429644" cy="1430062"/>
          </a:xfrm>
          <a:prstGeom prst="rect">
            <a:avLst/>
          </a:prstGeom>
          <a:gradFill flip="none" rotWithShape="1">
            <a:gsLst>
              <a:gs pos="0">
                <a:schemeClr val="bg1">
                  <a:lumMod val="8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6157" name="TextBox 16"/>
          <p:cNvSpPr txBox="1">
            <a:spLocks noChangeArrowheads="1"/>
          </p:cNvSpPr>
          <p:nvPr/>
        </p:nvSpPr>
        <p:spPr bwMode="auto">
          <a:xfrm>
            <a:off x="3271765" y="2441824"/>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Company is currently not present in</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the European OEM market for regular</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passenger car tyres</a:t>
            </a:r>
            <a:endParaRPr lang="en-US" sz="1452" dirty="0">
              <a:solidFill>
                <a:srgbClr val="000000"/>
              </a:solidFill>
            </a:endParaRPr>
          </a:p>
        </p:txBody>
      </p:sp>
      <p:sp>
        <p:nvSpPr>
          <p:cNvPr id="24" name="Nedadbuet pil 24"/>
          <p:cNvSpPr>
            <a:spLocks noChangeArrowheads="1"/>
          </p:cNvSpPr>
          <p:nvPr/>
        </p:nvSpPr>
        <p:spPr bwMode="auto">
          <a:xfrm>
            <a:off x="6879443"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5" name="Nedadbuet pil 24"/>
          <p:cNvSpPr>
            <a:spLocks noChangeArrowheads="1"/>
          </p:cNvSpPr>
          <p:nvPr/>
        </p:nvSpPr>
        <p:spPr bwMode="auto">
          <a:xfrm flipH="1">
            <a:off x="4079789"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6162" name="TextBox 27"/>
          <p:cNvSpPr txBox="1">
            <a:spLocks noChangeArrowheads="1"/>
          </p:cNvSpPr>
          <p:nvPr/>
        </p:nvSpPr>
        <p:spPr bwMode="auto">
          <a:xfrm>
            <a:off x="5344817" y="2423006"/>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needs to establish a larger presence in new growing geographies to reach economic sized operations</a:t>
            </a:r>
            <a:endParaRPr lang="en-US" sz="1452" dirty="0">
              <a:solidFill>
                <a:srgbClr val="000000"/>
              </a:solidFill>
            </a:endParaRPr>
          </a:p>
        </p:txBody>
      </p:sp>
      <p:sp>
        <p:nvSpPr>
          <p:cNvPr id="6163" name="TextBox 28"/>
          <p:cNvSpPr txBox="1">
            <a:spLocks noChangeArrowheads="1"/>
          </p:cNvSpPr>
          <p:nvPr/>
        </p:nvSpPr>
        <p:spPr bwMode="auto">
          <a:xfrm>
            <a:off x="7330061" y="2450840"/>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unable to</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effectively block low quality low cost</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Chinese tyres through Government</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intervention</a:t>
            </a:r>
            <a:endParaRPr lang="en-US" sz="1452" dirty="0">
              <a:solidFill>
                <a:srgbClr val="000000"/>
              </a:solidFill>
            </a:endParaRPr>
          </a:p>
        </p:txBody>
      </p:sp>
      <p:sp>
        <p:nvSpPr>
          <p:cNvPr id="33" name="Down Arrow 32"/>
          <p:cNvSpPr>
            <a:spLocks noChangeArrowheads="1"/>
          </p:cNvSpPr>
          <p:nvPr/>
        </p:nvSpPr>
        <p:spPr bwMode="auto">
          <a:xfrm>
            <a:off x="5879978" y="199461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6169" name="Tekstboks 3"/>
          <p:cNvSpPr txBox="1">
            <a:spLocks noChangeArrowheads="1"/>
          </p:cNvSpPr>
          <p:nvPr/>
        </p:nvSpPr>
        <p:spPr bwMode="auto">
          <a:xfrm>
            <a:off x="1740984" y="525656"/>
            <a:ext cx="1226939"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a:solidFill>
                  <a:srgbClr val="000000"/>
                </a:solidFill>
                <a:latin typeface="Calibri" pitchFamily="34" charset="0"/>
                <a:ea typeface="Calibri" pitchFamily="34" charset="0"/>
                <a:cs typeface="Calibri" pitchFamily="34" charset="0"/>
              </a:rPr>
              <a:t>Weaknesses</a:t>
            </a:r>
          </a:p>
        </p:txBody>
      </p:sp>
      <p:sp>
        <p:nvSpPr>
          <p:cNvPr id="6170" name="Tekstboks 3"/>
          <p:cNvSpPr txBox="1">
            <a:spLocks noChangeArrowheads="1"/>
          </p:cNvSpPr>
          <p:nvPr/>
        </p:nvSpPr>
        <p:spPr bwMode="auto">
          <a:xfrm>
            <a:off x="1743864" y="247707"/>
            <a:ext cx="1553374"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b="1">
                <a:solidFill>
                  <a:srgbClr val="000000"/>
                </a:solidFill>
                <a:latin typeface="Calibri" pitchFamily="34" charset="0"/>
                <a:ea typeface="Calibri" pitchFamily="34" charset="0"/>
                <a:cs typeface="Calibri" pitchFamily="34" charset="0"/>
              </a:rPr>
              <a:t>SWOT </a:t>
            </a:r>
            <a:r>
              <a:rPr lang="da-DK" sz="1633">
                <a:solidFill>
                  <a:srgbClr val="000000"/>
                </a:solidFill>
                <a:latin typeface="Calibri" pitchFamily="34" charset="0"/>
                <a:ea typeface="Calibri" pitchFamily="34" charset="0"/>
                <a:cs typeface="Calibri" pitchFamily="34" charset="0"/>
              </a:rPr>
              <a:t>ANALYSIS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523521" y="4995855"/>
            <a:ext cx="9144960" cy="1862146"/>
          </a:xfrm>
          <a:prstGeom prst="rect">
            <a:avLst/>
          </a:prstGeom>
          <a:gradFill rotWithShape="1">
            <a:gsLst>
              <a:gs pos="61000">
                <a:sysClr val="window" lastClr="FFFFFF">
                  <a:alpha val="0"/>
                </a:sysClr>
              </a:gs>
              <a:gs pos="100000">
                <a:sysClr val="window" lastClr="FFFFFF">
                  <a:lumMod val="85000"/>
                </a:sysClr>
              </a:gs>
            </a:gsLst>
            <a:lin ang="16200000" scaled="0"/>
          </a:gradFill>
          <a:ln w="9525" cap="flat" cmpd="sng" algn="ctr">
            <a:noFill/>
            <a:prstDash val="solid"/>
          </a:ln>
          <a:effectLst/>
        </p:spPr>
        <p:txBody>
          <a:bodyPr anchor="ctr"/>
          <a:lstStyle/>
          <a:p>
            <a:pPr algn="ctr" defTabSz="829544">
              <a:defRPr/>
            </a:pPr>
            <a:endParaRPr lang="en-US" sz="1633" kern="0">
              <a:solidFill>
                <a:sysClr val="window" lastClr="FFFFFF"/>
              </a:solidFill>
              <a:latin typeface="Calibri"/>
            </a:endParaRPr>
          </a:p>
        </p:txBody>
      </p:sp>
      <p:sp>
        <p:nvSpPr>
          <p:cNvPr id="2" name="Rectangle 1"/>
          <p:cNvSpPr/>
          <p:nvPr/>
        </p:nvSpPr>
        <p:spPr bwMode="auto">
          <a:xfrm>
            <a:off x="5335600" y="521046"/>
            <a:ext cx="1429644" cy="1430062"/>
          </a:xfrm>
          <a:prstGeom prst="rect">
            <a:avLst/>
          </a:prstGeom>
          <a:gradFill flip="none" rotWithShape="1">
            <a:gsLst>
              <a:gs pos="0">
                <a:srgbClr val="64D011"/>
              </a:gs>
              <a:gs pos="100000">
                <a:srgbClr val="326609"/>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3" name="TextBox 2"/>
          <p:cNvSpPr txBox="1"/>
          <p:nvPr/>
        </p:nvSpPr>
        <p:spPr>
          <a:xfrm>
            <a:off x="5682717" y="722551"/>
            <a:ext cx="735411" cy="949299"/>
          </a:xfrm>
          <a:prstGeom prst="rect">
            <a:avLst/>
          </a:prstGeom>
          <a:noFill/>
        </p:spPr>
        <p:txBody>
          <a:bodyPr>
            <a:spAutoFit/>
          </a:bodyPr>
          <a:lstStyle/>
          <a:p>
            <a:pPr fontAlgn="base" hangingPunct="0">
              <a:lnSpc>
                <a:spcPct val="93000"/>
              </a:lnSpc>
              <a:spcBef>
                <a:spcPct val="0"/>
              </a:spcBef>
              <a:spcAft>
                <a:spcPct val="0"/>
              </a:spcAft>
              <a:buClr>
                <a:srgbClr val="000000"/>
              </a:buClr>
              <a:buSzPct val="100000"/>
              <a:buFont typeface="Times New Roman" pitchFamily="16" charset="0"/>
              <a:buNone/>
              <a:defRPr/>
            </a:pPr>
            <a:r>
              <a:rPr lang="en-US" sz="5988" b="1" dirty="0">
                <a:solidFill>
                  <a:srgbClr val="000000">
                    <a:lumMod val="75000"/>
                    <a:lumOff val="25000"/>
                  </a:srgbClr>
                </a:solidFill>
                <a:effectLst>
                  <a:innerShdw blurRad="63500" dist="76200" dir="13500000">
                    <a:prstClr val="black">
                      <a:alpha val="38000"/>
                    </a:prstClr>
                  </a:innerShdw>
                </a:effectLst>
                <a:latin typeface="Verdana" pitchFamily="34" charset="0"/>
              </a:rPr>
              <a:t>O</a:t>
            </a:r>
          </a:p>
        </p:txBody>
      </p:sp>
      <p:sp>
        <p:nvSpPr>
          <p:cNvPr id="8" name="Rectangle 7"/>
          <p:cNvSpPr/>
          <p:nvPr/>
        </p:nvSpPr>
        <p:spPr bwMode="auto">
          <a:xfrm>
            <a:off x="3261783" y="2495782"/>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0" name="Rectangle 9"/>
          <p:cNvSpPr/>
          <p:nvPr/>
        </p:nvSpPr>
        <p:spPr bwMode="auto">
          <a:xfrm>
            <a:off x="7317248" y="2495782"/>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3" name="Rectangle 12"/>
          <p:cNvSpPr/>
          <p:nvPr/>
        </p:nvSpPr>
        <p:spPr bwMode="auto">
          <a:xfrm>
            <a:off x="5344817" y="2495782"/>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4" name="Rectangle 13"/>
          <p:cNvSpPr/>
          <p:nvPr/>
        </p:nvSpPr>
        <p:spPr bwMode="auto">
          <a:xfrm>
            <a:off x="1879237" y="4492128"/>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5" name="Rectangle 14"/>
          <p:cNvSpPr/>
          <p:nvPr/>
        </p:nvSpPr>
        <p:spPr bwMode="auto">
          <a:xfrm>
            <a:off x="8999345" y="4492128"/>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6" name="Rectangle 15"/>
          <p:cNvSpPr/>
          <p:nvPr/>
        </p:nvSpPr>
        <p:spPr bwMode="auto">
          <a:xfrm>
            <a:off x="5344817" y="4492128"/>
            <a:ext cx="1429644" cy="1430062"/>
          </a:xfrm>
          <a:prstGeom prst="rect">
            <a:avLst/>
          </a:prstGeom>
          <a:gradFill flip="none" rotWithShape="1">
            <a:gsLst>
              <a:gs pos="0">
                <a:srgbClr val="CEF5A0"/>
              </a:gs>
              <a:gs pos="100000">
                <a:srgbClr val="64D011"/>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7181" name="TextBox 16"/>
          <p:cNvSpPr txBox="1">
            <a:spLocks noChangeArrowheads="1"/>
          </p:cNvSpPr>
          <p:nvPr/>
        </p:nvSpPr>
        <p:spPr bwMode="auto">
          <a:xfrm>
            <a:off x="3266680" y="2443723"/>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 the truck-bus radial segment has a healthy lead over its competition</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 terms of capacity and market share</a:t>
            </a:r>
            <a:endParaRPr lang="en-US" sz="1452" dirty="0">
              <a:solidFill>
                <a:srgbClr val="000000"/>
              </a:solidFill>
            </a:endParaRPr>
          </a:p>
        </p:txBody>
      </p:sp>
      <p:sp>
        <p:nvSpPr>
          <p:cNvPr id="24" name="Nedadbuet pil 24"/>
          <p:cNvSpPr>
            <a:spLocks noChangeArrowheads="1"/>
          </p:cNvSpPr>
          <p:nvPr/>
        </p:nvSpPr>
        <p:spPr bwMode="auto">
          <a:xfrm>
            <a:off x="6879443"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5" name="Nedadbuet pil 24"/>
          <p:cNvSpPr>
            <a:spLocks noChangeArrowheads="1"/>
          </p:cNvSpPr>
          <p:nvPr/>
        </p:nvSpPr>
        <p:spPr bwMode="auto">
          <a:xfrm flipH="1">
            <a:off x="4079789"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6" name="Nedadbuet pil 24"/>
          <p:cNvSpPr>
            <a:spLocks noChangeArrowheads="1"/>
          </p:cNvSpPr>
          <p:nvPr/>
        </p:nvSpPr>
        <p:spPr bwMode="auto">
          <a:xfrm>
            <a:off x="8791964"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7" name="Nedadbuet pil 24"/>
          <p:cNvSpPr>
            <a:spLocks noChangeArrowheads="1"/>
          </p:cNvSpPr>
          <p:nvPr/>
        </p:nvSpPr>
        <p:spPr bwMode="auto">
          <a:xfrm flipH="1">
            <a:off x="2083740"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7186" name="TextBox 27"/>
          <p:cNvSpPr txBox="1">
            <a:spLocks noChangeArrowheads="1"/>
          </p:cNvSpPr>
          <p:nvPr/>
        </p:nvSpPr>
        <p:spPr bwMode="auto">
          <a:xfrm>
            <a:off x="5335601" y="2602354"/>
            <a:ext cx="1451672" cy="100123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PV tyres sold in Europe could develop into a sizable market for the same</a:t>
            </a:r>
            <a:endParaRPr lang="en-US" sz="1452" dirty="0">
              <a:solidFill>
                <a:srgbClr val="000000"/>
              </a:solidFill>
            </a:endParaRPr>
          </a:p>
        </p:txBody>
      </p:sp>
      <p:sp>
        <p:nvSpPr>
          <p:cNvPr id="7187" name="TextBox 28"/>
          <p:cNvSpPr txBox="1">
            <a:spLocks noChangeArrowheads="1"/>
          </p:cNvSpPr>
          <p:nvPr/>
        </p:nvSpPr>
        <p:spPr bwMode="auto">
          <a:xfrm>
            <a:off x="7306234" y="2443723"/>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Positioned to grow in the European</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market due to a new cost competitive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manufacturing facility</a:t>
            </a:r>
            <a:endParaRPr lang="en-US" sz="1452" dirty="0">
              <a:solidFill>
                <a:srgbClr val="000000"/>
              </a:solidFill>
            </a:endParaRPr>
          </a:p>
        </p:txBody>
      </p:sp>
      <p:sp>
        <p:nvSpPr>
          <p:cNvPr id="7188" name="TextBox 29"/>
          <p:cNvSpPr txBox="1">
            <a:spLocks noChangeArrowheads="1"/>
          </p:cNvSpPr>
          <p:nvPr/>
        </p:nvSpPr>
        <p:spPr bwMode="auto">
          <a:xfrm>
            <a:off x="1861957" y="4581122"/>
            <a:ext cx="1451672" cy="136479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Increasing its</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focus towards new geographies like the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Middle East and South East Asia</a:t>
            </a:r>
            <a:endParaRPr lang="en-US" sz="1452" dirty="0">
              <a:solidFill>
                <a:srgbClr val="000000"/>
              </a:solidFill>
            </a:endParaRPr>
          </a:p>
        </p:txBody>
      </p:sp>
      <p:sp>
        <p:nvSpPr>
          <p:cNvPr id="7189" name="TextBox 30"/>
          <p:cNvSpPr txBox="1">
            <a:spLocks noChangeArrowheads="1"/>
          </p:cNvSpPr>
          <p:nvPr/>
        </p:nvSpPr>
        <p:spPr bwMode="auto">
          <a:xfrm>
            <a:off x="5326960" y="4581122"/>
            <a:ext cx="1451672" cy="118301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Can convert excess bias</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capacity into more profitable industrial</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tyres capacity</a:t>
            </a:r>
            <a:endParaRPr lang="en-US" sz="1452" dirty="0">
              <a:solidFill>
                <a:srgbClr val="000000"/>
              </a:solidFill>
            </a:endParaRPr>
          </a:p>
        </p:txBody>
      </p:sp>
      <p:sp>
        <p:nvSpPr>
          <p:cNvPr id="7190" name="TextBox 31"/>
          <p:cNvSpPr txBox="1">
            <a:spLocks noChangeArrowheads="1"/>
          </p:cNvSpPr>
          <p:nvPr/>
        </p:nvSpPr>
        <p:spPr bwMode="auto">
          <a:xfrm>
            <a:off x="9005503" y="4438170"/>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looking at introducing</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products and make an entry into the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European Truck and Bus segments</a:t>
            </a:r>
            <a:endParaRPr lang="en-US" sz="1452" dirty="0">
              <a:solidFill>
                <a:srgbClr val="000000"/>
              </a:solidFill>
            </a:endParaRPr>
          </a:p>
        </p:txBody>
      </p:sp>
      <p:sp>
        <p:nvSpPr>
          <p:cNvPr id="33" name="Down Arrow 32"/>
          <p:cNvSpPr>
            <a:spLocks noChangeArrowheads="1"/>
          </p:cNvSpPr>
          <p:nvPr/>
        </p:nvSpPr>
        <p:spPr bwMode="auto">
          <a:xfrm>
            <a:off x="5879978" y="199461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34" name="Down Arrow 33"/>
          <p:cNvSpPr>
            <a:spLocks noChangeArrowheads="1"/>
          </p:cNvSpPr>
          <p:nvPr/>
        </p:nvSpPr>
        <p:spPr bwMode="auto">
          <a:xfrm>
            <a:off x="5879978" y="399066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7193" name="Tekstboks 3"/>
          <p:cNvSpPr txBox="1">
            <a:spLocks noChangeArrowheads="1"/>
          </p:cNvSpPr>
          <p:nvPr/>
        </p:nvSpPr>
        <p:spPr bwMode="auto">
          <a:xfrm>
            <a:off x="1740984" y="525656"/>
            <a:ext cx="1372492"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a:solidFill>
                  <a:srgbClr val="000000"/>
                </a:solidFill>
                <a:latin typeface="Calibri" pitchFamily="34" charset="0"/>
                <a:ea typeface="Calibri" pitchFamily="34" charset="0"/>
                <a:cs typeface="Calibri" pitchFamily="34" charset="0"/>
              </a:rPr>
              <a:t>Opportunities</a:t>
            </a:r>
          </a:p>
        </p:txBody>
      </p:sp>
      <p:sp>
        <p:nvSpPr>
          <p:cNvPr id="7194" name="Tekstboks 3"/>
          <p:cNvSpPr txBox="1">
            <a:spLocks noChangeArrowheads="1"/>
          </p:cNvSpPr>
          <p:nvPr/>
        </p:nvSpPr>
        <p:spPr bwMode="auto">
          <a:xfrm>
            <a:off x="1743864" y="247707"/>
            <a:ext cx="1553374"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b="1">
                <a:solidFill>
                  <a:srgbClr val="000000"/>
                </a:solidFill>
                <a:latin typeface="Calibri" pitchFamily="34" charset="0"/>
                <a:ea typeface="Calibri" pitchFamily="34" charset="0"/>
                <a:cs typeface="Calibri" pitchFamily="34" charset="0"/>
              </a:rPr>
              <a:t>SWOT </a:t>
            </a:r>
            <a:r>
              <a:rPr lang="da-DK" sz="1633">
                <a:solidFill>
                  <a:srgbClr val="000000"/>
                </a:solidFill>
                <a:latin typeface="Calibri" pitchFamily="34" charset="0"/>
                <a:ea typeface="Calibri" pitchFamily="34" charset="0"/>
                <a:cs typeface="Calibri" pitchFamily="34" charset="0"/>
              </a:rPr>
              <a:t>ANALYSIS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523521" y="4995855"/>
            <a:ext cx="9144960" cy="1862146"/>
          </a:xfrm>
          <a:prstGeom prst="rect">
            <a:avLst/>
          </a:prstGeom>
          <a:gradFill rotWithShape="1">
            <a:gsLst>
              <a:gs pos="61000">
                <a:sysClr val="window" lastClr="FFFFFF">
                  <a:alpha val="0"/>
                </a:sysClr>
              </a:gs>
              <a:gs pos="100000">
                <a:sysClr val="window" lastClr="FFFFFF">
                  <a:lumMod val="85000"/>
                </a:sysClr>
              </a:gs>
            </a:gsLst>
            <a:lin ang="16200000" scaled="0"/>
          </a:gradFill>
          <a:ln w="9525" cap="flat" cmpd="sng" algn="ctr">
            <a:noFill/>
            <a:prstDash val="solid"/>
          </a:ln>
          <a:effectLst/>
        </p:spPr>
        <p:txBody>
          <a:bodyPr anchor="ctr"/>
          <a:lstStyle/>
          <a:p>
            <a:pPr algn="ctr" defTabSz="829544">
              <a:defRPr/>
            </a:pPr>
            <a:endParaRPr lang="en-US" sz="1633" kern="0">
              <a:solidFill>
                <a:sysClr val="window" lastClr="FFFFFF"/>
              </a:solidFill>
              <a:latin typeface="Calibri"/>
            </a:endParaRPr>
          </a:p>
        </p:txBody>
      </p:sp>
      <p:sp>
        <p:nvSpPr>
          <p:cNvPr id="2" name="Rectangle 1"/>
          <p:cNvSpPr/>
          <p:nvPr/>
        </p:nvSpPr>
        <p:spPr bwMode="auto">
          <a:xfrm>
            <a:off x="5335600" y="521046"/>
            <a:ext cx="1429644" cy="1430062"/>
          </a:xfrm>
          <a:prstGeom prst="rect">
            <a:avLst/>
          </a:prstGeom>
          <a:gradFill flip="none" rotWithShape="1">
            <a:gsLst>
              <a:gs pos="0">
                <a:schemeClr val="bg1">
                  <a:lumMod val="85000"/>
                </a:schemeClr>
              </a:gs>
              <a:gs pos="100000">
                <a:schemeClr val="tx1">
                  <a:lumMod val="50000"/>
                  <a:lumOff val="50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3" name="TextBox 2"/>
          <p:cNvSpPr txBox="1"/>
          <p:nvPr/>
        </p:nvSpPr>
        <p:spPr>
          <a:xfrm>
            <a:off x="5717856" y="722551"/>
            <a:ext cx="735411" cy="949299"/>
          </a:xfrm>
          <a:prstGeom prst="rect">
            <a:avLst/>
          </a:prstGeom>
          <a:noFill/>
        </p:spPr>
        <p:txBody>
          <a:bodyPr>
            <a:spAutoFit/>
          </a:bodyPr>
          <a:lstStyle/>
          <a:p>
            <a:pPr fontAlgn="base" hangingPunct="0">
              <a:lnSpc>
                <a:spcPct val="93000"/>
              </a:lnSpc>
              <a:spcBef>
                <a:spcPct val="0"/>
              </a:spcBef>
              <a:spcAft>
                <a:spcPct val="0"/>
              </a:spcAft>
              <a:buClr>
                <a:srgbClr val="000000"/>
              </a:buClr>
              <a:buSzPct val="100000"/>
              <a:buFont typeface="Times New Roman" pitchFamily="16" charset="0"/>
              <a:buNone/>
              <a:defRPr/>
            </a:pPr>
            <a:r>
              <a:rPr lang="en-US" sz="5988" b="1" dirty="0">
                <a:solidFill>
                  <a:srgbClr val="000000">
                    <a:lumMod val="75000"/>
                    <a:lumOff val="25000"/>
                  </a:srgbClr>
                </a:solidFill>
                <a:effectLst>
                  <a:innerShdw blurRad="63500" dist="76200" dir="13500000">
                    <a:prstClr val="black">
                      <a:alpha val="38000"/>
                    </a:prstClr>
                  </a:innerShdw>
                </a:effectLst>
                <a:latin typeface="Verdana" pitchFamily="34" charset="0"/>
              </a:rPr>
              <a:t>T</a:t>
            </a:r>
          </a:p>
        </p:txBody>
      </p:sp>
      <p:sp>
        <p:nvSpPr>
          <p:cNvPr id="8" name="Rectangle 7"/>
          <p:cNvSpPr/>
          <p:nvPr/>
        </p:nvSpPr>
        <p:spPr bwMode="auto">
          <a:xfrm>
            <a:off x="3261783" y="2495782"/>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0" name="Rectangle 9"/>
          <p:cNvSpPr/>
          <p:nvPr/>
        </p:nvSpPr>
        <p:spPr bwMode="auto">
          <a:xfrm>
            <a:off x="7317248" y="2495782"/>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3" name="Rectangle 12"/>
          <p:cNvSpPr/>
          <p:nvPr/>
        </p:nvSpPr>
        <p:spPr bwMode="auto">
          <a:xfrm>
            <a:off x="5344817" y="2482829"/>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4" name="Rectangle 13"/>
          <p:cNvSpPr/>
          <p:nvPr/>
        </p:nvSpPr>
        <p:spPr bwMode="auto">
          <a:xfrm>
            <a:off x="1879237" y="4492128"/>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5" name="Rectangle 14"/>
          <p:cNvSpPr/>
          <p:nvPr/>
        </p:nvSpPr>
        <p:spPr bwMode="auto">
          <a:xfrm>
            <a:off x="8999345" y="4492128"/>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16" name="Rectangle 15"/>
          <p:cNvSpPr/>
          <p:nvPr/>
        </p:nvSpPr>
        <p:spPr bwMode="auto">
          <a:xfrm>
            <a:off x="5357628" y="4487520"/>
            <a:ext cx="1429644" cy="1430062"/>
          </a:xfrm>
          <a:prstGeom prst="rect">
            <a:avLst/>
          </a:prstGeom>
          <a:gradFill flip="none" rotWithShape="1">
            <a:gsLst>
              <a:gs pos="0">
                <a:schemeClr val="bg1">
                  <a:lumMod val="95000"/>
                </a:schemeClr>
              </a:gs>
              <a:gs pos="100000">
                <a:schemeClr val="bg1">
                  <a:lumMod val="65000"/>
                </a:schemeClr>
              </a:gs>
            </a:gsLst>
            <a:lin ang="5400000" scaled="0"/>
            <a:tileRect/>
          </a:gradFill>
          <a:ln w="9525" cap="flat" cmpd="sng" algn="ctr">
            <a:noFill/>
            <a:prstDash val="solid"/>
            <a:round/>
            <a:headEnd type="none" w="med" len="med"/>
            <a:tailEnd type="none" w="med" len="med"/>
          </a:ln>
          <a:effectLst/>
          <a:scene3d>
            <a:camera prst="perspectiveBelow" fov="2700000">
              <a:rot lat="600000" lon="0" rev="0"/>
            </a:camera>
            <a:lightRig rig="threePt" dir="t"/>
          </a:scene3d>
          <a:sp3d extrusionH="1022350"/>
        </p:spPr>
        <p:txBody>
          <a:bodyPr/>
          <a:lstStyle/>
          <a:p>
            <a:pPr fontAlgn="base" hangingPunct="0">
              <a:lnSpc>
                <a:spcPct val="93000"/>
              </a:lnSpc>
              <a:spcBef>
                <a:spcPct val="0"/>
              </a:spcBef>
              <a:spcAft>
                <a:spcPct val="0"/>
              </a:spcAft>
              <a:buClr>
                <a:srgbClr val="000000"/>
              </a:buClr>
              <a:buSzPct val="100000"/>
              <a:buFont typeface="Times New Roman" charset="0"/>
              <a:buNone/>
              <a:defRPr/>
            </a:pPr>
            <a:endParaRPr lang="en-US" sz="1633">
              <a:solidFill>
                <a:srgbClr val="000000"/>
              </a:solidFill>
            </a:endParaRPr>
          </a:p>
        </p:txBody>
      </p:sp>
      <p:sp>
        <p:nvSpPr>
          <p:cNvPr id="8205" name="TextBox 16"/>
          <p:cNvSpPr txBox="1">
            <a:spLocks noChangeArrowheads="1"/>
          </p:cNvSpPr>
          <p:nvPr/>
        </p:nvSpPr>
        <p:spPr bwMode="auto">
          <a:xfrm>
            <a:off x="3270424" y="2602354"/>
            <a:ext cx="1451672" cy="118301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Economic downturn or slowdown in the key markets – Europe and India</a:t>
            </a:r>
            <a:endParaRPr lang="en-US" sz="1452" dirty="0">
              <a:solidFill>
                <a:srgbClr val="000000"/>
              </a:solidFill>
            </a:endParaRPr>
          </a:p>
        </p:txBody>
      </p:sp>
      <p:sp>
        <p:nvSpPr>
          <p:cNvPr id="24" name="Nedadbuet pil 24"/>
          <p:cNvSpPr>
            <a:spLocks noChangeArrowheads="1"/>
          </p:cNvSpPr>
          <p:nvPr/>
        </p:nvSpPr>
        <p:spPr bwMode="auto">
          <a:xfrm>
            <a:off x="6879443"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5" name="Nedadbuet pil 24"/>
          <p:cNvSpPr>
            <a:spLocks noChangeArrowheads="1"/>
          </p:cNvSpPr>
          <p:nvPr/>
        </p:nvSpPr>
        <p:spPr bwMode="auto">
          <a:xfrm flipH="1">
            <a:off x="4079789" y="1159323"/>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6" name="Nedadbuet pil 24"/>
          <p:cNvSpPr>
            <a:spLocks noChangeArrowheads="1"/>
          </p:cNvSpPr>
          <p:nvPr/>
        </p:nvSpPr>
        <p:spPr bwMode="auto">
          <a:xfrm>
            <a:off x="8791964"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27" name="Nedadbuet pil 24"/>
          <p:cNvSpPr>
            <a:spLocks noChangeArrowheads="1"/>
          </p:cNvSpPr>
          <p:nvPr/>
        </p:nvSpPr>
        <p:spPr bwMode="auto">
          <a:xfrm flipH="1">
            <a:off x="2083740" y="3233141"/>
            <a:ext cx="1091635" cy="941859"/>
          </a:xfrm>
          <a:custGeom>
            <a:avLst/>
            <a:gdLst>
              <a:gd name="T0" fmla="*/ 150958 w 1203728"/>
              <a:gd name="T1" fmla="*/ 91380 h 1038311"/>
              <a:gd name="T2" fmla="*/ 301919 w 1203728"/>
              <a:gd name="T3" fmla="*/ 73105 h 1038311"/>
              <a:gd name="T4" fmla="*/ 964522 w 1203728"/>
              <a:gd name="T5" fmla="*/ 530013 h 1038311"/>
              <a:gd name="T6" fmla="*/ 1203325 w 1203728"/>
              <a:gd name="T7" fmla="*/ 530012 h 1038311"/>
              <a:gd name="T8" fmla="*/ 930377 w 1203728"/>
              <a:gd name="T9" fmla="*/ 1038225 h 1038311"/>
              <a:gd name="T10" fmla="*/ 423801 w 1203728"/>
              <a:gd name="T11" fmla="*/ 530012 h 1038311"/>
              <a:gd name="T12" fmla="*/ 662603 w 1203728"/>
              <a:gd name="T13" fmla="*/ 530012 h 1038311"/>
              <a:gd name="T14" fmla="*/ 0 60000 65536"/>
              <a:gd name="T15" fmla="*/ 0 60000 65536"/>
              <a:gd name="T16" fmla="*/ 0 60000 65536"/>
              <a:gd name="T17" fmla="*/ 0 60000 65536"/>
              <a:gd name="T18" fmla="*/ 0 60000 65536"/>
              <a:gd name="T19" fmla="*/ 0 60000 65536"/>
              <a:gd name="T20" fmla="*/ 0 60000 65536"/>
              <a:gd name="T21" fmla="*/ 0 w 1203728"/>
              <a:gd name="T22" fmla="*/ 0 h 1038311"/>
              <a:gd name="T23" fmla="*/ 1203728 w 1203728"/>
              <a:gd name="T24" fmla="*/ 1038311 h 10383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3728" h="1038311" stroke="0" extrusionOk="0">
                <a:moveTo>
                  <a:pt x="930689" y="1038311"/>
                </a:moveTo>
                <a:lnTo>
                  <a:pt x="423943" y="530056"/>
                </a:lnTo>
                <a:lnTo>
                  <a:pt x="662825" y="530056"/>
                </a:lnTo>
                <a:cubicBezTo>
                  <a:pt x="520679" y="245966"/>
                  <a:pt x="269942" y="73111"/>
                  <a:pt x="0" y="73110"/>
                </a:cubicBezTo>
                <a:lnTo>
                  <a:pt x="302020" y="73111"/>
                </a:lnTo>
                <a:cubicBezTo>
                  <a:pt x="571963" y="73111"/>
                  <a:pt x="822699" y="245967"/>
                  <a:pt x="964845" y="530057"/>
                </a:cubicBezTo>
                <a:lnTo>
                  <a:pt x="1203728" y="530056"/>
                </a:lnTo>
                <a:lnTo>
                  <a:pt x="930689" y="1038311"/>
                </a:lnTo>
                <a:close/>
              </a:path>
              <a:path w="1203728" h="1038311" stroke="0" extrusionOk="0">
                <a:moveTo>
                  <a:pt x="151011" y="91389"/>
                </a:moveTo>
                <a:cubicBezTo>
                  <a:pt x="150548" y="91389"/>
                  <a:pt x="143913" y="93355"/>
                  <a:pt x="143050" y="93748"/>
                </a:cubicBezTo>
                <a:lnTo>
                  <a:pt x="145831" y="93748"/>
                </a:lnTo>
                <a:cubicBezTo>
                  <a:pt x="147158" y="93355"/>
                  <a:pt x="150148" y="91782"/>
                  <a:pt x="151011" y="91389"/>
                </a:cubicBezTo>
                <a:close/>
              </a:path>
              <a:path w="1203728" h="1038311" fill="none" extrusionOk="0">
                <a:moveTo>
                  <a:pt x="151009" y="91388"/>
                </a:moveTo>
                <a:cubicBezTo>
                  <a:pt x="182470" y="87580"/>
                  <a:pt x="166381" y="0"/>
                  <a:pt x="302020" y="73111"/>
                </a:cubicBezTo>
                <a:cubicBezTo>
                  <a:pt x="571963" y="73111"/>
                  <a:pt x="822699" y="245967"/>
                  <a:pt x="964845" y="530057"/>
                </a:cubicBezTo>
                <a:lnTo>
                  <a:pt x="1203728" y="530056"/>
                </a:lnTo>
                <a:lnTo>
                  <a:pt x="930689" y="1038311"/>
                </a:lnTo>
                <a:lnTo>
                  <a:pt x="423943" y="530056"/>
                </a:lnTo>
                <a:lnTo>
                  <a:pt x="662825" y="530056"/>
                </a:lnTo>
              </a:path>
            </a:pathLst>
          </a:cu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da-DK" sz="1633" noProof="1">
              <a:solidFill>
                <a:srgbClr val="FFFFFF"/>
              </a:solidFill>
              <a:latin typeface="Calibri" pitchFamily="-65" charset="0"/>
              <a:ea typeface="ＭＳ Ｐゴシック" pitchFamily="-65" charset="-128"/>
            </a:endParaRPr>
          </a:p>
        </p:txBody>
      </p:sp>
      <p:sp>
        <p:nvSpPr>
          <p:cNvPr id="8210" name="TextBox 27"/>
          <p:cNvSpPr txBox="1">
            <a:spLocks noChangeArrowheads="1"/>
          </p:cNvSpPr>
          <p:nvPr/>
        </p:nvSpPr>
        <p:spPr bwMode="auto">
          <a:xfrm>
            <a:off x="5344817" y="2420573"/>
            <a:ext cx="1451672" cy="154657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Increased competition from global players</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like Michelin and Bridgestone in India.</a:t>
            </a:r>
            <a:endParaRPr lang="en-US" sz="1452" dirty="0">
              <a:solidFill>
                <a:srgbClr val="000000"/>
              </a:solidFill>
            </a:endParaRPr>
          </a:p>
        </p:txBody>
      </p:sp>
      <p:sp>
        <p:nvSpPr>
          <p:cNvPr id="8211" name="TextBox 28"/>
          <p:cNvSpPr txBox="1">
            <a:spLocks noChangeArrowheads="1"/>
          </p:cNvSpPr>
          <p:nvPr/>
        </p:nvSpPr>
        <p:spPr bwMode="auto">
          <a:xfrm>
            <a:off x="7305728" y="2602355"/>
            <a:ext cx="1451672" cy="1364797"/>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Increased competition of truck radial</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imports from China resulting in a decline in volumes</a:t>
            </a:r>
            <a:endParaRPr lang="en-US" sz="1452" dirty="0">
              <a:solidFill>
                <a:srgbClr val="000000"/>
              </a:solidFill>
            </a:endParaRPr>
          </a:p>
        </p:txBody>
      </p:sp>
      <p:sp>
        <p:nvSpPr>
          <p:cNvPr id="8212" name="TextBox 29"/>
          <p:cNvSpPr txBox="1">
            <a:spLocks noChangeArrowheads="1"/>
          </p:cNvSpPr>
          <p:nvPr/>
        </p:nvSpPr>
        <p:spPr bwMode="auto">
          <a:xfrm>
            <a:off x="1861957" y="4581122"/>
            <a:ext cx="1451672" cy="118301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Threat of raw material price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volatility, translating into pressured</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margins</a:t>
            </a:r>
            <a:endParaRPr lang="en-US" sz="1452" dirty="0">
              <a:solidFill>
                <a:srgbClr val="000000"/>
              </a:solidFill>
            </a:endParaRPr>
          </a:p>
        </p:txBody>
      </p:sp>
      <p:sp>
        <p:nvSpPr>
          <p:cNvPr id="8213" name="TextBox 30"/>
          <p:cNvSpPr txBox="1">
            <a:spLocks noChangeArrowheads="1"/>
          </p:cNvSpPr>
          <p:nvPr/>
        </p:nvSpPr>
        <p:spPr bwMode="auto">
          <a:xfrm>
            <a:off x="5326960" y="4581122"/>
            <a:ext cx="1451672" cy="100123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Weak Indian currency resulting in pressure</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on margins</a:t>
            </a:r>
            <a:endParaRPr lang="en-US" sz="1452" dirty="0">
              <a:solidFill>
                <a:srgbClr val="000000"/>
              </a:solidFill>
            </a:endParaRPr>
          </a:p>
        </p:txBody>
      </p:sp>
      <p:sp>
        <p:nvSpPr>
          <p:cNvPr id="8214" name="TextBox 31"/>
          <p:cNvSpPr txBox="1">
            <a:spLocks noChangeArrowheads="1"/>
          </p:cNvSpPr>
          <p:nvPr/>
        </p:nvSpPr>
        <p:spPr bwMode="auto">
          <a:xfrm>
            <a:off x="8990705" y="4581122"/>
            <a:ext cx="1451672" cy="1183016"/>
          </a:xfrm>
          <a:prstGeom prst="rect">
            <a:avLst/>
          </a:prstGeom>
          <a:noFill/>
          <a:ln w="9525">
            <a:noFill/>
            <a:miter lim="800000"/>
            <a:headEnd/>
            <a:tailEnd/>
          </a:ln>
        </p:spPr>
        <p:txBody>
          <a:bodyPr>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Growing influence of budget tyres, mainly</a:t>
            </a:r>
          </a:p>
          <a:p>
            <a:pPr fontAlgn="base" hangingPunct="0">
              <a:lnSpc>
                <a:spcPct val="93000"/>
              </a:lnSpc>
              <a:spcBef>
                <a:spcPct val="0"/>
              </a:spcBef>
              <a:spcAft>
                <a:spcPct val="0"/>
              </a:spcAft>
              <a:buClr>
                <a:srgbClr val="000000"/>
              </a:buClr>
              <a:buSzPct val="100000"/>
              <a:buFont typeface="Times New Roman" pitchFamily="-105" charset="0"/>
              <a:buNone/>
            </a:pPr>
            <a:r>
              <a:rPr lang="en-IN" sz="1270" b="1" dirty="0">
                <a:solidFill>
                  <a:srgbClr val="000000"/>
                </a:solidFill>
              </a:rPr>
              <a:t>tier 2 and 3 brands</a:t>
            </a:r>
            <a:endParaRPr lang="en-US" sz="1452" dirty="0">
              <a:solidFill>
                <a:srgbClr val="000000"/>
              </a:solidFill>
            </a:endParaRPr>
          </a:p>
        </p:txBody>
      </p:sp>
      <p:sp>
        <p:nvSpPr>
          <p:cNvPr id="33" name="Down Arrow 32"/>
          <p:cNvSpPr>
            <a:spLocks noChangeArrowheads="1"/>
          </p:cNvSpPr>
          <p:nvPr/>
        </p:nvSpPr>
        <p:spPr bwMode="auto">
          <a:xfrm>
            <a:off x="5879978" y="1994610"/>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34" name="Down Arrow 33"/>
          <p:cNvSpPr>
            <a:spLocks noChangeArrowheads="1"/>
          </p:cNvSpPr>
          <p:nvPr/>
        </p:nvSpPr>
        <p:spPr bwMode="auto">
          <a:xfrm>
            <a:off x="5879978" y="3982019"/>
            <a:ext cx="345636" cy="345636"/>
          </a:xfrm>
          <a:prstGeom prst="downArrow">
            <a:avLst>
              <a:gd name="adj1" fmla="val 50000"/>
              <a:gd name="adj2" fmla="val 50000"/>
            </a:avLst>
          </a:prstGeom>
          <a:gradFill rotWithShape="1">
            <a:gsLst>
              <a:gs pos="0">
                <a:srgbClr val="BFBFBF"/>
              </a:gs>
              <a:gs pos="100000">
                <a:srgbClr val="404040"/>
              </a:gs>
            </a:gsLst>
            <a:lin ang="5400000" scaled="1"/>
          </a:gradFill>
          <a:ln w="9525">
            <a:noFill/>
            <a:miter lim="800000"/>
            <a:headEnd/>
            <a:tailEnd/>
          </a:ln>
          <a:effectLst>
            <a:outerShdw blurRad="63500" dist="25400" dir="3719958" sx="99001" sy="99001" algn="t" rotWithShape="0">
              <a:srgbClr val="000000">
                <a:alpha val="37000"/>
              </a:srgbClr>
            </a:outerShdw>
          </a:effectLst>
        </p:spPr>
        <p:txBody>
          <a:bodyPr anchor="ctr"/>
          <a:lstStyle/>
          <a:p>
            <a:pPr marL="311079" indent="-311079" algn="ctr" fontAlgn="base" hangingPunct="0">
              <a:lnSpc>
                <a:spcPct val="93000"/>
              </a:lnSpc>
              <a:spcBef>
                <a:spcPct val="0"/>
              </a:spcBef>
              <a:spcAft>
                <a:spcPct val="0"/>
              </a:spcAft>
              <a:buClr>
                <a:srgbClr val="000000"/>
              </a:buClr>
              <a:buSzPct val="100000"/>
              <a:defRPr/>
            </a:pPr>
            <a:endParaRPr lang="en-US" sz="1633" noProof="1">
              <a:solidFill>
                <a:srgbClr val="FFFFFF"/>
              </a:solidFill>
              <a:latin typeface="Calibri" pitchFamily="-65" charset="0"/>
              <a:ea typeface="ＭＳ Ｐゴシック" pitchFamily="-65" charset="-128"/>
            </a:endParaRPr>
          </a:p>
        </p:txBody>
      </p:sp>
      <p:sp>
        <p:nvSpPr>
          <p:cNvPr id="8217" name="Tekstboks 3"/>
          <p:cNvSpPr txBox="1">
            <a:spLocks noChangeArrowheads="1"/>
          </p:cNvSpPr>
          <p:nvPr/>
        </p:nvSpPr>
        <p:spPr bwMode="auto">
          <a:xfrm>
            <a:off x="1740984" y="525656"/>
            <a:ext cx="824393"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a:solidFill>
                  <a:srgbClr val="000000"/>
                </a:solidFill>
                <a:latin typeface="Calibri" pitchFamily="34" charset="0"/>
                <a:ea typeface="Calibri" pitchFamily="34" charset="0"/>
                <a:cs typeface="Calibri" pitchFamily="34" charset="0"/>
              </a:rPr>
              <a:t>Threats</a:t>
            </a:r>
          </a:p>
        </p:txBody>
      </p:sp>
      <p:sp>
        <p:nvSpPr>
          <p:cNvPr id="8218" name="Tekstboks 3"/>
          <p:cNvSpPr txBox="1">
            <a:spLocks noChangeArrowheads="1"/>
          </p:cNvSpPr>
          <p:nvPr/>
        </p:nvSpPr>
        <p:spPr bwMode="auto">
          <a:xfrm>
            <a:off x="1743864" y="247707"/>
            <a:ext cx="1553374" cy="326051"/>
          </a:xfrm>
          <a:prstGeom prst="rect">
            <a:avLst/>
          </a:prstGeom>
          <a:noFill/>
          <a:ln w="9525">
            <a:noFill/>
            <a:miter lim="800000"/>
            <a:headEnd/>
            <a:tailEnd/>
          </a:ln>
        </p:spPr>
        <p:txBody>
          <a:bodyPr wrap="none">
            <a:spAutoFit/>
          </a:bodyPr>
          <a:lstStyle/>
          <a:p>
            <a:pPr fontAlgn="base" hangingPunct="0">
              <a:lnSpc>
                <a:spcPct val="93000"/>
              </a:lnSpc>
              <a:spcBef>
                <a:spcPct val="0"/>
              </a:spcBef>
              <a:spcAft>
                <a:spcPct val="0"/>
              </a:spcAft>
              <a:buClr>
                <a:srgbClr val="000000"/>
              </a:buClr>
              <a:buSzPct val="100000"/>
              <a:buFont typeface="Times New Roman" pitchFamily="-105" charset="0"/>
              <a:buNone/>
            </a:pPr>
            <a:r>
              <a:rPr lang="da-DK" sz="1633" b="1">
                <a:solidFill>
                  <a:srgbClr val="000000"/>
                </a:solidFill>
                <a:latin typeface="Calibri" pitchFamily="34" charset="0"/>
                <a:ea typeface="Calibri" pitchFamily="34" charset="0"/>
                <a:cs typeface="Calibri" pitchFamily="34" charset="0"/>
              </a:rPr>
              <a:t>SWOT </a:t>
            </a:r>
            <a:r>
              <a:rPr lang="da-DK" sz="1633">
                <a:solidFill>
                  <a:srgbClr val="000000"/>
                </a:solidFill>
                <a:latin typeface="Calibri" pitchFamily="34" charset="0"/>
                <a:ea typeface="Calibri" pitchFamily="34" charset="0"/>
                <a:cs typeface="Calibri" pitchFamily="34" charset="0"/>
              </a:rPr>
              <a:t>ANALYSIS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1873250" y="185738"/>
            <a:ext cx="8229600" cy="1143000"/>
          </a:xfrm>
        </p:spPr>
        <p:txBody>
          <a:bodyPr/>
          <a:lstStyle/>
          <a:p>
            <a:pPr eaLnBrk="1" hangingPunct="1"/>
            <a:r>
              <a:rPr lang="en-IN" altLang="en-US" b="1" dirty="0" smtClean="0">
                <a:solidFill>
                  <a:schemeClr val="bg1"/>
                </a:solidFill>
              </a:rPr>
              <a:t>Balance Sheet Analysis</a:t>
            </a:r>
          </a:p>
        </p:txBody>
      </p:sp>
      <p:pic>
        <p:nvPicPr>
          <p:cNvPr id="3075"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787858"/>
            <a:ext cx="12192000" cy="4778838"/>
          </a:xfrm>
        </p:spPr>
      </p:pic>
      <p:sp>
        <p:nvSpPr>
          <p:cNvPr id="3076" name="TextBox 4"/>
          <p:cNvSpPr txBox="1">
            <a:spLocks noChangeArrowheads="1"/>
          </p:cNvSpPr>
          <p:nvPr/>
        </p:nvSpPr>
        <p:spPr bwMode="auto">
          <a:xfrm>
            <a:off x="4969895" y="1526382"/>
            <a:ext cx="16557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IN" altLang="en-US" sz="2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Summary</a:t>
            </a:r>
          </a:p>
        </p:txBody>
      </p:sp>
    </p:spTree>
    <p:extLst>
      <p:ext uri="{BB962C8B-B14F-4D97-AF65-F5344CB8AC3E}">
        <p14:creationId xmlns:p14="http://schemas.microsoft.com/office/powerpoint/2010/main" val="8812341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981200" y="0"/>
            <a:ext cx="8229600" cy="1143000"/>
          </a:xfrm>
        </p:spPr>
        <p:txBody>
          <a:bodyPr/>
          <a:lstStyle/>
          <a:p>
            <a:pPr eaLnBrk="1" hangingPunct="1"/>
            <a:r>
              <a:rPr lang="en-IN" altLang="en-US" b="1" dirty="0" smtClean="0">
                <a:solidFill>
                  <a:schemeClr val="bg1"/>
                </a:solidFill>
              </a:rPr>
              <a:t>Equity &amp; Liabilities</a:t>
            </a:r>
          </a:p>
        </p:txBody>
      </p:sp>
      <p:pic>
        <p:nvPicPr>
          <p:cNvPr id="4099"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307816"/>
            <a:ext cx="12192000" cy="5229462"/>
          </a:xfrm>
        </p:spPr>
      </p:pic>
    </p:spTree>
    <p:extLst>
      <p:ext uri="{BB962C8B-B14F-4D97-AF65-F5344CB8AC3E}">
        <p14:creationId xmlns:p14="http://schemas.microsoft.com/office/powerpoint/2010/main" val="261969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09599" y="0"/>
            <a:ext cx="10972800" cy="1143000"/>
          </a:xfrm>
        </p:spPr>
        <p:txBody>
          <a:bodyPr/>
          <a:lstStyle/>
          <a:p>
            <a:pPr eaLnBrk="1" hangingPunct="1"/>
            <a:r>
              <a:rPr lang="en-IN" altLang="en-US" b="1" dirty="0" smtClean="0">
                <a:solidFill>
                  <a:schemeClr val="bg1"/>
                </a:solidFill>
              </a:rPr>
              <a:t>Assets</a:t>
            </a:r>
          </a:p>
        </p:txBody>
      </p:sp>
      <p:pic>
        <p:nvPicPr>
          <p:cNvPr id="5123"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0" y="1269242"/>
            <a:ext cx="12191999" cy="5322627"/>
          </a:xfrm>
        </p:spPr>
      </p:pic>
    </p:spTree>
    <p:extLst>
      <p:ext uri="{BB962C8B-B14F-4D97-AF65-F5344CB8AC3E}">
        <p14:creationId xmlns:p14="http://schemas.microsoft.com/office/powerpoint/2010/main" val="8296995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81200" y="175821"/>
            <a:ext cx="8229600" cy="503238"/>
          </a:xfrm>
        </p:spPr>
        <p:txBody>
          <a:bodyPr/>
          <a:lstStyle/>
          <a:p>
            <a:pPr eaLnBrk="1" hangingPunct="1"/>
            <a:r>
              <a:rPr lang="en-US" altLang="en-US" b="1" dirty="0" smtClean="0">
                <a:solidFill>
                  <a:schemeClr val="bg1"/>
                </a:solidFill>
              </a:rPr>
              <a:t>Profit &amp; Loss Account</a:t>
            </a:r>
          </a:p>
        </p:txBody>
      </p:sp>
      <p:sp>
        <p:nvSpPr>
          <p:cNvPr id="6147" name="Rectangle 3"/>
          <p:cNvSpPr>
            <a:spLocks noGrp="1" noChangeArrowheads="1"/>
          </p:cNvSpPr>
          <p:nvPr>
            <p:ph type="body" idx="1"/>
          </p:nvPr>
        </p:nvSpPr>
        <p:spPr>
          <a:xfrm>
            <a:off x="1981200" y="1855788"/>
            <a:ext cx="8229600" cy="4525962"/>
          </a:xfrm>
        </p:spPr>
        <p:txBody>
          <a:bodyPr/>
          <a:lstStyle/>
          <a:p>
            <a:pPr eaLnBrk="1" hangingPunct="1"/>
            <a:endParaRPr lang="en-US" altLang="en-US" smtClean="0"/>
          </a:p>
        </p:txBody>
      </p:sp>
      <p:pic>
        <p:nvPicPr>
          <p:cNvPr id="614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77922"/>
            <a:ext cx="12192000" cy="5964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02339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187025"/>
            <a:ext cx="10131425" cy="1456267"/>
          </a:xfrm>
        </p:spPr>
        <p:txBody>
          <a:bodyPr/>
          <a:lstStyle/>
          <a:p>
            <a:r>
              <a:rPr lang="en-IN" b="1" dirty="0" smtClean="0">
                <a:solidFill>
                  <a:schemeClr val="bg1"/>
                </a:solidFill>
              </a:rPr>
              <a:t>Asset Equity Liability Comparison</a:t>
            </a:r>
            <a:endParaRPr lang="en-IN" b="1" dirty="0">
              <a:solidFill>
                <a:schemeClr val="bg1"/>
              </a:solidFill>
            </a:endParaRP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10344"/>
            <a:ext cx="12192000" cy="5481526"/>
          </a:xfrm>
          <a:prstGeom prst="rect">
            <a:avLst/>
          </a:prstGeom>
        </p:spPr>
      </p:pic>
    </p:spTree>
    <p:extLst>
      <p:ext uri="{BB962C8B-B14F-4D97-AF65-F5344CB8AC3E}">
        <p14:creationId xmlns:p14="http://schemas.microsoft.com/office/powerpoint/2010/main" val="250796532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146957"/>
            <a:ext cx="10131425" cy="1290674"/>
          </a:xfrm>
        </p:spPr>
        <p:txBody>
          <a:bodyPr/>
          <a:lstStyle/>
          <a:p>
            <a:r>
              <a:rPr lang="en-IN" b="1" dirty="0" smtClean="0">
                <a:solidFill>
                  <a:schemeClr val="bg1"/>
                </a:solidFill>
              </a:rPr>
              <a:t>Liquidity Ratios</a:t>
            </a:r>
            <a:endParaRPr lang="en-IN" b="1" dirty="0">
              <a:solidFill>
                <a:schemeClr val="bg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43718"/>
            <a:ext cx="12192000" cy="5461800"/>
          </a:xfrm>
          <a:prstGeom prst="rect">
            <a:avLst/>
          </a:prstGeom>
        </p:spPr>
      </p:pic>
    </p:spTree>
    <p:extLst>
      <p:ext uri="{BB962C8B-B14F-4D97-AF65-F5344CB8AC3E}">
        <p14:creationId xmlns:p14="http://schemas.microsoft.com/office/powerpoint/2010/main" val="34475963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157048"/>
            <a:ext cx="10131425" cy="1456267"/>
          </a:xfrm>
        </p:spPr>
        <p:txBody>
          <a:bodyPr/>
          <a:lstStyle/>
          <a:p>
            <a:r>
              <a:rPr lang="en-IN" b="1" dirty="0" smtClean="0">
                <a:solidFill>
                  <a:schemeClr val="bg1"/>
                </a:solidFill>
              </a:rPr>
              <a:t>Debt ratio</a:t>
            </a:r>
            <a:endParaRPr lang="en-IN" b="1" dirty="0">
              <a:solidFill>
                <a:schemeClr val="bg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045030"/>
            <a:ext cx="12192000" cy="5533192"/>
          </a:xfrm>
          <a:prstGeom prst="rect">
            <a:avLst/>
          </a:prstGeom>
        </p:spPr>
      </p:pic>
    </p:spTree>
    <p:extLst>
      <p:ext uri="{BB962C8B-B14F-4D97-AF65-F5344CB8AC3E}">
        <p14:creationId xmlns:p14="http://schemas.microsoft.com/office/powerpoint/2010/main" val="391710370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148046"/>
            <a:ext cx="10131425" cy="1456267"/>
          </a:xfrm>
        </p:spPr>
        <p:txBody>
          <a:bodyPr/>
          <a:lstStyle/>
          <a:p>
            <a:r>
              <a:rPr lang="en-IN" b="1" dirty="0" smtClean="0">
                <a:solidFill>
                  <a:schemeClr val="bg1"/>
                </a:solidFill>
              </a:rPr>
              <a:t>Revenue profit and Operating profit</a:t>
            </a:r>
            <a:endParaRPr lang="en-IN" b="1" dirty="0">
              <a:solidFill>
                <a:schemeClr val="bg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26671"/>
            <a:ext cx="12192000" cy="5451549"/>
          </a:xfrm>
          <a:prstGeom prst="rect">
            <a:avLst/>
          </a:prstGeom>
        </p:spPr>
      </p:pic>
    </p:spTree>
    <p:extLst>
      <p:ext uri="{BB962C8B-B14F-4D97-AF65-F5344CB8AC3E}">
        <p14:creationId xmlns:p14="http://schemas.microsoft.com/office/powerpoint/2010/main" val="214892529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52731"/>
            <a:ext cx="10131425" cy="1456267"/>
          </a:xfrm>
        </p:spPr>
        <p:txBody>
          <a:bodyPr/>
          <a:lstStyle/>
          <a:p>
            <a:r>
              <a:rPr lang="en-IN" b="1" dirty="0" smtClean="0">
                <a:solidFill>
                  <a:schemeClr val="bg1"/>
                </a:solidFill>
              </a:rPr>
              <a:t>Sale from different regions</a:t>
            </a:r>
            <a:endParaRPr lang="en-IN" b="1" dirty="0">
              <a:solidFill>
                <a:schemeClr val="bg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03536"/>
            <a:ext cx="12192000" cy="5316296"/>
          </a:xfrm>
          <a:prstGeom prst="rect">
            <a:avLst/>
          </a:prstGeom>
        </p:spPr>
      </p:pic>
    </p:spTree>
    <p:extLst>
      <p:ext uri="{BB962C8B-B14F-4D97-AF65-F5344CB8AC3E}">
        <p14:creationId xmlns:p14="http://schemas.microsoft.com/office/powerpoint/2010/main" val="153874833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30287" y="-166334"/>
            <a:ext cx="10131425" cy="1456267"/>
          </a:xfrm>
        </p:spPr>
        <p:txBody>
          <a:bodyPr/>
          <a:lstStyle/>
          <a:p>
            <a:r>
              <a:rPr lang="en-IN" b="1" dirty="0" smtClean="0">
                <a:solidFill>
                  <a:schemeClr val="bg1"/>
                </a:solidFill>
              </a:rPr>
              <a:t>Sale from Indian region</a:t>
            </a:r>
            <a:endParaRPr lang="en-IN" b="1" dirty="0">
              <a:solidFill>
                <a:schemeClr val="bg1"/>
              </a:solidFill>
            </a:endParaRP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43000"/>
            <a:ext cx="12192000" cy="5513082"/>
          </a:xfrm>
          <a:prstGeom prst="rect">
            <a:avLst/>
          </a:prstGeom>
        </p:spPr>
      </p:pic>
    </p:spTree>
    <p:extLst>
      <p:ext uri="{BB962C8B-B14F-4D97-AF65-F5344CB8AC3E}">
        <p14:creationId xmlns:p14="http://schemas.microsoft.com/office/powerpoint/2010/main" val="19191365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9" y="280417"/>
            <a:ext cx="10131425" cy="899160"/>
          </a:xfrm>
        </p:spPr>
        <p:txBody>
          <a:bodyPr/>
          <a:lstStyle/>
          <a:p>
            <a:r>
              <a:rPr lang="en-IN" dirty="0" smtClean="0"/>
              <a:t>Liquidity &amp; Credit Analysis</a:t>
            </a:r>
            <a:endParaRPr lang="en-IN" dirty="0"/>
          </a:p>
        </p:txBody>
      </p:sp>
      <p:sp>
        <p:nvSpPr>
          <p:cNvPr id="3" name="Content Placeholder 2"/>
          <p:cNvSpPr>
            <a:spLocks noGrp="1"/>
          </p:cNvSpPr>
          <p:nvPr>
            <p:ph idx="1"/>
          </p:nvPr>
        </p:nvSpPr>
        <p:spPr>
          <a:xfrm>
            <a:off x="521209" y="1179577"/>
            <a:ext cx="11000231" cy="5166359"/>
          </a:xfrm>
        </p:spPr>
        <p:txBody>
          <a:bodyPr>
            <a:normAutofit fontScale="85000" lnSpcReduction="20000"/>
          </a:bodyPr>
          <a:lstStyle/>
          <a:p>
            <a:r>
              <a:rPr lang="en-IN" b="1" dirty="0"/>
              <a:t>Current Ratio</a:t>
            </a:r>
            <a:endParaRPr lang="en-IN" dirty="0"/>
          </a:p>
          <a:p>
            <a:r>
              <a:rPr lang="en-IN" dirty="0"/>
              <a:t>Higher current ratio implies healthier short term liquidity comfort level. A current ratio below 1 indicates that the company may not be able to meet its obligations in the short run. However, it is not always a matter of worry if this ratio temporarily falls below 1 as many times companies squeeze out short term cash sources to achieve a capital intensive plan with a longer term outlook. Apollo’s average current ratio over the last 5 financial years has been 1.23 times which indicates that the Company is comfortably placed to pay for its short term obligations.</a:t>
            </a:r>
          </a:p>
          <a:p>
            <a:r>
              <a:rPr lang="en-IN" b="1" dirty="0"/>
              <a:t>Long Term Debt to Equity Ratio</a:t>
            </a:r>
            <a:endParaRPr lang="en-IN" dirty="0"/>
          </a:p>
          <a:p>
            <a:r>
              <a:rPr lang="en-IN" dirty="0"/>
              <a:t>Companies operating with high long term debt to equity on their balance sheets are vulnerable to economic cycles. In times of slowdown in economy, companies with high levels of debt find it increasingly difficult to service the interest on their borrowings as profit margins decline. We believe that long term debt to equity ratio higher than 0.6 – 0.8 could affect the business of a company and its results of operations.</a:t>
            </a:r>
          </a:p>
          <a:p>
            <a:r>
              <a:rPr lang="en-IN" dirty="0"/>
              <a:t>Apollo’s average long term debt to equity ratio over the last 5 financial years has been 0.36 times which indicates that the Company operates with low level of debt.</a:t>
            </a:r>
          </a:p>
          <a:p>
            <a:r>
              <a:rPr lang="en-IN" b="1" dirty="0"/>
              <a:t>Interest Coverage ratio</a:t>
            </a:r>
            <a:endParaRPr lang="en-IN" dirty="0"/>
          </a:p>
          <a:p>
            <a:r>
              <a:rPr lang="en-IN" dirty="0"/>
              <a:t>Interest coverage ratio indicates the comfort with which the company may be able to service the interest expense (i.e. finance charges) on its outstanding debt. Higher interest coverage ratio indicates that the company can easily meet the interest expense pertaining to its debt obligations. In our view, interest coverage ratio of below 1.5 should raise doubts about the company’s ability to meet the expenses on its borrowings. Interest coverage ratio below 1 indicates that the company is just not generating enough to service its debt obligations.</a:t>
            </a:r>
          </a:p>
          <a:p>
            <a:r>
              <a:rPr lang="en-IN" dirty="0"/>
              <a:t>Apollo’s average interest coverage ratio over the last 5 financial years has been 6.23 times which indicates that the Company can meet its debt obligations without any difficulty.</a:t>
            </a:r>
          </a:p>
          <a:p>
            <a:endParaRPr lang="en-IN" dirty="0"/>
          </a:p>
        </p:txBody>
      </p:sp>
    </p:spTree>
    <p:extLst>
      <p:ext uri="{BB962C8B-B14F-4D97-AF65-F5344CB8AC3E}">
        <p14:creationId xmlns:p14="http://schemas.microsoft.com/office/powerpoint/2010/main" val="29676478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Dividend history &amp; Ownership Pattern</a:t>
            </a:r>
            <a:endParaRPr lang="en-IN" dirty="0"/>
          </a:p>
        </p:txBody>
      </p:sp>
      <p:sp>
        <p:nvSpPr>
          <p:cNvPr id="3" name="Content Placeholder 2"/>
          <p:cNvSpPr>
            <a:spLocks noGrp="1"/>
          </p:cNvSpPr>
          <p:nvPr>
            <p:ph idx="1"/>
          </p:nvPr>
        </p:nvSpPr>
        <p:spPr/>
        <p:txBody>
          <a:bodyPr/>
          <a:lstStyle/>
          <a:p>
            <a:r>
              <a:rPr lang="en-IN" dirty="0"/>
              <a:t>The Company has maintained an average dividend yield of </a:t>
            </a:r>
            <a:r>
              <a:rPr lang="en-IN" b="1" dirty="0"/>
              <a:t>0.66 %</a:t>
            </a:r>
            <a:r>
              <a:rPr lang="en-IN" dirty="0"/>
              <a:t> over the last 5 financial years</a:t>
            </a:r>
            <a:r>
              <a:rPr lang="en-IN" dirty="0" smtClean="0"/>
              <a:t>.</a:t>
            </a:r>
          </a:p>
          <a:p>
            <a:r>
              <a:rPr lang="en-IN" dirty="0"/>
              <a:t>In its latest stock exchange filing dated 31 March 2016, Apollo reported a promoter holding of 44.15 %. Large promoter holding indicates conviction and sincerity of the promoters. We believe that a greater than 35 % promoter holding offers safety to the retail investors.</a:t>
            </a:r>
          </a:p>
          <a:p>
            <a:r>
              <a:rPr lang="en-IN" dirty="0"/>
              <a:t>At the same time, institutional holding in the Company stood at 42.63 % (FII+DII). Large institutional holding indicates the confidence of seasoned investors. At the same time, it can also lead to high volatility in the stock price as institutions buy and sell larger stakes than retail participants.</a:t>
            </a:r>
          </a:p>
          <a:p>
            <a:endParaRPr lang="en-IN" dirty="0"/>
          </a:p>
        </p:txBody>
      </p:sp>
    </p:spTree>
    <p:extLst>
      <p:ext uri="{BB962C8B-B14F-4D97-AF65-F5344CB8AC3E}">
        <p14:creationId xmlns:p14="http://schemas.microsoft.com/office/powerpoint/2010/main" val="1115152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77" y="280993"/>
            <a:ext cx="10131425" cy="1456267"/>
          </a:xfrm>
        </p:spPr>
        <p:txBody>
          <a:bodyPr/>
          <a:lstStyle/>
          <a:p>
            <a:r>
              <a:rPr lang="en-IN" dirty="0" smtClean="0"/>
              <a:t>Cash flow graph</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 y="1737260"/>
            <a:ext cx="10058400" cy="4858371"/>
          </a:xfrm>
          <a:prstGeom prst="rect">
            <a:avLst/>
          </a:prstGeom>
        </p:spPr>
      </p:pic>
    </p:spTree>
    <p:extLst>
      <p:ext uri="{BB962C8B-B14F-4D97-AF65-F5344CB8AC3E}">
        <p14:creationId xmlns:p14="http://schemas.microsoft.com/office/powerpoint/2010/main" val="980729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Cash flow statement</a:t>
            </a:r>
            <a:endParaRPr lang="en-IN" dirty="0"/>
          </a:p>
        </p:txBody>
      </p:sp>
      <p:sp>
        <p:nvSpPr>
          <p:cNvPr id="3" name="Content Placeholder 2"/>
          <p:cNvSpPr>
            <a:spLocks noGrp="1"/>
          </p:cNvSpPr>
          <p:nvPr>
            <p:ph idx="1"/>
          </p:nvPr>
        </p:nvSpPr>
        <p:spPr>
          <a:xfrm>
            <a:off x="644769" y="1840523"/>
            <a:ext cx="10172457" cy="3950677"/>
          </a:xfrm>
        </p:spPr>
        <p:txBody>
          <a:bodyPr>
            <a:normAutofit lnSpcReduction="10000"/>
          </a:bodyPr>
          <a:lstStyle/>
          <a:p>
            <a:r>
              <a:rPr lang="en-IN" b="1" dirty="0" smtClean="0"/>
              <a:t>CASH FROM OPERATING ACTIVITIES:</a:t>
            </a:r>
            <a:r>
              <a:rPr lang="en-IN" dirty="0" smtClean="0"/>
              <a:t> </a:t>
            </a:r>
          </a:p>
          <a:p>
            <a:pPr marL="0" indent="0">
              <a:buNone/>
            </a:pPr>
            <a:r>
              <a:rPr lang="en-IN" b="1" dirty="0" smtClean="0"/>
              <a:t>Cash from operating activities have seen the increase by 88.41% from FY15 to FY16. The amount of increase in the inflow through operating activities is quite huge.</a:t>
            </a:r>
          </a:p>
          <a:p>
            <a:r>
              <a:rPr lang="en-IN" b="1" dirty="0" smtClean="0"/>
              <a:t>CASH FROM INVESTING ACTIVITIES:</a:t>
            </a:r>
          </a:p>
          <a:p>
            <a:pPr marL="0" indent="0">
              <a:buNone/>
            </a:pPr>
            <a:r>
              <a:rPr lang="en-IN" b="1" dirty="0" smtClean="0"/>
              <a:t>The amount of cash which have been invested in this year has been 3 times of what it was in the previous year. The company in November 2016 decided to set up a manufacturing plant with investment of  ₹525 cr. </a:t>
            </a:r>
          </a:p>
          <a:p>
            <a:r>
              <a:rPr lang="en-IN" b="1" dirty="0" smtClean="0"/>
              <a:t>CASH FROM FINANCING ACTIVITIES: </a:t>
            </a:r>
          </a:p>
          <a:p>
            <a:pPr marL="0" indent="0">
              <a:buNone/>
            </a:pPr>
            <a:r>
              <a:rPr lang="en-IN" b="1" dirty="0" smtClean="0"/>
              <a:t>Now financing activities takes into account the interest payments, loans taken, dividends paid. This year the company has seen Cash-In which means the company might have taken loans for its financing.</a:t>
            </a:r>
          </a:p>
          <a:p>
            <a:pPr marL="0" indent="0">
              <a:buNone/>
            </a:pPr>
            <a:r>
              <a:rPr lang="en-IN" b="1" dirty="0" smtClean="0"/>
              <a:t>  </a:t>
            </a:r>
          </a:p>
          <a:p>
            <a:pPr marL="0" indent="0">
              <a:buNone/>
            </a:pPr>
            <a:r>
              <a:rPr lang="en-IN" b="1" dirty="0" smtClean="0"/>
              <a:t> </a:t>
            </a:r>
            <a:endParaRPr lang="en-IN" b="1" dirty="0"/>
          </a:p>
        </p:txBody>
      </p:sp>
    </p:spTree>
    <p:extLst>
      <p:ext uri="{BB962C8B-B14F-4D97-AF65-F5344CB8AC3E}">
        <p14:creationId xmlns:p14="http://schemas.microsoft.com/office/powerpoint/2010/main" val="850880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 Price Performance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62" y="1908804"/>
            <a:ext cx="11824019" cy="4775331"/>
          </a:xfrm>
          <a:prstGeom prst="rect">
            <a:avLst/>
          </a:prstGeom>
        </p:spPr>
      </p:pic>
    </p:spTree>
    <p:extLst>
      <p:ext uri="{BB962C8B-B14F-4D97-AF65-F5344CB8AC3E}">
        <p14:creationId xmlns:p14="http://schemas.microsoft.com/office/powerpoint/2010/main" val="4099057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are we against our peers….!!!</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6645" y="2402915"/>
            <a:ext cx="5769736" cy="3839497"/>
          </a:xfrm>
          <a:prstGeom prst="rect">
            <a:avLst/>
          </a:prstGeom>
        </p:spPr>
      </p:pic>
    </p:spTree>
    <p:extLst>
      <p:ext uri="{BB962C8B-B14F-4D97-AF65-F5344CB8AC3E}">
        <p14:creationId xmlns:p14="http://schemas.microsoft.com/office/powerpoint/2010/main" val="3549758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917" y="2112134"/>
            <a:ext cx="10358459" cy="3986221"/>
          </a:xfrm>
          <a:prstGeom prst="rect">
            <a:avLst/>
          </a:prstGeom>
        </p:spPr>
      </p:pic>
      <p:sp>
        <p:nvSpPr>
          <p:cNvPr id="3" name="TextBox 2"/>
          <p:cNvSpPr txBox="1"/>
          <p:nvPr/>
        </p:nvSpPr>
        <p:spPr>
          <a:xfrm>
            <a:off x="1803042" y="515155"/>
            <a:ext cx="8229600" cy="707886"/>
          </a:xfrm>
          <a:prstGeom prst="rect">
            <a:avLst/>
          </a:prstGeom>
          <a:noFill/>
        </p:spPr>
        <p:txBody>
          <a:bodyPr wrap="square" rtlCol="0">
            <a:spAutoFit/>
          </a:bodyPr>
          <a:lstStyle/>
          <a:p>
            <a:r>
              <a:rPr lang="en-US" sz="4000" dirty="0" smtClean="0"/>
              <a:t>Market Trends Among the competitors </a:t>
            </a:r>
            <a:endParaRPr lang="en-US" sz="4000" dirty="0"/>
          </a:p>
        </p:txBody>
      </p:sp>
    </p:spTree>
    <p:extLst>
      <p:ext uri="{BB962C8B-B14F-4D97-AF65-F5344CB8AC3E}">
        <p14:creationId xmlns:p14="http://schemas.microsoft.com/office/powerpoint/2010/main" val="3751377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Competition</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881" y="1606392"/>
            <a:ext cx="11526591" cy="4955195"/>
          </a:xfrm>
          <a:prstGeom prst="rect">
            <a:avLst/>
          </a:prstGeom>
        </p:spPr>
      </p:pic>
    </p:spTree>
    <p:extLst>
      <p:ext uri="{BB962C8B-B14F-4D97-AF65-F5344CB8AC3E}">
        <p14:creationId xmlns:p14="http://schemas.microsoft.com/office/powerpoint/2010/main" val="1115635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Horizontal analysis of Apollo tyres ltd. , Mrf tyres ltd &amp; ceat tyres ltd.</a:t>
            </a:r>
            <a:endParaRPr lang="en-IN" dirty="0"/>
          </a:p>
        </p:txBody>
      </p:sp>
      <p:sp>
        <p:nvSpPr>
          <p:cNvPr id="3" name="Content Placeholder 2"/>
          <p:cNvSpPr>
            <a:spLocks noGrp="1"/>
          </p:cNvSpPr>
          <p:nvPr>
            <p:ph idx="1"/>
          </p:nvPr>
        </p:nvSpPr>
        <p:spPr>
          <a:xfrm>
            <a:off x="620577" y="1964759"/>
            <a:ext cx="10131425" cy="1030901"/>
          </a:xfrm>
        </p:spPr>
        <p:txBody>
          <a:bodyPr/>
          <a:lstStyle/>
          <a:p>
            <a:r>
              <a:rPr lang="en-IN" dirty="0" smtClean="0"/>
              <a:t>Comparing the percentage change in ratios of current year with previous year for Apollo tyres ltd and its competitors MRF tyres ltd. &amp; CEAT tyres ltd. </a:t>
            </a:r>
            <a:endParaRPr lang="en-IN" dirty="0"/>
          </a:p>
        </p:txBody>
      </p:sp>
      <p:sp>
        <p:nvSpPr>
          <p:cNvPr id="4" name="TextBox 3"/>
          <p:cNvSpPr txBox="1"/>
          <p:nvPr/>
        </p:nvSpPr>
        <p:spPr>
          <a:xfrm>
            <a:off x="3182112" y="3474720"/>
            <a:ext cx="1665071" cy="369332"/>
          </a:xfrm>
          <a:prstGeom prst="rect">
            <a:avLst/>
          </a:prstGeom>
          <a:noFill/>
        </p:spPr>
        <p:txBody>
          <a:bodyPr wrap="none" rtlCol="0">
            <a:spAutoFit/>
          </a:bodyPr>
          <a:lstStyle/>
          <a:p>
            <a:r>
              <a:rPr lang="en-IN" dirty="0"/>
              <a:t>Apollo tyres ltd.</a:t>
            </a:r>
          </a:p>
        </p:txBody>
      </p:sp>
      <p:sp>
        <p:nvSpPr>
          <p:cNvPr id="5" name="Rectangle 4"/>
          <p:cNvSpPr/>
          <p:nvPr/>
        </p:nvSpPr>
        <p:spPr>
          <a:xfrm>
            <a:off x="6190045" y="3474720"/>
            <a:ext cx="1488741" cy="369332"/>
          </a:xfrm>
          <a:prstGeom prst="rect">
            <a:avLst/>
          </a:prstGeom>
        </p:spPr>
        <p:txBody>
          <a:bodyPr wrap="none">
            <a:spAutoFit/>
          </a:bodyPr>
          <a:lstStyle/>
          <a:p>
            <a:r>
              <a:rPr lang="en-IN" dirty="0" smtClean="0"/>
              <a:t>MRF tyres ltd.</a:t>
            </a:r>
            <a:endParaRPr lang="en-IN" dirty="0"/>
          </a:p>
        </p:txBody>
      </p:sp>
      <p:sp>
        <p:nvSpPr>
          <p:cNvPr id="6" name="Rectangle 5"/>
          <p:cNvSpPr/>
          <p:nvPr/>
        </p:nvSpPr>
        <p:spPr>
          <a:xfrm>
            <a:off x="9021648" y="3474720"/>
            <a:ext cx="1521122" cy="369332"/>
          </a:xfrm>
          <a:prstGeom prst="rect">
            <a:avLst/>
          </a:prstGeom>
        </p:spPr>
        <p:txBody>
          <a:bodyPr wrap="none">
            <a:spAutoFit/>
          </a:bodyPr>
          <a:lstStyle/>
          <a:p>
            <a:r>
              <a:rPr lang="en-IN" dirty="0" smtClean="0"/>
              <a:t>CEAT </a:t>
            </a:r>
            <a:r>
              <a:rPr lang="en-IN" dirty="0"/>
              <a:t>tyres ltd.</a:t>
            </a:r>
          </a:p>
        </p:txBody>
      </p:sp>
      <p:sp>
        <p:nvSpPr>
          <p:cNvPr id="7" name="TextBox 6"/>
          <p:cNvSpPr txBox="1"/>
          <p:nvPr/>
        </p:nvSpPr>
        <p:spPr>
          <a:xfrm>
            <a:off x="620577" y="4145804"/>
            <a:ext cx="2561535" cy="369332"/>
          </a:xfrm>
          <a:prstGeom prst="rect">
            <a:avLst/>
          </a:prstGeom>
          <a:noFill/>
        </p:spPr>
        <p:txBody>
          <a:bodyPr wrap="none" rtlCol="0">
            <a:spAutoFit/>
          </a:bodyPr>
          <a:lstStyle/>
          <a:p>
            <a:r>
              <a:rPr lang="en-IN" dirty="0" smtClean="0"/>
              <a:t>Revenue from operations</a:t>
            </a:r>
            <a:endParaRPr lang="en-IN" dirty="0"/>
          </a:p>
        </p:txBody>
      </p:sp>
      <p:sp>
        <p:nvSpPr>
          <p:cNvPr id="8" name="TextBox 7"/>
          <p:cNvSpPr txBox="1"/>
          <p:nvPr/>
        </p:nvSpPr>
        <p:spPr>
          <a:xfrm>
            <a:off x="561651" y="4906110"/>
            <a:ext cx="2620461" cy="369332"/>
          </a:xfrm>
          <a:prstGeom prst="rect">
            <a:avLst/>
          </a:prstGeom>
          <a:noFill/>
        </p:spPr>
        <p:txBody>
          <a:bodyPr wrap="none" rtlCol="0">
            <a:spAutoFit/>
          </a:bodyPr>
          <a:lstStyle/>
          <a:p>
            <a:r>
              <a:rPr lang="en-IN" dirty="0" smtClean="0"/>
              <a:t>Purchase of Stock in trade</a:t>
            </a:r>
            <a:endParaRPr lang="en-IN" dirty="0"/>
          </a:p>
        </p:txBody>
      </p:sp>
      <p:sp>
        <p:nvSpPr>
          <p:cNvPr id="9" name="Rectangle 8"/>
          <p:cNvSpPr/>
          <p:nvPr/>
        </p:nvSpPr>
        <p:spPr>
          <a:xfrm>
            <a:off x="1836551" y="5754502"/>
            <a:ext cx="1345561" cy="369332"/>
          </a:xfrm>
          <a:prstGeom prst="rect">
            <a:avLst/>
          </a:prstGeom>
        </p:spPr>
        <p:txBody>
          <a:bodyPr wrap="none">
            <a:spAutoFit/>
          </a:bodyPr>
          <a:lstStyle/>
          <a:p>
            <a:r>
              <a:rPr lang="en-IN" dirty="0" smtClean="0"/>
              <a:t>Finance cost</a:t>
            </a:r>
            <a:endParaRPr lang="en-IN" dirty="0"/>
          </a:p>
        </p:txBody>
      </p:sp>
      <p:sp>
        <p:nvSpPr>
          <p:cNvPr id="10" name="Rectangle 9"/>
          <p:cNvSpPr/>
          <p:nvPr/>
        </p:nvSpPr>
        <p:spPr>
          <a:xfrm>
            <a:off x="3600110" y="4145804"/>
            <a:ext cx="829073" cy="369332"/>
          </a:xfrm>
          <a:prstGeom prst="rect">
            <a:avLst/>
          </a:prstGeom>
        </p:spPr>
        <p:txBody>
          <a:bodyPr wrap="none">
            <a:spAutoFit/>
          </a:bodyPr>
          <a:lstStyle/>
          <a:p>
            <a:r>
              <a:rPr lang="en-IN" dirty="0" smtClean="0"/>
              <a:t>-7.99%</a:t>
            </a:r>
            <a:endParaRPr lang="en-IN" dirty="0"/>
          </a:p>
        </p:txBody>
      </p:sp>
      <p:sp>
        <p:nvSpPr>
          <p:cNvPr id="11" name="Rectangle 10"/>
          <p:cNvSpPr/>
          <p:nvPr/>
        </p:nvSpPr>
        <p:spPr>
          <a:xfrm>
            <a:off x="6519878" y="4166153"/>
            <a:ext cx="928459" cy="369332"/>
          </a:xfrm>
          <a:prstGeom prst="rect">
            <a:avLst/>
          </a:prstGeom>
        </p:spPr>
        <p:txBody>
          <a:bodyPr wrap="none">
            <a:spAutoFit/>
          </a:bodyPr>
          <a:lstStyle/>
          <a:p>
            <a:r>
              <a:rPr lang="en-IN" dirty="0"/>
              <a:t> </a:t>
            </a:r>
            <a:r>
              <a:rPr lang="en-IN" dirty="0" smtClean="0"/>
              <a:t>54.01%</a:t>
            </a:r>
            <a:endParaRPr lang="en-IN" dirty="0"/>
          </a:p>
        </p:txBody>
      </p:sp>
      <p:sp>
        <p:nvSpPr>
          <p:cNvPr id="12" name="Rectangle 11"/>
          <p:cNvSpPr/>
          <p:nvPr/>
        </p:nvSpPr>
        <p:spPr>
          <a:xfrm>
            <a:off x="9367672" y="4145804"/>
            <a:ext cx="829073" cy="369332"/>
          </a:xfrm>
          <a:prstGeom prst="rect">
            <a:avLst/>
          </a:prstGeom>
        </p:spPr>
        <p:txBody>
          <a:bodyPr wrap="none">
            <a:spAutoFit/>
          </a:bodyPr>
          <a:lstStyle/>
          <a:p>
            <a:r>
              <a:rPr lang="en-IN" dirty="0" smtClean="0"/>
              <a:t>-1.28%</a:t>
            </a:r>
            <a:endParaRPr lang="en-IN" dirty="0"/>
          </a:p>
        </p:txBody>
      </p:sp>
      <p:sp>
        <p:nvSpPr>
          <p:cNvPr id="13" name="Rectangle 12"/>
          <p:cNvSpPr/>
          <p:nvPr/>
        </p:nvSpPr>
        <p:spPr>
          <a:xfrm>
            <a:off x="3600109" y="4906110"/>
            <a:ext cx="811441" cy="369332"/>
          </a:xfrm>
          <a:prstGeom prst="rect">
            <a:avLst/>
          </a:prstGeom>
        </p:spPr>
        <p:txBody>
          <a:bodyPr wrap="none">
            <a:spAutoFit/>
          </a:bodyPr>
          <a:lstStyle/>
          <a:p>
            <a:r>
              <a:rPr lang="en-IN" dirty="0"/>
              <a:t> </a:t>
            </a:r>
            <a:r>
              <a:rPr lang="en-IN" dirty="0" smtClean="0"/>
              <a:t>3.20%</a:t>
            </a:r>
            <a:endParaRPr lang="en-IN" dirty="0"/>
          </a:p>
        </p:txBody>
      </p:sp>
      <p:sp>
        <p:nvSpPr>
          <p:cNvPr id="14" name="Rectangle 13"/>
          <p:cNvSpPr/>
          <p:nvPr/>
        </p:nvSpPr>
        <p:spPr>
          <a:xfrm>
            <a:off x="3600108" y="5754502"/>
            <a:ext cx="829073" cy="369332"/>
          </a:xfrm>
          <a:prstGeom prst="rect">
            <a:avLst/>
          </a:prstGeom>
        </p:spPr>
        <p:txBody>
          <a:bodyPr wrap="none">
            <a:spAutoFit/>
          </a:bodyPr>
          <a:lstStyle/>
          <a:p>
            <a:r>
              <a:rPr lang="en-IN" dirty="0" smtClean="0"/>
              <a:t>-49.9%</a:t>
            </a:r>
            <a:endParaRPr lang="en-IN" dirty="0"/>
          </a:p>
        </p:txBody>
      </p:sp>
      <p:sp>
        <p:nvSpPr>
          <p:cNvPr id="15" name="Rectangle 14"/>
          <p:cNvSpPr/>
          <p:nvPr/>
        </p:nvSpPr>
        <p:spPr>
          <a:xfrm>
            <a:off x="6578387" y="4906110"/>
            <a:ext cx="946093" cy="369332"/>
          </a:xfrm>
          <a:prstGeom prst="rect">
            <a:avLst/>
          </a:prstGeom>
        </p:spPr>
        <p:txBody>
          <a:bodyPr wrap="none">
            <a:spAutoFit/>
          </a:bodyPr>
          <a:lstStyle/>
          <a:p>
            <a:r>
              <a:rPr lang="en-IN" dirty="0" smtClean="0"/>
              <a:t>-35.93%</a:t>
            </a:r>
            <a:endParaRPr lang="en-IN" dirty="0"/>
          </a:p>
        </p:txBody>
      </p:sp>
      <p:sp>
        <p:nvSpPr>
          <p:cNvPr id="16" name="Rectangle 15"/>
          <p:cNvSpPr/>
          <p:nvPr/>
        </p:nvSpPr>
        <p:spPr>
          <a:xfrm>
            <a:off x="9367672" y="4906110"/>
            <a:ext cx="811441" cy="369332"/>
          </a:xfrm>
          <a:prstGeom prst="rect">
            <a:avLst/>
          </a:prstGeom>
        </p:spPr>
        <p:txBody>
          <a:bodyPr wrap="none">
            <a:spAutoFit/>
          </a:bodyPr>
          <a:lstStyle/>
          <a:p>
            <a:r>
              <a:rPr lang="en-IN" dirty="0"/>
              <a:t> </a:t>
            </a:r>
            <a:r>
              <a:rPr lang="en-IN" dirty="0" smtClean="0"/>
              <a:t>20.4%</a:t>
            </a:r>
            <a:endParaRPr lang="en-IN" dirty="0"/>
          </a:p>
        </p:txBody>
      </p:sp>
      <p:sp>
        <p:nvSpPr>
          <p:cNvPr id="17" name="Rectangle 16"/>
          <p:cNvSpPr/>
          <p:nvPr/>
        </p:nvSpPr>
        <p:spPr>
          <a:xfrm>
            <a:off x="6578387" y="5754502"/>
            <a:ext cx="928459" cy="369332"/>
          </a:xfrm>
          <a:prstGeom prst="rect">
            <a:avLst/>
          </a:prstGeom>
        </p:spPr>
        <p:txBody>
          <a:bodyPr wrap="none">
            <a:spAutoFit/>
          </a:bodyPr>
          <a:lstStyle/>
          <a:p>
            <a:r>
              <a:rPr lang="en-IN" dirty="0" smtClean="0"/>
              <a:t> 48.31%</a:t>
            </a:r>
            <a:endParaRPr lang="en-IN" dirty="0"/>
          </a:p>
        </p:txBody>
      </p:sp>
      <p:sp>
        <p:nvSpPr>
          <p:cNvPr id="18" name="Rectangle 17"/>
          <p:cNvSpPr/>
          <p:nvPr/>
        </p:nvSpPr>
        <p:spPr>
          <a:xfrm>
            <a:off x="9367672" y="5754502"/>
            <a:ext cx="946093" cy="369332"/>
          </a:xfrm>
          <a:prstGeom prst="rect">
            <a:avLst/>
          </a:prstGeom>
        </p:spPr>
        <p:txBody>
          <a:bodyPr wrap="none">
            <a:spAutoFit/>
          </a:bodyPr>
          <a:lstStyle/>
          <a:p>
            <a:r>
              <a:rPr lang="en-IN" dirty="0" smtClean="0"/>
              <a:t>-31.18%</a:t>
            </a:r>
            <a:endParaRPr lang="en-IN" dirty="0"/>
          </a:p>
        </p:txBody>
      </p:sp>
    </p:spTree>
    <p:extLst>
      <p:ext uri="{BB962C8B-B14F-4D97-AF65-F5344CB8AC3E}">
        <p14:creationId xmlns:p14="http://schemas.microsoft.com/office/powerpoint/2010/main" val="3871277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5848" y="585216"/>
            <a:ext cx="1665071" cy="369332"/>
          </a:xfrm>
          <a:prstGeom prst="rect">
            <a:avLst/>
          </a:prstGeom>
          <a:noFill/>
        </p:spPr>
        <p:txBody>
          <a:bodyPr wrap="none" rtlCol="0">
            <a:spAutoFit/>
          </a:bodyPr>
          <a:lstStyle/>
          <a:p>
            <a:r>
              <a:rPr lang="en-IN" dirty="0"/>
              <a:t>Apollo tyres ltd.</a:t>
            </a:r>
          </a:p>
        </p:txBody>
      </p:sp>
      <p:sp>
        <p:nvSpPr>
          <p:cNvPr id="3" name="Rectangle 2"/>
          <p:cNvSpPr/>
          <p:nvPr/>
        </p:nvSpPr>
        <p:spPr>
          <a:xfrm>
            <a:off x="6363781" y="585216"/>
            <a:ext cx="1488741" cy="369332"/>
          </a:xfrm>
          <a:prstGeom prst="rect">
            <a:avLst/>
          </a:prstGeom>
        </p:spPr>
        <p:txBody>
          <a:bodyPr wrap="none">
            <a:spAutoFit/>
          </a:bodyPr>
          <a:lstStyle/>
          <a:p>
            <a:r>
              <a:rPr lang="en-IN" dirty="0" smtClean="0"/>
              <a:t>MRF tyres ltd.</a:t>
            </a:r>
            <a:endParaRPr lang="en-IN" dirty="0"/>
          </a:p>
        </p:txBody>
      </p:sp>
      <p:sp>
        <p:nvSpPr>
          <p:cNvPr id="4" name="Rectangle 3"/>
          <p:cNvSpPr/>
          <p:nvPr/>
        </p:nvSpPr>
        <p:spPr>
          <a:xfrm>
            <a:off x="9195384" y="585216"/>
            <a:ext cx="1521122" cy="369332"/>
          </a:xfrm>
          <a:prstGeom prst="rect">
            <a:avLst/>
          </a:prstGeom>
        </p:spPr>
        <p:txBody>
          <a:bodyPr wrap="none">
            <a:spAutoFit/>
          </a:bodyPr>
          <a:lstStyle/>
          <a:p>
            <a:r>
              <a:rPr lang="en-IN" dirty="0" smtClean="0"/>
              <a:t>CEAT </a:t>
            </a:r>
            <a:r>
              <a:rPr lang="en-IN" dirty="0"/>
              <a:t>tyres ltd.</a:t>
            </a:r>
          </a:p>
        </p:txBody>
      </p:sp>
      <p:sp>
        <p:nvSpPr>
          <p:cNvPr id="5" name="TextBox 4"/>
          <p:cNvSpPr txBox="1"/>
          <p:nvPr/>
        </p:nvSpPr>
        <p:spPr>
          <a:xfrm>
            <a:off x="1734028" y="1157393"/>
            <a:ext cx="1539524" cy="369332"/>
          </a:xfrm>
          <a:prstGeom prst="rect">
            <a:avLst/>
          </a:prstGeom>
          <a:noFill/>
        </p:spPr>
        <p:txBody>
          <a:bodyPr wrap="none" rtlCol="0">
            <a:spAutoFit/>
          </a:bodyPr>
          <a:lstStyle/>
          <a:p>
            <a:r>
              <a:rPr lang="en-IN" dirty="0" smtClean="0"/>
              <a:t>Profit after tax</a:t>
            </a:r>
            <a:endParaRPr lang="en-IN" dirty="0"/>
          </a:p>
        </p:txBody>
      </p:sp>
      <p:sp>
        <p:nvSpPr>
          <p:cNvPr id="6" name="TextBox 5"/>
          <p:cNvSpPr txBox="1"/>
          <p:nvPr/>
        </p:nvSpPr>
        <p:spPr>
          <a:xfrm>
            <a:off x="1706037" y="1917699"/>
            <a:ext cx="1649811" cy="369332"/>
          </a:xfrm>
          <a:prstGeom prst="rect">
            <a:avLst/>
          </a:prstGeom>
          <a:noFill/>
        </p:spPr>
        <p:txBody>
          <a:bodyPr wrap="none" rtlCol="0">
            <a:spAutoFit/>
          </a:bodyPr>
          <a:lstStyle/>
          <a:p>
            <a:r>
              <a:rPr lang="en-IN" dirty="0" smtClean="0"/>
              <a:t>Other Expenses</a:t>
            </a:r>
            <a:endParaRPr lang="en-IN" dirty="0"/>
          </a:p>
        </p:txBody>
      </p:sp>
      <p:sp>
        <p:nvSpPr>
          <p:cNvPr id="7" name="Rectangle 6"/>
          <p:cNvSpPr/>
          <p:nvPr/>
        </p:nvSpPr>
        <p:spPr>
          <a:xfrm>
            <a:off x="1526821" y="2755270"/>
            <a:ext cx="1829027" cy="369332"/>
          </a:xfrm>
          <a:prstGeom prst="rect">
            <a:avLst/>
          </a:prstGeom>
        </p:spPr>
        <p:txBody>
          <a:bodyPr wrap="none">
            <a:spAutoFit/>
          </a:bodyPr>
          <a:lstStyle/>
          <a:p>
            <a:r>
              <a:rPr lang="en-IN" dirty="0" smtClean="0"/>
              <a:t>Current Liabilities</a:t>
            </a:r>
            <a:endParaRPr lang="en-IN" dirty="0"/>
          </a:p>
        </p:txBody>
      </p:sp>
      <p:sp>
        <p:nvSpPr>
          <p:cNvPr id="8" name="Rectangle 7"/>
          <p:cNvSpPr/>
          <p:nvPr/>
        </p:nvSpPr>
        <p:spPr>
          <a:xfrm>
            <a:off x="3691550" y="1146572"/>
            <a:ext cx="875561" cy="369332"/>
          </a:xfrm>
          <a:prstGeom prst="rect">
            <a:avLst/>
          </a:prstGeom>
        </p:spPr>
        <p:txBody>
          <a:bodyPr wrap="none">
            <a:spAutoFit/>
          </a:bodyPr>
          <a:lstStyle/>
          <a:p>
            <a:r>
              <a:rPr lang="en-IN" dirty="0" smtClean="0"/>
              <a:t>11.80%</a:t>
            </a:r>
            <a:endParaRPr lang="en-IN" dirty="0"/>
          </a:p>
        </p:txBody>
      </p:sp>
      <p:sp>
        <p:nvSpPr>
          <p:cNvPr id="9" name="Rectangle 8"/>
          <p:cNvSpPr/>
          <p:nvPr/>
        </p:nvSpPr>
        <p:spPr>
          <a:xfrm>
            <a:off x="6611318" y="1166921"/>
            <a:ext cx="992579" cy="369332"/>
          </a:xfrm>
          <a:prstGeom prst="rect">
            <a:avLst/>
          </a:prstGeom>
        </p:spPr>
        <p:txBody>
          <a:bodyPr wrap="none">
            <a:spAutoFit/>
          </a:bodyPr>
          <a:lstStyle/>
          <a:p>
            <a:r>
              <a:rPr lang="en-IN" dirty="0" smtClean="0"/>
              <a:t>160.48%</a:t>
            </a:r>
            <a:endParaRPr lang="en-IN" dirty="0"/>
          </a:p>
        </p:txBody>
      </p:sp>
      <p:sp>
        <p:nvSpPr>
          <p:cNvPr id="10" name="Rectangle 9"/>
          <p:cNvSpPr/>
          <p:nvPr/>
        </p:nvSpPr>
        <p:spPr>
          <a:xfrm>
            <a:off x="9459112" y="1146572"/>
            <a:ext cx="875561" cy="369332"/>
          </a:xfrm>
          <a:prstGeom prst="rect">
            <a:avLst/>
          </a:prstGeom>
        </p:spPr>
        <p:txBody>
          <a:bodyPr wrap="none">
            <a:spAutoFit/>
          </a:bodyPr>
          <a:lstStyle/>
          <a:p>
            <a:r>
              <a:rPr lang="en-IN" dirty="0" smtClean="0"/>
              <a:t>40.76%</a:t>
            </a:r>
            <a:endParaRPr lang="en-IN" dirty="0"/>
          </a:p>
        </p:txBody>
      </p:sp>
      <p:sp>
        <p:nvSpPr>
          <p:cNvPr id="11" name="Rectangle 10"/>
          <p:cNvSpPr/>
          <p:nvPr/>
        </p:nvSpPr>
        <p:spPr>
          <a:xfrm>
            <a:off x="3691549" y="1906878"/>
            <a:ext cx="758541" cy="369332"/>
          </a:xfrm>
          <a:prstGeom prst="rect">
            <a:avLst/>
          </a:prstGeom>
        </p:spPr>
        <p:txBody>
          <a:bodyPr wrap="none">
            <a:spAutoFit/>
          </a:bodyPr>
          <a:lstStyle/>
          <a:p>
            <a:r>
              <a:rPr lang="en-IN" dirty="0" smtClean="0"/>
              <a:t>4.10%</a:t>
            </a:r>
            <a:endParaRPr lang="en-IN" dirty="0"/>
          </a:p>
        </p:txBody>
      </p:sp>
      <p:sp>
        <p:nvSpPr>
          <p:cNvPr id="12" name="Rectangle 11"/>
          <p:cNvSpPr/>
          <p:nvPr/>
        </p:nvSpPr>
        <p:spPr>
          <a:xfrm>
            <a:off x="3691548" y="2755270"/>
            <a:ext cx="875561" cy="369332"/>
          </a:xfrm>
          <a:prstGeom prst="rect">
            <a:avLst/>
          </a:prstGeom>
        </p:spPr>
        <p:txBody>
          <a:bodyPr wrap="none">
            <a:spAutoFit/>
          </a:bodyPr>
          <a:lstStyle/>
          <a:p>
            <a:r>
              <a:rPr lang="en-IN" dirty="0" smtClean="0"/>
              <a:t>35.98%</a:t>
            </a:r>
            <a:endParaRPr lang="en-IN" dirty="0"/>
          </a:p>
        </p:txBody>
      </p:sp>
      <p:sp>
        <p:nvSpPr>
          <p:cNvPr id="13" name="Rectangle 12"/>
          <p:cNvSpPr/>
          <p:nvPr/>
        </p:nvSpPr>
        <p:spPr>
          <a:xfrm>
            <a:off x="6669827" y="1906878"/>
            <a:ext cx="875561" cy="369332"/>
          </a:xfrm>
          <a:prstGeom prst="rect">
            <a:avLst/>
          </a:prstGeom>
        </p:spPr>
        <p:txBody>
          <a:bodyPr wrap="none">
            <a:spAutoFit/>
          </a:bodyPr>
          <a:lstStyle/>
          <a:p>
            <a:r>
              <a:rPr lang="en-IN" dirty="0" smtClean="0"/>
              <a:t>64.56%</a:t>
            </a:r>
            <a:endParaRPr lang="en-IN" dirty="0"/>
          </a:p>
        </p:txBody>
      </p:sp>
      <p:sp>
        <p:nvSpPr>
          <p:cNvPr id="14" name="Rectangle 13"/>
          <p:cNvSpPr/>
          <p:nvPr/>
        </p:nvSpPr>
        <p:spPr>
          <a:xfrm>
            <a:off x="9459112" y="1906878"/>
            <a:ext cx="758541" cy="369332"/>
          </a:xfrm>
          <a:prstGeom prst="rect">
            <a:avLst/>
          </a:prstGeom>
        </p:spPr>
        <p:txBody>
          <a:bodyPr wrap="none">
            <a:spAutoFit/>
          </a:bodyPr>
          <a:lstStyle/>
          <a:p>
            <a:r>
              <a:rPr lang="en-IN" dirty="0" smtClean="0"/>
              <a:t>8.64%</a:t>
            </a:r>
            <a:endParaRPr lang="en-IN" dirty="0"/>
          </a:p>
        </p:txBody>
      </p:sp>
      <p:sp>
        <p:nvSpPr>
          <p:cNvPr id="15" name="Rectangle 14"/>
          <p:cNvSpPr/>
          <p:nvPr/>
        </p:nvSpPr>
        <p:spPr>
          <a:xfrm>
            <a:off x="6669827" y="2755270"/>
            <a:ext cx="875561" cy="369332"/>
          </a:xfrm>
          <a:prstGeom prst="rect">
            <a:avLst/>
          </a:prstGeom>
        </p:spPr>
        <p:txBody>
          <a:bodyPr wrap="none">
            <a:spAutoFit/>
          </a:bodyPr>
          <a:lstStyle/>
          <a:p>
            <a:r>
              <a:rPr lang="en-IN" dirty="0" smtClean="0"/>
              <a:t>10.34%</a:t>
            </a:r>
            <a:endParaRPr lang="en-IN" dirty="0"/>
          </a:p>
        </p:txBody>
      </p:sp>
      <p:sp>
        <p:nvSpPr>
          <p:cNvPr id="16" name="Rectangle 15"/>
          <p:cNvSpPr/>
          <p:nvPr/>
        </p:nvSpPr>
        <p:spPr>
          <a:xfrm>
            <a:off x="9459112" y="2755270"/>
            <a:ext cx="946093" cy="369332"/>
          </a:xfrm>
          <a:prstGeom prst="rect">
            <a:avLst/>
          </a:prstGeom>
        </p:spPr>
        <p:txBody>
          <a:bodyPr wrap="none">
            <a:spAutoFit/>
          </a:bodyPr>
          <a:lstStyle/>
          <a:p>
            <a:r>
              <a:rPr lang="en-IN" dirty="0" smtClean="0"/>
              <a:t>-21.30%</a:t>
            </a:r>
            <a:endParaRPr lang="en-IN" dirty="0"/>
          </a:p>
        </p:txBody>
      </p:sp>
      <p:sp>
        <p:nvSpPr>
          <p:cNvPr id="17" name="TextBox 16"/>
          <p:cNvSpPr txBox="1"/>
          <p:nvPr/>
        </p:nvSpPr>
        <p:spPr>
          <a:xfrm>
            <a:off x="1758102" y="3603662"/>
            <a:ext cx="1545680" cy="369332"/>
          </a:xfrm>
          <a:prstGeom prst="rect">
            <a:avLst/>
          </a:prstGeom>
          <a:noFill/>
        </p:spPr>
        <p:txBody>
          <a:bodyPr wrap="none" rtlCol="0">
            <a:spAutoFit/>
          </a:bodyPr>
          <a:lstStyle/>
          <a:p>
            <a:r>
              <a:rPr lang="en-IN" dirty="0" smtClean="0"/>
              <a:t>Current Assets</a:t>
            </a:r>
            <a:endParaRPr lang="en-IN" dirty="0"/>
          </a:p>
        </p:txBody>
      </p:sp>
      <p:sp>
        <p:nvSpPr>
          <p:cNvPr id="18" name="TextBox 17"/>
          <p:cNvSpPr txBox="1"/>
          <p:nvPr/>
        </p:nvSpPr>
        <p:spPr>
          <a:xfrm>
            <a:off x="1170121" y="4363968"/>
            <a:ext cx="2185727" cy="369332"/>
          </a:xfrm>
          <a:prstGeom prst="rect">
            <a:avLst/>
          </a:prstGeom>
          <a:noFill/>
        </p:spPr>
        <p:txBody>
          <a:bodyPr wrap="none" rtlCol="0">
            <a:spAutoFit/>
          </a:bodyPr>
          <a:lstStyle/>
          <a:p>
            <a:r>
              <a:rPr lang="en-IN" dirty="0" smtClean="0"/>
              <a:t>Long Term Borrowing</a:t>
            </a:r>
            <a:endParaRPr lang="en-IN" dirty="0"/>
          </a:p>
        </p:txBody>
      </p:sp>
      <p:sp>
        <p:nvSpPr>
          <p:cNvPr id="19" name="Rectangle 18"/>
          <p:cNvSpPr/>
          <p:nvPr/>
        </p:nvSpPr>
        <p:spPr>
          <a:xfrm>
            <a:off x="1983484" y="5212360"/>
            <a:ext cx="1320298" cy="369332"/>
          </a:xfrm>
          <a:prstGeom prst="rect">
            <a:avLst/>
          </a:prstGeom>
        </p:spPr>
        <p:txBody>
          <a:bodyPr wrap="none">
            <a:spAutoFit/>
          </a:bodyPr>
          <a:lstStyle/>
          <a:p>
            <a:r>
              <a:rPr lang="en-IN" dirty="0" smtClean="0"/>
              <a:t>Fixed Assets</a:t>
            </a:r>
            <a:endParaRPr lang="en-IN" dirty="0"/>
          </a:p>
        </p:txBody>
      </p:sp>
      <p:sp>
        <p:nvSpPr>
          <p:cNvPr id="20" name="Rectangle 19"/>
          <p:cNvSpPr/>
          <p:nvPr/>
        </p:nvSpPr>
        <p:spPr>
          <a:xfrm>
            <a:off x="3691550" y="3603662"/>
            <a:ext cx="875561" cy="369332"/>
          </a:xfrm>
          <a:prstGeom prst="rect">
            <a:avLst/>
          </a:prstGeom>
        </p:spPr>
        <p:txBody>
          <a:bodyPr wrap="none">
            <a:spAutoFit/>
          </a:bodyPr>
          <a:lstStyle/>
          <a:p>
            <a:r>
              <a:rPr lang="en-IN" dirty="0" smtClean="0"/>
              <a:t>22.50%</a:t>
            </a:r>
            <a:endParaRPr lang="en-IN" dirty="0"/>
          </a:p>
        </p:txBody>
      </p:sp>
      <p:sp>
        <p:nvSpPr>
          <p:cNvPr id="21" name="Rectangle 20"/>
          <p:cNvSpPr/>
          <p:nvPr/>
        </p:nvSpPr>
        <p:spPr>
          <a:xfrm>
            <a:off x="6611318" y="3624011"/>
            <a:ext cx="875561" cy="369332"/>
          </a:xfrm>
          <a:prstGeom prst="rect">
            <a:avLst/>
          </a:prstGeom>
        </p:spPr>
        <p:txBody>
          <a:bodyPr wrap="none">
            <a:spAutoFit/>
          </a:bodyPr>
          <a:lstStyle/>
          <a:p>
            <a:r>
              <a:rPr lang="en-IN" dirty="0" smtClean="0"/>
              <a:t>12.60%</a:t>
            </a:r>
            <a:endParaRPr lang="en-IN" dirty="0"/>
          </a:p>
        </p:txBody>
      </p:sp>
      <p:sp>
        <p:nvSpPr>
          <p:cNvPr id="22" name="Rectangle 21"/>
          <p:cNvSpPr/>
          <p:nvPr/>
        </p:nvSpPr>
        <p:spPr>
          <a:xfrm>
            <a:off x="9459112" y="3603662"/>
            <a:ext cx="946093" cy="369332"/>
          </a:xfrm>
          <a:prstGeom prst="rect">
            <a:avLst/>
          </a:prstGeom>
        </p:spPr>
        <p:txBody>
          <a:bodyPr wrap="none">
            <a:spAutoFit/>
          </a:bodyPr>
          <a:lstStyle/>
          <a:p>
            <a:r>
              <a:rPr lang="en-IN" dirty="0" smtClean="0"/>
              <a:t>-17.55%</a:t>
            </a:r>
            <a:endParaRPr lang="en-IN" dirty="0"/>
          </a:p>
        </p:txBody>
      </p:sp>
      <p:sp>
        <p:nvSpPr>
          <p:cNvPr id="23" name="Rectangle 22"/>
          <p:cNvSpPr/>
          <p:nvPr/>
        </p:nvSpPr>
        <p:spPr>
          <a:xfrm>
            <a:off x="3691549" y="4363968"/>
            <a:ext cx="875561" cy="369332"/>
          </a:xfrm>
          <a:prstGeom prst="rect">
            <a:avLst/>
          </a:prstGeom>
        </p:spPr>
        <p:txBody>
          <a:bodyPr wrap="none">
            <a:spAutoFit/>
          </a:bodyPr>
          <a:lstStyle/>
          <a:p>
            <a:r>
              <a:rPr lang="en-IN" dirty="0" smtClean="0"/>
              <a:t>82.53%</a:t>
            </a:r>
            <a:endParaRPr lang="en-IN" dirty="0"/>
          </a:p>
        </p:txBody>
      </p:sp>
      <p:sp>
        <p:nvSpPr>
          <p:cNvPr id="24" name="Rectangle 23"/>
          <p:cNvSpPr/>
          <p:nvPr/>
        </p:nvSpPr>
        <p:spPr>
          <a:xfrm>
            <a:off x="3691548" y="5212360"/>
            <a:ext cx="875561" cy="369332"/>
          </a:xfrm>
          <a:prstGeom prst="rect">
            <a:avLst/>
          </a:prstGeom>
        </p:spPr>
        <p:txBody>
          <a:bodyPr wrap="none">
            <a:spAutoFit/>
          </a:bodyPr>
          <a:lstStyle/>
          <a:p>
            <a:r>
              <a:rPr lang="en-IN" dirty="0" smtClean="0"/>
              <a:t>18.21%</a:t>
            </a:r>
            <a:endParaRPr lang="en-IN" dirty="0"/>
          </a:p>
        </p:txBody>
      </p:sp>
      <p:sp>
        <p:nvSpPr>
          <p:cNvPr id="25" name="Rectangle 24"/>
          <p:cNvSpPr/>
          <p:nvPr/>
        </p:nvSpPr>
        <p:spPr>
          <a:xfrm>
            <a:off x="6669827" y="4363968"/>
            <a:ext cx="875561" cy="369332"/>
          </a:xfrm>
          <a:prstGeom prst="rect">
            <a:avLst/>
          </a:prstGeom>
        </p:spPr>
        <p:txBody>
          <a:bodyPr wrap="none">
            <a:spAutoFit/>
          </a:bodyPr>
          <a:lstStyle/>
          <a:p>
            <a:r>
              <a:rPr lang="en-IN" dirty="0" smtClean="0"/>
              <a:t>23.88%</a:t>
            </a:r>
            <a:endParaRPr lang="en-IN" dirty="0"/>
          </a:p>
        </p:txBody>
      </p:sp>
      <p:sp>
        <p:nvSpPr>
          <p:cNvPr id="26" name="Rectangle 25"/>
          <p:cNvSpPr/>
          <p:nvPr/>
        </p:nvSpPr>
        <p:spPr>
          <a:xfrm>
            <a:off x="9459112" y="4363968"/>
            <a:ext cx="875561" cy="369332"/>
          </a:xfrm>
          <a:prstGeom prst="rect">
            <a:avLst/>
          </a:prstGeom>
        </p:spPr>
        <p:txBody>
          <a:bodyPr wrap="none">
            <a:spAutoFit/>
          </a:bodyPr>
          <a:lstStyle/>
          <a:p>
            <a:r>
              <a:rPr lang="en-IN" dirty="0" smtClean="0"/>
              <a:t>66.44%</a:t>
            </a:r>
            <a:endParaRPr lang="en-IN" dirty="0"/>
          </a:p>
        </p:txBody>
      </p:sp>
      <p:sp>
        <p:nvSpPr>
          <p:cNvPr id="27" name="Rectangle 26"/>
          <p:cNvSpPr/>
          <p:nvPr/>
        </p:nvSpPr>
        <p:spPr>
          <a:xfrm>
            <a:off x="6669827" y="5212360"/>
            <a:ext cx="875561" cy="369332"/>
          </a:xfrm>
          <a:prstGeom prst="rect">
            <a:avLst/>
          </a:prstGeom>
        </p:spPr>
        <p:txBody>
          <a:bodyPr wrap="none">
            <a:spAutoFit/>
          </a:bodyPr>
          <a:lstStyle/>
          <a:p>
            <a:r>
              <a:rPr lang="en-IN" dirty="0" smtClean="0"/>
              <a:t>39.47%</a:t>
            </a:r>
            <a:endParaRPr lang="en-IN" dirty="0"/>
          </a:p>
        </p:txBody>
      </p:sp>
      <p:sp>
        <p:nvSpPr>
          <p:cNvPr id="28" name="Rectangle 27"/>
          <p:cNvSpPr/>
          <p:nvPr/>
        </p:nvSpPr>
        <p:spPr>
          <a:xfrm>
            <a:off x="9459112" y="5212360"/>
            <a:ext cx="875561" cy="369332"/>
          </a:xfrm>
          <a:prstGeom prst="rect">
            <a:avLst/>
          </a:prstGeom>
        </p:spPr>
        <p:txBody>
          <a:bodyPr wrap="none">
            <a:spAutoFit/>
          </a:bodyPr>
          <a:lstStyle/>
          <a:p>
            <a:r>
              <a:rPr lang="en-IN" dirty="0" smtClean="0"/>
              <a:t>34.35%</a:t>
            </a:r>
            <a:endParaRPr lang="en-IN" dirty="0"/>
          </a:p>
        </p:txBody>
      </p:sp>
    </p:spTree>
    <p:extLst>
      <p:ext uri="{BB962C8B-B14F-4D97-AF65-F5344CB8AC3E}">
        <p14:creationId xmlns:p14="http://schemas.microsoft.com/office/powerpoint/2010/main" val="3970981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b="1" u="sng" dirty="0" smtClean="0"/>
              <a:t>DuPont Analysis</a:t>
            </a:r>
          </a:p>
        </p:txBody>
      </p:sp>
      <p:sp>
        <p:nvSpPr>
          <p:cNvPr id="16387" name="Rectangle 3"/>
          <p:cNvSpPr>
            <a:spLocks noGrp="1" noChangeArrowheads="1"/>
          </p:cNvSpPr>
          <p:nvPr>
            <p:ph type="body" idx="1"/>
          </p:nvPr>
        </p:nvSpPr>
        <p:spPr/>
        <p:txBody>
          <a:bodyPr/>
          <a:lstStyle/>
          <a:p>
            <a:pPr eaLnBrk="1" hangingPunct="1"/>
            <a:r>
              <a:rPr lang="en-US" altLang="en-US" dirty="0" smtClean="0"/>
              <a:t>“DuPont Financial Analysis Model is a rather straightforward method for assessing the factors that influence a firm’s financial performance.”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b="1" u="sng" smtClean="0"/>
              <a:t>DuPont System – What is It?</a:t>
            </a:r>
          </a:p>
        </p:txBody>
      </p:sp>
      <p:sp>
        <p:nvSpPr>
          <p:cNvPr id="16387" name="Rectangle 3"/>
          <p:cNvSpPr>
            <a:spLocks noGrp="1" noChangeArrowheads="1"/>
          </p:cNvSpPr>
          <p:nvPr>
            <p:ph type="body" idx="1"/>
          </p:nvPr>
        </p:nvSpPr>
        <p:spPr/>
        <p:txBody>
          <a:bodyPr/>
          <a:lstStyle/>
          <a:p>
            <a:pPr marL="609600" indent="-609600"/>
            <a:r>
              <a:rPr lang="en-US" altLang="en-US" dirty="0" smtClean="0"/>
              <a:t>The system identifies profitability as being impacted by three different levers:</a:t>
            </a:r>
            <a:br>
              <a:rPr lang="en-US" altLang="en-US" dirty="0" smtClean="0"/>
            </a:br>
            <a:endParaRPr lang="en-US" altLang="en-US" dirty="0" smtClean="0"/>
          </a:p>
          <a:p>
            <a:pPr marL="990600" lvl="1" indent="-533400">
              <a:buFontTx/>
              <a:buAutoNum type="arabicPeriod"/>
            </a:pPr>
            <a:r>
              <a:rPr lang="en-US" altLang="en-US" dirty="0" smtClean="0"/>
              <a:t>Earnings &amp; efficiency in earnings</a:t>
            </a:r>
          </a:p>
          <a:p>
            <a:pPr marL="990600" lvl="1" indent="-533400">
              <a:buFontTx/>
              <a:buAutoNum type="arabicPeriod"/>
            </a:pPr>
            <a:r>
              <a:rPr lang="en-US" altLang="en-US" dirty="0" smtClean="0"/>
              <a:t>Ability of your assets to be turned into profits</a:t>
            </a:r>
          </a:p>
          <a:p>
            <a:pPr marL="990600" lvl="1" indent="-533400">
              <a:buFontTx/>
              <a:buAutoNum type="arabicPeriod"/>
            </a:pPr>
            <a:r>
              <a:rPr lang="en-US" altLang="en-US" dirty="0" smtClean="0"/>
              <a:t>Financial leverage</a:t>
            </a:r>
          </a:p>
        </p:txBody>
      </p:sp>
      <p:sp>
        <p:nvSpPr>
          <p:cNvPr id="16388" name="Text Box 4"/>
          <p:cNvSpPr txBox="1">
            <a:spLocks noChangeArrowheads="1"/>
          </p:cNvSpPr>
          <p:nvPr/>
        </p:nvSpPr>
        <p:spPr bwMode="auto">
          <a:xfrm>
            <a:off x="7004304" y="3783276"/>
            <a:ext cx="1219200" cy="366713"/>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Earnings</a:t>
            </a:r>
          </a:p>
        </p:txBody>
      </p:sp>
      <p:sp>
        <p:nvSpPr>
          <p:cNvPr id="16389" name="Text Box 5"/>
          <p:cNvSpPr txBox="1">
            <a:spLocks noChangeArrowheads="1"/>
          </p:cNvSpPr>
          <p:nvPr/>
        </p:nvSpPr>
        <p:spPr bwMode="auto">
          <a:xfrm>
            <a:off x="7004304" y="4178605"/>
            <a:ext cx="1219200" cy="366712"/>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Turnings</a:t>
            </a:r>
          </a:p>
        </p:txBody>
      </p:sp>
      <p:sp>
        <p:nvSpPr>
          <p:cNvPr id="16390" name="Text Box 6"/>
          <p:cNvSpPr txBox="1">
            <a:spLocks noChangeArrowheads="1"/>
          </p:cNvSpPr>
          <p:nvPr/>
        </p:nvSpPr>
        <p:spPr bwMode="auto">
          <a:xfrm>
            <a:off x="7004304" y="4573933"/>
            <a:ext cx="1295400" cy="366713"/>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Leverage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dissolve">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dissolve">
                                      <p:cBhvr>
                                        <p:cTn id="12" dur="500"/>
                                        <p:tgtEl>
                                          <p:spTgt spid="163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dissolve">
                                      <p:cBhvr>
                                        <p:cTn id="17" dur="500"/>
                                        <p:tgtEl>
                                          <p:spTgt spid="163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dissolve">
                                      <p:cBhvr>
                                        <p:cTn id="22" dur="500"/>
                                        <p:tgtEl>
                                          <p:spTgt spid="163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38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3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bldLvl="2"/>
      <p:bldP spid="16388" grpId="0" animBg="1"/>
      <p:bldP spid="16389" grpId="0" animBg="1"/>
      <p:bldP spid="1639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5"/>
          <p:cNvSpPr txBox="1">
            <a:spLocks noChangeArrowheads="1"/>
          </p:cNvSpPr>
          <p:nvPr/>
        </p:nvSpPr>
        <p:spPr bwMode="auto">
          <a:xfrm>
            <a:off x="3581400" y="1981200"/>
            <a:ext cx="1600200" cy="369332"/>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smtClean="0"/>
              <a:t>Profit </a:t>
            </a:r>
            <a:r>
              <a:rPr lang="en-US" altLang="en-US" b="1" dirty="0"/>
              <a:t>Margin</a:t>
            </a:r>
          </a:p>
        </p:txBody>
      </p:sp>
      <p:sp>
        <p:nvSpPr>
          <p:cNvPr id="6150" name="Text Box 6"/>
          <p:cNvSpPr txBox="1">
            <a:spLocks noChangeArrowheads="1"/>
          </p:cNvSpPr>
          <p:nvPr/>
        </p:nvSpPr>
        <p:spPr bwMode="auto">
          <a:xfrm>
            <a:off x="3581400" y="3429000"/>
            <a:ext cx="1600200" cy="641350"/>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Asset Turnover</a:t>
            </a:r>
          </a:p>
        </p:txBody>
      </p:sp>
      <p:sp>
        <p:nvSpPr>
          <p:cNvPr id="6151" name="Text Box 7"/>
          <p:cNvSpPr txBox="1">
            <a:spLocks noChangeArrowheads="1"/>
          </p:cNvSpPr>
          <p:nvPr/>
        </p:nvSpPr>
        <p:spPr bwMode="auto">
          <a:xfrm>
            <a:off x="6172200" y="2514600"/>
            <a:ext cx="1600200" cy="915988"/>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Return On Assets (less </a:t>
            </a:r>
            <a:r>
              <a:rPr lang="en-US" altLang="en-US" b="1" i="1" dirty="0"/>
              <a:t>interest adj.)</a:t>
            </a:r>
            <a:endParaRPr lang="en-US" altLang="en-US" b="1" dirty="0"/>
          </a:p>
        </p:txBody>
      </p:sp>
      <p:sp>
        <p:nvSpPr>
          <p:cNvPr id="6152" name="Text Box 8"/>
          <p:cNvSpPr txBox="1">
            <a:spLocks noChangeArrowheads="1"/>
          </p:cNvSpPr>
          <p:nvPr/>
        </p:nvSpPr>
        <p:spPr bwMode="auto">
          <a:xfrm>
            <a:off x="3581400" y="5300663"/>
            <a:ext cx="1600200" cy="641350"/>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Financial Structure</a:t>
            </a:r>
          </a:p>
        </p:txBody>
      </p:sp>
      <p:sp>
        <p:nvSpPr>
          <p:cNvPr id="18438" name="Text Box 9"/>
          <p:cNvSpPr txBox="1">
            <a:spLocks noChangeArrowheads="1"/>
          </p:cNvSpPr>
          <p:nvPr/>
        </p:nvSpPr>
        <p:spPr bwMode="auto">
          <a:xfrm>
            <a:off x="8763000" y="3686175"/>
            <a:ext cx="1600200" cy="641350"/>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Return On Equity</a:t>
            </a:r>
          </a:p>
        </p:txBody>
      </p:sp>
      <p:sp>
        <p:nvSpPr>
          <p:cNvPr id="6158" name="Text Box 14"/>
          <p:cNvSpPr txBox="1">
            <a:spLocks noChangeArrowheads="1"/>
          </p:cNvSpPr>
          <p:nvPr/>
        </p:nvSpPr>
        <p:spPr bwMode="auto">
          <a:xfrm>
            <a:off x="4648200" y="2844801"/>
            <a:ext cx="457200" cy="366713"/>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X</a:t>
            </a:r>
          </a:p>
        </p:txBody>
      </p:sp>
      <p:sp>
        <p:nvSpPr>
          <p:cNvPr id="6159" name="Text Box 15"/>
          <p:cNvSpPr txBox="1">
            <a:spLocks noChangeArrowheads="1"/>
          </p:cNvSpPr>
          <p:nvPr/>
        </p:nvSpPr>
        <p:spPr bwMode="auto">
          <a:xfrm>
            <a:off x="5410200" y="2835276"/>
            <a:ext cx="457200" cy="366713"/>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a:t>
            </a:r>
          </a:p>
        </p:txBody>
      </p:sp>
      <p:sp>
        <p:nvSpPr>
          <p:cNvPr id="6162" name="Text Box 18"/>
          <p:cNvSpPr txBox="1">
            <a:spLocks noChangeArrowheads="1"/>
          </p:cNvSpPr>
          <p:nvPr/>
        </p:nvSpPr>
        <p:spPr bwMode="auto">
          <a:xfrm>
            <a:off x="7391400" y="3810001"/>
            <a:ext cx="457200" cy="366713"/>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X</a:t>
            </a:r>
          </a:p>
        </p:txBody>
      </p:sp>
      <p:sp>
        <p:nvSpPr>
          <p:cNvPr id="6163" name="Text Box 19"/>
          <p:cNvSpPr txBox="1">
            <a:spLocks noChangeArrowheads="1"/>
          </p:cNvSpPr>
          <p:nvPr/>
        </p:nvSpPr>
        <p:spPr bwMode="auto">
          <a:xfrm>
            <a:off x="8229600" y="3805238"/>
            <a:ext cx="457200" cy="366712"/>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a:t>
            </a:r>
          </a:p>
        </p:txBody>
      </p:sp>
      <p:grpSp>
        <p:nvGrpSpPr>
          <p:cNvPr id="2" name="Group 28"/>
          <p:cNvGrpSpPr>
            <a:grpSpLocks/>
          </p:cNvGrpSpPr>
          <p:nvPr/>
        </p:nvGrpSpPr>
        <p:grpSpPr bwMode="auto">
          <a:xfrm>
            <a:off x="3352800" y="1524000"/>
            <a:ext cx="304800" cy="3048000"/>
            <a:chOff x="1344" y="1056"/>
            <a:chExt cx="192" cy="1296"/>
          </a:xfrm>
        </p:grpSpPr>
        <p:sp>
          <p:nvSpPr>
            <p:cNvPr id="18458" name="Line 25"/>
            <p:cNvSpPr>
              <a:spLocks noChangeShapeType="1"/>
            </p:cNvSpPr>
            <p:nvPr/>
          </p:nvSpPr>
          <p:spPr bwMode="auto">
            <a:xfrm flipH="1">
              <a:off x="1344" y="1056"/>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59" name="Line 26"/>
            <p:cNvSpPr>
              <a:spLocks noChangeShapeType="1"/>
            </p:cNvSpPr>
            <p:nvPr/>
          </p:nvSpPr>
          <p:spPr bwMode="auto">
            <a:xfrm>
              <a:off x="1344" y="1056"/>
              <a:ext cx="0" cy="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60" name="Line 27"/>
            <p:cNvSpPr>
              <a:spLocks noChangeShapeType="1"/>
            </p:cNvSpPr>
            <p:nvPr/>
          </p:nvSpPr>
          <p:spPr bwMode="auto">
            <a:xfrm flipH="1">
              <a:off x="1344" y="23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3" name="Group 29"/>
          <p:cNvGrpSpPr>
            <a:grpSpLocks/>
          </p:cNvGrpSpPr>
          <p:nvPr/>
        </p:nvGrpSpPr>
        <p:grpSpPr bwMode="auto">
          <a:xfrm>
            <a:off x="3352800" y="5195889"/>
            <a:ext cx="304800" cy="1233487"/>
            <a:chOff x="1344" y="1056"/>
            <a:chExt cx="192" cy="1296"/>
          </a:xfrm>
        </p:grpSpPr>
        <p:sp>
          <p:nvSpPr>
            <p:cNvPr id="18455" name="Line 30"/>
            <p:cNvSpPr>
              <a:spLocks noChangeShapeType="1"/>
            </p:cNvSpPr>
            <p:nvPr/>
          </p:nvSpPr>
          <p:spPr bwMode="auto">
            <a:xfrm flipH="1">
              <a:off x="1344" y="1056"/>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56" name="Line 31"/>
            <p:cNvSpPr>
              <a:spLocks noChangeShapeType="1"/>
            </p:cNvSpPr>
            <p:nvPr/>
          </p:nvSpPr>
          <p:spPr bwMode="auto">
            <a:xfrm>
              <a:off x="1344" y="1056"/>
              <a:ext cx="0" cy="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8457" name="Line 32"/>
            <p:cNvSpPr>
              <a:spLocks noChangeShapeType="1"/>
            </p:cNvSpPr>
            <p:nvPr/>
          </p:nvSpPr>
          <p:spPr bwMode="auto">
            <a:xfrm flipH="1">
              <a:off x="1344" y="2352"/>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6177" name="Text Box 33"/>
          <p:cNvSpPr txBox="1">
            <a:spLocks noChangeArrowheads="1"/>
          </p:cNvSpPr>
          <p:nvPr/>
        </p:nvSpPr>
        <p:spPr bwMode="auto">
          <a:xfrm>
            <a:off x="2065338" y="2743200"/>
            <a:ext cx="1211262" cy="641350"/>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Income</a:t>
            </a:r>
            <a:br>
              <a:rPr lang="en-US" altLang="en-US" b="1" dirty="0"/>
            </a:br>
            <a:r>
              <a:rPr lang="en-US" altLang="en-US" b="1" dirty="0"/>
              <a:t>Stream</a:t>
            </a:r>
          </a:p>
        </p:txBody>
      </p:sp>
      <p:sp>
        <p:nvSpPr>
          <p:cNvPr id="6178" name="Text Box 34"/>
          <p:cNvSpPr txBox="1">
            <a:spLocks noChangeArrowheads="1"/>
          </p:cNvSpPr>
          <p:nvPr/>
        </p:nvSpPr>
        <p:spPr bwMode="auto">
          <a:xfrm>
            <a:off x="1828800" y="5454650"/>
            <a:ext cx="1449388" cy="641350"/>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Investment</a:t>
            </a:r>
            <a:br>
              <a:rPr lang="en-US" altLang="en-US" b="1" dirty="0"/>
            </a:br>
            <a:r>
              <a:rPr lang="en-US" altLang="en-US" b="1" dirty="0"/>
              <a:t>Stream</a:t>
            </a:r>
          </a:p>
        </p:txBody>
      </p:sp>
      <p:sp>
        <p:nvSpPr>
          <p:cNvPr id="6180" name="Text Box 36"/>
          <p:cNvSpPr txBox="1">
            <a:spLocks noChangeArrowheads="1"/>
          </p:cNvSpPr>
          <p:nvPr/>
        </p:nvSpPr>
        <p:spPr bwMode="auto">
          <a:xfrm>
            <a:off x="3609976" y="4086225"/>
            <a:ext cx="2409825" cy="369888"/>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Turnings/Asset Use</a:t>
            </a:r>
          </a:p>
        </p:txBody>
      </p:sp>
      <p:sp>
        <p:nvSpPr>
          <p:cNvPr id="6181" name="Text Box 37"/>
          <p:cNvSpPr txBox="1">
            <a:spLocks noChangeArrowheads="1"/>
          </p:cNvSpPr>
          <p:nvPr/>
        </p:nvSpPr>
        <p:spPr bwMode="auto">
          <a:xfrm>
            <a:off x="3614738" y="5957888"/>
            <a:ext cx="1524000" cy="366712"/>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a:t>Leverage</a:t>
            </a:r>
          </a:p>
        </p:txBody>
      </p:sp>
      <p:sp>
        <p:nvSpPr>
          <p:cNvPr id="6182" name="Line 38"/>
          <p:cNvSpPr>
            <a:spLocks noChangeShapeType="1"/>
          </p:cNvSpPr>
          <p:nvPr/>
        </p:nvSpPr>
        <p:spPr bwMode="auto">
          <a:xfrm flipV="1">
            <a:off x="4038600" y="3124200"/>
            <a:ext cx="533400" cy="304800"/>
          </a:xfrm>
          <a:prstGeom prst="line">
            <a:avLst/>
          </a:prstGeom>
          <a:noFill/>
          <a:ln w="285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83" name="Line 39"/>
          <p:cNvSpPr>
            <a:spLocks noChangeShapeType="1"/>
          </p:cNvSpPr>
          <p:nvPr/>
        </p:nvSpPr>
        <p:spPr bwMode="auto">
          <a:xfrm>
            <a:off x="4038600" y="2667000"/>
            <a:ext cx="533400" cy="304800"/>
          </a:xfrm>
          <a:prstGeom prst="line">
            <a:avLst/>
          </a:prstGeom>
          <a:noFill/>
          <a:ln w="285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84" name="Line 40"/>
          <p:cNvSpPr>
            <a:spLocks noChangeShapeType="1"/>
          </p:cNvSpPr>
          <p:nvPr/>
        </p:nvSpPr>
        <p:spPr bwMode="auto">
          <a:xfrm flipV="1">
            <a:off x="5181600" y="4114800"/>
            <a:ext cx="2133600" cy="1371600"/>
          </a:xfrm>
          <a:prstGeom prst="line">
            <a:avLst/>
          </a:prstGeom>
          <a:noFill/>
          <a:ln w="285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6185" name="Line 41"/>
          <p:cNvSpPr>
            <a:spLocks noChangeShapeType="1"/>
          </p:cNvSpPr>
          <p:nvPr/>
        </p:nvSpPr>
        <p:spPr bwMode="auto">
          <a:xfrm>
            <a:off x="6477000" y="3352800"/>
            <a:ext cx="838200" cy="533400"/>
          </a:xfrm>
          <a:prstGeom prst="line">
            <a:avLst/>
          </a:prstGeom>
          <a:noFill/>
          <a:ln w="28575">
            <a:solidFill>
              <a:srgbClr val="FFCC00"/>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8453" name="Rectangle 42"/>
          <p:cNvSpPr>
            <a:spLocks noGrp="1" noChangeArrowheads="1"/>
          </p:cNvSpPr>
          <p:nvPr>
            <p:ph type="title"/>
          </p:nvPr>
        </p:nvSpPr>
        <p:spPr>
          <a:xfrm>
            <a:off x="685801" y="342886"/>
            <a:ext cx="10131425" cy="1456267"/>
          </a:xfrm>
        </p:spPr>
        <p:txBody>
          <a:bodyPr/>
          <a:lstStyle/>
          <a:p>
            <a:pPr eaLnBrk="1" hangingPunct="1"/>
            <a:r>
              <a:rPr lang="en-US" altLang="en-US" b="1" u="sng" dirty="0" smtClean="0"/>
              <a:t>DuPont System</a:t>
            </a:r>
          </a:p>
        </p:txBody>
      </p:sp>
      <p:sp>
        <p:nvSpPr>
          <p:cNvPr id="6197" name="Text Box 53"/>
          <p:cNvSpPr txBox="1">
            <a:spLocks noChangeArrowheads="1"/>
          </p:cNvSpPr>
          <p:nvPr/>
        </p:nvSpPr>
        <p:spPr bwMode="auto">
          <a:xfrm>
            <a:off x="3581400" y="1600200"/>
            <a:ext cx="2438400" cy="369888"/>
          </a:xfrm>
          <a:prstGeom prst="rect">
            <a:avLst/>
          </a:prstGeom>
          <a:solidFill>
            <a:schemeClr val="tx1">
              <a:lumMod val="65000"/>
            </a:schemeClr>
          </a:solid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b="1" dirty="0"/>
              <a:t>Earnings/Efficiency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77"/>
                                        </p:tgtEl>
                                        <p:attrNameLst>
                                          <p:attrName>style.visibility</p:attrName>
                                        </p:attrNameLst>
                                      </p:cBhvr>
                                      <p:to>
                                        <p:strVal val="visible"/>
                                      </p:to>
                                    </p:set>
                                    <p:animEffect transition="in" filter="dissolve">
                                      <p:cBhvr>
                                        <p:cTn id="7" dur="500"/>
                                        <p:tgtEl>
                                          <p:spTgt spid="6177"/>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197"/>
                                        </p:tgtEl>
                                        <p:attrNameLst>
                                          <p:attrName>style.visibility</p:attrName>
                                        </p:attrNameLst>
                                      </p:cBhvr>
                                      <p:to>
                                        <p:strVal val="visible"/>
                                      </p:to>
                                    </p:set>
                                    <p:animEffect transition="in" filter="dissolve">
                                      <p:cBhvr>
                                        <p:cTn id="15" dur="500"/>
                                        <p:tgtEl>
                                          <p:spTgt spid="6197"/>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149"/>
                                        </p:tgtEl>
                                        <p:attrNameLst>
                                          <p:attrName>style.visibility</p:attrName>
                                        </p:attrNameLst>
                                      </p:cBhvr>
                                      <p:to>
                                        <p:strVal val="visible"/>
                                      </p:to>
                                    </p:set>
                                    <p:animEffect transition="in" filter="dissolve">
                                      <p:cBhvr>
                                        <p:cTn id="18" dur="500"/>
                                        <p:tgtEl>
                                          <p:spTgt spid="614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183"/>
                                        </p:tgtEl>
                                        <p:attrNameLst>
                                          <p:attrName>style.visibility</p:attrName>
                                        </p:attrNameLst>
                                      </p:cBhvr>
                                      <p:to>
                                        <p:strVal val="visible"/>
                                      </p:to>
                                    </p:set>
                                    <p:animEffect transition="in" filter="dissolve">
                                      <p:cBhvr>
                                        <p:cTn id="21" dur="500"/>
                                        <p:tgtEl>
                                          <p:spTgt spid="618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6158"/>
                                        </p:tgtEl>
                                        <p:attrNameLst>
                                          <p:attrName>style.visibility</p:attrName>
                                        </p:attrNameLst>
                                      </p:cBhvr>
                                      <p:to>
                                        <p:strVal val="visible"/>
                                      </p:to>
                                    </p:set>
                                    <p:animEffect transition="in" filter="dissolve">
                                      <p:cBhvr>
                                        <p:cTn id="26" dur="500"/>
                                        <p:tgtEl>
                                          <p:spTgt spid="615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6182"/>
                                        </p:tgtEl>
                                        <p:attrNameLst>
                                          <p:attrName>style.visibility</p:attrName>
                                        </p:attrNameLst>
                                      </p:cBhvr>
                                      <p:to>
                                        <p:strVal val="visible"/>
                                      </p:to>
                                    </p:set>
                                    <p:animEffect transition="in" filter="dissolve">
                                      <p:cBhvr>
                                        <p:cTn id="29" dur="500"/>
                                        <p:tgtEl>
                                          <p:spTgt spid="6182"/>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6150"/>
                                        </p:tgtEl>
                                        <p:attrNameLst>
                                          <p:attrName>style.visibility</p:attrName>
                                        </p:attrNameLst>
                                      </p:cBhvr>
                                      <p:to>
                                        <p:strVal val="visible"/>
                                      </p:to>
                                    </p:set>
                                    <p:animEffect transition="in" filter="dissolve">
                                      <p:cBhvr>
                                        <p:cTn id="32" dur="500"/>
                                        <p:tgtEl>
                                          <p:spTgt spid="615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6180"/>
                                        </p:tgtEl>
                                        <p:attrNameLst>
                                          <p:attrName>style.visibility</p:attrName>
                                        </p:attrNameLst>
                                      </p:cBhvr>
                                      <p:to>
                                        <p:strVal val="visible"/>
                                      </p:to>
                                    </p:set>
                                    <p:animEffect transition="in" filter="dissolve">
                                      <p:cBhvr>
                                        <p:cTn id="35" dur="500"/>
                                        <p:tgtEl>
                                          <p:spTgt spid="618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1" nodeType="clickEffect">
                                  <p:stCondLst>
                                    <p:cond delay="0"/>
                                  </p:stCondLst>
                                  <p:childTnLst>
                                    <p:set>
                                      <p:cBhvr>
                                        <p:cTn id="39" dur="1" fill="hold">
                                          <p:stCondLst>
                                            <p:cond delay="0"/>
                                          </p:stCondLst>
                                        </p:cTn>
                                        <p:tgtEl>
                                          <p:spTgt spid="6158"/>
                                        </p:tgtEl>
                                        <p:attrNameLst>
                                          <p:attrName>style.visibility</p:attrName>
                                        </p:attrNameLst>
                                      </p:cBhvr>
                                      <p:to>
                                        <p:strVal val="visible"/>
                                      </p:to>
                                    </p:set>
                                    <p:animEffect transition="in" filter="dissolve">
                                      <p:cBhvr>
                                        <p:cTn id="40" dur="500"/>
                                        <p:tgtEl>
                                          <p:spTgt spid="6158"/>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6182"/>
                                        </p:tgtEl>
                                        <p:attrNameLst>
                                          <p:attrName>style.visibility</p:attrName>
                                        </p:attrNameLst>
                                      </p:cBhvr>
                                      <p:to>
                                        <p:strVal val="visible"/>
                                      </p:to>
                                    </p:set>
                                    <p:animEffect transition="in" filter="dissolve">
                                      <p:cBhvr>
                                        <p:cTn id="43" dur="500"/>
                                        <p:tgtEl>
                                          <p:spTgt spid="618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6150"/>
                                        </p:tgtEl>
                                        <p:attrNameLst>
                                          <p:attrName>style.visibility</p:attrName>
                                        </p:attrNameLst>
                                      </p:cBhvr>
                                      <p:to>
                                        <p:strVal val="visible"/>
                                      </p:to>
                                    </p:set>
                                    <p:animEffect transition="in" filter="dissolve">
                                      <p:cBhvr>
                                        <p:cTn id="46" dur="500"/>
                                        <p:tgtEl>
                                          <p:spTgt spid="6150"/>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6180"/>
                                        </p:tgtEl>
                                        <p:attrNameLst>
                                          <p:attrName>style.visibility</p:attrName>
                                        </p:attrNameLst>
                                      </p:cBhvr>
                                      <p:to>
                                        <p:strVal val="visible"/>
                                      </p:to>
                                    </p:set>
                                    <p:animEffect transition="in" filter="dissolve">
                                      <p:cBhvr>
                                        <p:cTn id="49" dur="500"/>
                                        <p:tgtEl>
                                          <p:spTgt spid="618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159"/>
                                        </p:tgtEl>
                                        <p:attrNameLst>
                                          <p:attrName>style.visibility</p:attrName>
                                        </p:attrNameLst>
                                      </p:cBhvr>
                                      <p:to>
                                        <p:strVal val="visible"/>
                                      </p:to>
                                    </p:set>
                                    <p:animEffect transition="in" filter="dissolve">
                                      <p:cBhvr>
                                        <p:cTn id="52" dur="500"/>
                                        <p:tgtEl>
                                          <p:spTgt spid="615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151"/>
                                        </p:tgtEl>
                                        <p:attrNameLst>
                                          <p:attrName>style.visibility</p:attrName>
                                        </p:attrNameLst>
                                      </p:cBhvr>
                                      <p:to>
                                        <p:strVal val="visible"/>
                                      </p:to>
                                    </p:set>
                                    <p:animEffect transition="in" filter="dissolve">
                                      <p:cBhvr>
                                        <p:cTn id="55" dur="500"/>
                                        <p:tgtEl>
                                          <p:spTgt spid="615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6178"/>
                                        </p:tgtEl>
                                        <p:attrNameLst>
                                          <p:attrName>style.visibility</p:attrName>
                                        </p:attrNameLst>
                                      </p:cBhvr>
                                      <p:to>
                                        <p:strVal val="visible"/>
                                      </p:to>
                                    </p:set>
                                    <p:animEffect transition="in" filter="dissolve">
                                      <p:cBhvr>
                                        <p:cTn id="60" dur="500"/>
                                        <p:tgtEl>
                                          <p:spTgt spid="6178"/>
                                        </p:tgtEl>
                                      </p:cBhvr>
                                    </p:animEffect>
                                  </p:childTnLst>
                                </p:cTn>
                              </p:par>
                              <p:par>
                                <p:cTn id="61" presetID="9" presetClass="entr" presetSubtype="0" fill="hold" nodeType="with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dissolve">
                                      <p:cBhvr>
                                        <p:cTn id="63" dur="500"/>
                                        <p:tgtEl>
                                          <p:spTgt spid="3"/>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6152"/>
                                        </p:tgtEl>
                                        <p:attrNameLst>
                                          <p:attrName>style.visibility</p:attrName>
                                        </p:attrNameLst>
                                      </p:cBhvr>
                                      <p:to>
                                        <p:strVal val="visible"/>
                                      </p:to>
                                    </p:set>
                                    <p:animEffect transition="in" filter="dissolve">
                                      <p:cBhvr>
                                        <p:cTn id="66" dur="500"/>
                                        <p:tgtEl>
                                          <p:spTgt spid="6152"/>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6181"/>
                                        </p:tgtEl>
                                        <p:attrNameLst>
                                          <p:attrName>style.visibility</p:attrName>
                                        </p:attrNameLst>
                                      </p:cBhvr>
                                      <p:to>
                                        <p:strVal val="visible"/>
                                      </p:to>
                                    </p:set>
                                    <p:animEffect transition="in" filter="dissolve">
                                      <p:cBhvr>
                                        <p:cTn id="69" dur="500"/>
                                        <p:tgtEl>
                                          <p:spTgt spid="618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6184"/>
                                        </p:tgtEl>
                                        <p:attrNameLst>
                                          <p:attrName>style.visibility</p:attrName>
                                        </p:attrNameLst>
                                      </p:cBhvr>
                                      <p:to>
                                        <p:strVal val="visible"/>
                                      </p:to>
                                    </p:set>
                                    <p:animEffect transition="in" filter="dissolve">
                                      <p:cBhvr>
                                        <p:cTn id="74" dur="500"/>
                                        <p:tgtEl>
                                          <p:spTgt spid="6184"/>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6185"/>
                                        </p:tgtEl>
                                        <p:attrNameLst>
                                          <p:attrName>style.visibility</p:attrName>
                                        </p:attrNameLst>
                                      </p:cBhvr>
                                      <p:to>
                                        <p:strVal val="visible"/>
                                      </p:to>
                                    </p:set>
                                    <p:animEffect transition="in" filter="dissolve">
                                      <p:cBhvr>
                                        <p:cTn id="77" dur="500"/>
                                        <p:tgtEl>
                                          <p:spTgt spid="6185"/>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6162"/>
                                        </p:tgtEl>
                                        <p:attrNameLst>
                                          <p:attrName>style.visibility</p:attrName>
                                        </p:attrNameLst>
                                      </p:cBhvr>
                                      <p:to>
                                        <p:strVal val="visible"/>
                                      </p:to>
                                    </p:set>
                                    <p:animEffect transition="in" filter="dissolve">
                                      <p:cBhvr>
                                        <p:cTn id="80" dur="500"/>
                                        <p:tgtEl>
                                          <p:spTgt spid="6162"/>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6163"/>
                                        </p:tgtEl>
                                        <p:attrNameLst>
                                          <p:attrName>style.visibility</p:attrName>
                                        </p:attrNameLst>
                                      </p:cBhvr>
                                      <p:to>
                                        <p:strVal val="visible"/>
                                      </p:to>
                                    </p:set>
                                    <p:animEffect transition="in" filter="dissolve">
                                      <p:cBhvr>
                                        <p:cTn id="83" dur="500"/>
                                        <p:tgtEl>
                                          <p:spTgt spid="61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p:bldP spid="6150" grpId="0" animBg="1"/>
      <p:bldP spid="6150" grpId="1" animBg="1"/>
      <p:bldP spid="6151" grpId="0" animBg="1"/>
      <p:bldP spid="6152" grpId="0" animBg="1"/>
      <p:bldP spid="6158" grpId="0" animBg="1"/>
      <p:bldP spid="6158" grpId="1" animBg="1"/>
      <p:bldP spid="6159" grpId="0" animBg="1"/>
      <p:bldP spid="6162" grpId="0" animBg="1"/>
      <p:bldP spid="6163" grpId="0" animBg="1"/>
      <p:bldP spid="6177" grpId="0" animBg="1"/>
      <p:bldP spid="6178" grpId="0" animBg="1"/>
      <p:bldP spid="6180" grpId="0" animBg="1"/>
      <p:bldP spid="6180" grpId="1" animBg="1"/>
      <p:bldP spid="6181" grpId="0" animBg="1"/>
      <p:bldP spid="6182" grpId="0" animBg="1"/>
      <p:bldP spid="6182" grpId="1" animBg="1"/>
      <p:bldP spid="6183" grpId="0" animBg="1"/>
      <p:bldP spid="6184" grpId="0" animBg="1"/>
      <p:bldP spid="6185" grpId="0" animBg="1"/>
      <p:bldP spid="619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529" y="262129"/>
            <a:ext cx="10131425" cy="871728"/>
          </a:xfrm>
        </p:spPr>
        <p:txBody>
          <a:bodyPr>
            <a:normAutofit fontScale="90000"/>
          </a:bodyPr>
          <a:lstStyle/>
          <a:p>
            <a:r>
              <a:rPr lang="en-IN" dirty="0" smtClean="0"/>
              <a:t>DuPont analysis of Apollo tyres ltd. &amp; MRF tyres ltd.</a:t>
            </a:r>
            <a:endParaRPr lang="en-IN" dirty="0"/>
          </a:p>
        </p:txBody>
      </p:sp>
      <p:graphicFrame>
        <p:nvGraphicFramePr>
          <p:cNvPr id="3" name="Diagram 2"/>
          <p:cNvGraphicFramePr/>
          <p:nvPr>
            <p:extLst>
              <p:ext uri="{D42A27DB-BD31-4B8C-83A1-F6EECF244321}">
                <p14:modId xmlns:p14="http://schemas.microsoft.com/office/powerpoint/2010/main" val="1856392681"/>
              </p:ext>
            </p:extLst>
          </p:nvPr>
        </p:nvGraphicFramePr>
        <p:xfrm>
          <a:off x="795529" y="1591058"/>
          <a:ext cx="4910327" cy="5266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Diagram 3"/>
          <p:cNvGraphicFramePr/>
          <p:nvPr>
            <p:extLst>
              <p:ext uri="{D42A27DB-BD31-4B8C-83A1-F6EECF244321}">
                <p14:modId xmlns:p14="http://schemas.microsoft.com/office/powerpoint/2010/main" val="2020589931"/>
              </p:ext>
            </p:extLst>
          </p:nvPr>
        </p:nvGraphicFramePr>
        <p:xfrm>
          <a:off x="6406896" y="1591059"/>
          <a:ext cx="4910327" cy="526694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TextBox 4"/>
          <p:cNvSpPr txBox="1"/>
          <p:nvPr/>
        </p:nvSpPr>
        <p:spPr>
          <a:xfrm>
            <a:off x="2862072" y="1728216"/>
            <a:ext cx="1632178" cy="369332"/>
          </a:xfrm>
          <a:prstGeom prst="rect">
            <a:avLst/>
          </a:prstGeom>
          <a:noFill/>
        </p:spPr>
        <p:txBody>
          <a:bodyPr wrap="none" rtlCol="0">
            <a:spAutoFit/>
          </a:bodyPr>
          <a:lstStyle/>
          <a:p>
            <a:r>
              <a:rPr lang="en-IN" dirty="0" smtClean="0"/>
              <a:t>Apollo Tyres ltd</a:t>
            </a:r>
            <a:endParaRPr lang="en-IN" dirty="0"/>
          </a:p>
        </p:txBody>
      </p:sp>
      <p:sp>
        <p:nvSpPr>
          <p:cNvPr id="6" name="TextBox 5"/>
          <p:cNvSpPr txBox="1"/>
          <p:nvPr/>
        </p:nvSpPr>
        <p:spPr>
          <a:xfrm>
            <a:off x="8467344" y="1728216"/>
            <a:ext cx="1513556" cy="369332"/>
          </a:xfrm>
          <a:prstGeom prst="rect">
            <a:avLst/>
          </a:prstGeom>
          <a:noFill/>
        </p:spPr>
        <p:txBody>
          <a:bodyPr wrap="none" rtlCol="0">
            <a:spAutoFit/>
          </a:bodyPr>
          <a:lstStyle/>
          <a:p>
            <a:r>
              <a:rPr lang="en-IN" dirty="0" smtClean="0"/>
              <a:t>MRF Tyres ltd.</a:t>
            </a:r>
            <a:endParaRPr lang="en-IN" dirty="0"/>
          </a:p>
        </p:txBody>
      </p:sp>
    </p:spTree>
    <p:extLst>
      <p:ext uri="{BB962C8B-B14F-4D97-AF65-F5344CB8AC3E}">
        <p14:creationId xmlns:p14="http://schemas.microsoft.com/office/powerpoint/2010/main" val="31118560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Correlation between Apollo tyres shares with other competitors and nifty</a:t>
            </a:r>
            <a:endParaRPr lang="en-IN" dirty="0"/>
          </a:p>
        </p:txBody>
      </p:sp>
      <p:sp>
        <p:nvSpPr>
          <p:cNvPr id="3" name="Content Placeholder 2"/>
          <p:cNvSpPr>
            <a:spLocks noGrp="1"/>
          </p:cNvSpPr>
          <p:nvPr>
            <p:ph idx="1"/>
          </p:nvPr>
        </p:nvSpPr>
        <p:spPr/>
        <p:txBody>
          <a:bodyPr/>
          <a:lstStyle/>
          <a:p>
            <a:r>
              <a:rPr lang="en-IN" dirty="0" smtClean="0"/>
              <a:t>Taken historical prices of Nifty, Apollo tyres, MRF tyres, JK tyres </a:t>
            </a:r>
          </a:p>
          <a:p>
            <a:r>
              <a:rPr lang="en-IN" dirty="0" smtClean="0"/>
              <a:t>Found the correlation between each. </a:t>
            </a:r>
          </a:p>
          <a:p>
            <a:r>
              <a:rPr lang="en-IN" dirty="0" smtClean="0"/>
              <a:t>Correlation : </a:t>
            </a:r>
            <a:r>
              <a:rPr lang="en-IN" dirty="0" smtClean="0">
                <a:hlinkClick r:id="rId2" action="ppaction://hlinkfile"/>
              </a:rPr>
              <a:t>correlation values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84633460"/>
              </p:ext>
            </p:extLst>
          </p:nvPr>
        </p:nvGraphicFramePr>
        <p:xfrm>
          <a:off x="2160016" y="4651586"/>
          <a:ext cx="8128000" cy="1112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xmlns="" val="20000"/>
                    </a:ext>
                  </a:extLst>
                </a:gridCol>
                <a:gridCol w="4064000">
                  <a:extLst>
                    <a:ext uri="{9D8B030D-6E8A-4147-A177-3AD203B41FA5}">
                      <a16:colId xmlns:a16="http://schemas.microsoft.com/office/drawing/2014/main" xmlns="" val="20001"/>
                    </a:ext>
                  </a:extLst>
                </a:gridCol>
              </a:tblGrid>
              <a:tr h="370840">
                <a:tc>
                  <a:txBody>
                    <a:bodyPr/>
                    <a:lstStyle/>
                    <a:p>
                      <a:r>
                        <a:rPr lang="en-IN" dirty="0" smtClean="0"/>
                        <a:t>Apollo</a:t>
                      </a:r>
                      <a:r>
                        <a:rPr lang="en-IN" baseline="0" dirty="0" smtClean="0"/>
                        <a:t> tyres - Nifty</a:t>
                      </a:r>
                      <a:endParaRPr lang="en-IN" dirty="0"/>
                    </a:p>
                  </a:txBody>
                  <a:tcPr/>
                </a:tc>
                <a:tc>
                  <a:txBody>
                    <a:bodyPr/>
                    <a:lstStyle/>
                    <a:p>
                      <a:pPr algn="ctr"/>
                      <a:r>
                        <a:rPr lang="en-IN" dirty="0" smtClean="0"/>
                        <a:t>0.5202</a:t>
                      </a:r>
                      <a:r>
                        <a:rPr lang="en-IN" baseline="0" dirty="0" smtClean="0"/>
                        <a:t> (52.02%)</a:t>
                      </a:r>
                      <a:endParaRPr lang="en-IN" dirty="0"/>
                    </a:p>
                  </a:txBody>
                  <a:tcPr/>
                </a:tc>
                <a:extLst>
                  <a:ext uri="{0D108BD9-81ED-4DB2-BD59-A6C34878D82A}">
                    <a16:rowId xmlns:a16="http://schemas.microsoft.com/office/drawing/2014/main" xmlns="" val="10000"/>
                  </a:ext>
                </a:extLst>
              </a:tr>
              <a:tr h="370840">
                <a:tc>
                  <a:txBody>
                    <a:bodyPr/>
                    <a:lstStyle/>
                    <a:p>
                      <a:r>
                        <a:rPr lang="en-IN" dirty="0" smtClean="0"/>
                        <a:t>Apollo tyres – MRF tyres</a:t>
                      </a:r>
                      <a:endParaRPr lang="en-IN" dirty="0"/>
                    </a:p>
                  </a:txBody>
                  <a:tcPr/>
                </a:tc>
                <a:tc>
                  <a:txBody>
                    <a:bodyPr/>
                    <a:lstStyle/>
                    <a:p>
                      <a:pPr algn="ctr"/>
                      <a:r>
                        <a:rPr lang="en-IN" dirty="0" smtClean="0"/>
                        <a:t>0.7317(73.17%)</a:t>
                      </a:r>
                      <a:endParaRPr lang="en-IN" dirty="0"/>
                    </a:p>
                  </a:txBody>
                  <a:tcPr/>
                </a:tc>
                <a:extLst>
                  <a:ext uri="{0D108BD9-81ED-4DB2-BD59-A6C34878D82A}">
                    <a16:rowId xmlns:a16="http://schemas.microsoft.com/office/drawing/2014/main" xmlns="" val="10001"/>
                  </a:ext>
                </a:extLst>
              </a:tr>
              <a:tr h="370840">
                <a:tc>
                  <a:txBody>
                    <a:bodyPr/>
                    <a:lstStyle/>
                    <a:p>
                      <a:r>
                        <a:rPr lang="en-IN" dirty="0" smtClean="0"/>
                        <a:t>Apollo tyres –</a:t>
                      </a:r>
                      <a:r>
                        <a:rPr lang="en-IN" baseline="0" dirty="0" smtClean="0"/>
                        <a:t> JK Tyres</a:t>
                      </a:r>
                      <a:endParaRPr lang="en-IN" dirty="0"/>
                    </a:p>
                  </a:txBody>
                  <a:tcPr/>
                </a:tc>
                <a:tc>
                  <a:txBody>
                    <a:bodyPr/>
                    <a:lstStyle/>
                    <a:p>
                      <a:pPr algn="ctr"/>
                      <a:r>
                        <a:rPr lang="en-IN" dirty="0" smtClean="0"/>
                        <a:t>0.7838(78.38%)</a:t>
                      </a:r>
                      <a:endParaRPr lang="en-IN" dirty="0"/>
                    </a:p>
                  </a:txBody>
                  <a:tcPr/>
                </a:tc>
                <a:extLst>
                  <a:ext uri="{0D108BD9-81ED-4DB2-BD59-A6C34878D82A}">
                    <a16:rowId xmlns:a16="http://schemas.microsoft.com/office/drawing/2014/main" xmlns="" val="10002"/>
                  </a:ext>
                </a:extLst>
              </a:tr>
            </a:tbl>
          </a:graphicData>
        </a:graphic>
      </p:graphicFrame>
    </p:spTree>
    <p:extLst>
      <p:ext uri="{BB962C8B-B14F-4D97-AF65-F5344CB8AC3E}">
        <p14:creationId xmlns:p14="http://schemas.microsoft.com/office/powerpoint/2010/main" val="28545123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Apollo tyres VS </a:t>
            </a:r>
            <a:r>
              <a:rPr lang="en-US" dirty="0" err="1" smtClean="0"/>
              <a:t>j.k</a:t>
            </a:r>
            <a:r>
              <a:rPr lang="en-US" dirty="0" smtClean="0"/>
              <a:t>. tyres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95568648"/>
              </p:ext>
            </p:extLst>
          </p:nvPr>
        </p:nvGraphicFramePr>
        <p:xfrm>
          <a:off x="685800" y="2141538"/>
          <a:ext cx="10131425" cy="3649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74049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790" y="180305"/>
            <a:ext cx="4951554" cy="355456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7318" y="180306"/>
            <a:ext cx="5145617" cy="355456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8322" y="3734873"/>
            <a:ext cx="6134956" cy="3123127"/>
          </a:xfrm>
          <a:prstGeom prst="rect">
            <a:avLst/>
          </a:prstGeom>
        </p:spPr>
      </p:pic>
    </p:spTree>
    <p:extLst>
      <p:ext uri="{BB962C8B-B14F-4D97-AF65-F5344CB8AC3E}">
        <p14:creationId xmlns:p14="http://schemas.microsoft.com/office/powerpoint/2010/main" val="13566769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697" y="112738"/>
            <a:ext cx="5550402" cy="331647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6689" y="112737"/>
            <a:ext cx="5465192" cy="3316479"/>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88179" y="3429217"/>
            <a:ext cx="5944430" cy="3428783"/>
          </a:xfrm>
          <a:prstGeom prst="rect">
            <a:avLst/>
          </a:prstGeom>
        </p:spPr>
      </p:pic>
    </p:spTree>
    <p:extLst>
      <p:ext uri="{BB962C8B-B14F-4D97-AF65-F5344CB8AC3E}">
        <p14:creationId xmlns:p14="http://schemas.microsoft.com/office/powerpoint/2010/main" val="2076661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Outlook of stock</a:t>
            </a:r>
            <a:endParaRPr lang="en-IN" dirty="0"/>
          </a:p>
        </p:txBody>
      </p:sp>
      <p:sp>
        <p:nvSpPr>
          <p:cNvPr id="3" name="Content Placeholder 2"/>
          <p:cNvSpPr>
            <a:spLocks noGrp="1"/>
          </p:cNvSpPr>
          <p:nvPr>
            <p:ph idx="1"/>
          </p:nvPr>
        </p:nvSpPr>
        <p:spPr/>
        <p:txBody>
          <a:bodyPr/>
          <a:lstStyle/>
          <a:p>
            <a:r>
              <a:rPr lang="en-IN" dirty="0" smtClean="0"/>
              <a:t>As per Bloomberg source and independent Research houses, 65% predict the BUY option and 25% on HOLD</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730912332"/>
              </p:ext>
            </p:extLst>
          </p:nvPr>
        </p:nvGraphicFramePr>
        <p:xfrm>
          <a:off x="1785112" y="4551002"/>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xmlns="" val="20000"/>
                    </a:ext>
                  </a:extLst>
                </a:gridCol>
                <a:gridCol w="2709333">
                  <a:extLst>
                    <a:ext uri="{9D8B030D-6E8A-4147-A177-3AD203B41FA5}">
                      <a16:colId xmlns:a16="http://schemas.microsoft.com/office/drawing/2014/main" xmlns="" val="20001"/>
                    </a:ext>
                  </a:extLst>
                </a:gridCol>
                <a:gridCol w="2709333">
                  <a:extLst>
                    <a:ext uri="{9D8B030D-6E8A-4147-A177-3AD203B41FA5}">
                      <a16:colId xmlns:a16="http://schemas.microsoft.com/office/drawing/2014/main" xmlns="" val="20002"/>
                    </a:ext>
                  </a:extLst>
                </a:gridCol>
              </a:tblGrid>
              <a:tr h="370840">
                <a:tc>
                  <a:txBody>
                    <a:bodyPr/>
                    <a:lstStyle/>
                    <a:p>
                      <a:r>
                        <a:rPr lang="en-IN" dirty="0" smtClean="0"/>
                        <a:t>Company Name</a:t>
                      </a:r>
                      <a:endParaRPr lang="en-IN" dirty="0"/>
                    </a:p>
                  </a:txBody>
                  <a:tcPr/>
                </a:tc>
                <a:tc>
                  <a:txBody>
                    <a:bodyPr/>
                    <a:lstStyle/>
                    <a:p>
                      <a:r>
                        <a:rPr lang="en-IN" dirty="0" smtClean="0"/>
                        <a:t>Rating</a:t>
                      </a:r>
                      <a:endParaRPr lang="en-IN" dirty="0"/>
                    </a:p>
                  </a:txBody>
                  <a:tcPr/>
                </a:tc>
                <a:tc>
                  <a:txBody>
                    <a:bodyPr/>
                    <a:lstStyle/>
                    <a:p>
                      <a:r>
                        <a:rPr lang="en-IN" dirty="0" smtClean="0"/>
                        <a:t>Impact on Company</a:t>
                      </a:r>
                      <a:endParaRPr lang="en-IN" dirty="0"/>
                    </a:p>
                  </a:txBody>
                  <a:tcPr/>
                </a:tc>
                <a:extLst>
                  <a:ext uri="{0D108BD9-81ED-4DB2-BD59-A6C34878D82A}">
                    <a16:rowId xmlns:a16="http://schemas.microsoft.com/office/drawing/2014/main" xmlns="" val="10000"/>
                  </a:ext>
                </a:extLst>
              </a:tr>
              <a:tr h="370840">
                <a:tc>
                  <a:txBody>
                    <a:bodyPr/>
                    <a:lstStyle/>
                    <a:p>
                      <a:r>
                        <a:rPr lang="en-IN" dirty="0" smtClean="0"/>
                        <a:t>Apollo tyres ltd.</a:t>
                      </a:r>
                      <a:endParaRPr lang="en-IN" dirty="0"/>
                    </a:p>
                  </a:txBody>
                  <a:tcPr/>
                </a:tc>
                <a:tc>
                  <a:txBody>
                    <a:bodyPr/>
                    <a:lstStyle/>
                    <a:p>
                      <a:r>
                        <a:rPr lang="en-IN" dirty="0" smtClean="0"/>
                        <a:t>BUY</a:t>
                      </a:r>
                      <a:endParaRPr lang="en-IN" dirty="0"/>
                    </a:p>
                  </a:txBody>
                  <a:tcPr/>
                </a:tc>
                <a:tc>
                  <a:txBody>
                    <a:bodyPr/>
                    <a:lstStyle/>
                    <a:p>
                      <a:r>
                        <a:rPr lang="en-IN" dirty="0" smtClean="0"/>
                        <a:t>POSITIVE</a:t>
                      </a:r>
                      <a:endParaRPr lang="en-IN" dirty="0"/>
                    </a:p>
                  </a:txBody>
                  <a:tcPr/>
                </a:tc>
                <a:extLst>
                  <a:ext uri="{0D108BD9-81ED-4DB2-BD59-A6C34878D82A}">
                    <a16:rowId xmlns:a16="http://schemas.microsoft.com/office/drawing/2014/main" xmlns="" val="10001"/>
                  </a:ext>
                </a:extLst>
              </a:tr>
            </a:tbl>
          </a:graphicData>
        </a:graphic>
      </p:graphicFrame>
      <p:sp>
        <p:nvSpPr>
          <p:cNvPr id="5" name="TextBox 4"/>
          <p:cNvSpPr txBox="1"/>
          <p:nvPr/>
        </p:nvSpPr>
        <p:spPr>
          <a:xfrm>
            <a:off x="1097280" y="5791199"/>
            <a:ext cx="1259554" cy="369332"/>
          </a:xfrm>
          <a:prstGeom prst="rect">
            <a:avLst/>
          </a:prstGeom>
          <a:noFill/>
        </p:spPr>
        <p:txBody>
          <a:bodyPr wrap="square" rtlCol="0">
            <a:spAutoFit/>
          </a:bodyPr>
          <a:lstStyle/>
          <a:p>
            <a:r>
              <a:rPr lang="en-IN" sz="1600" dirty="0" smtClean="0"/>
              <a:t>*At your </a:t>
            </a:r>
            <a:r>
              <a:rPr lang="en-IN" dirty="0" smtClean="0"/>
              <a:t>risk</a:t>
            </a:r>
            <a:endParaRPr lang="en-IN" sz="1600" dirty="0"/>
          </a:p>
        </p:txBody>
      </p:sp>
    </p:spTree>
    <p:extLst>
      <p:ext uri="{BB962C8B-B14F-4D97-AF65-F5344CB8AC3E}">
        <p14:creationId xmlns:p14="http://schemas.microsoft.com/office/powerpoint/2010/main" val="10104225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512586" y="2967335"/>
            <a:ext cx="3166829" cy="923330"/>
          </a:xfrm>
          <a:prstGeom prst="rect">
            <a:avLst/>
          </a:prstGeom>
          <a:noFill/>
        </p:spPr>
        <p:txBody>
          <a:bodyPr wrap="none" lIns="91440" tIns="45720" rIns="91440" bIns="45720">
            <a:spAutoFit/>
          </a:bodyPr>
          <a:lstStyle/>
          <a:p>
            <a:pPr algn="ctr"/>
            <a:r>
              <a:rPr lang="en-US" sz="54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23813855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Gothic"/>
        <a:cs typeface="MS Gothic"/>
      </a:majorFont>
      <a:minorFont>
        <a:latin typeface="Arial"/>
        <a:ea typeface="MS Gothic"/>
        <a:cs typeface="MS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Gothic"/>
        <a:cs typeface="MS Gothic"/>
      </a:majorFont>
      <a:minorFont>
        <a:latin typeface="Arial"/>
        <a:ea typeface="MS Gothic"/>
        <a:cs typeface="MS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Gothic"/>
        <a:cs typeface="MS Gothic"/>
      </a:majorFont>
      <a:minorFont>
        <a:latin typeface="Arial"/>
        <a:ea typeface="MS Gothic"/>
        <a:cs typeface="MS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S Gothic"/>
        <a:cs typeface="MS Gothic"/>
      </a:majorFont>
      <a:minorFont>
        <a:latin typeface="Arial"/>
        <a:ea typeface="MS Gothic"/>
        <a:cs typeface="MS Gothic"/>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TM03457452[[fn=Celestial]]</Template>
  <TotalTime>219</TotalTime>
  <Words>1971</Words>
  <Application>Microsoft Office PowerPoint</Application>
  <PresentationFormat>Widescreen</PresentationFormat>
  <Paragraphs>268</Paragraphs>
  <Slides>43</Slides>
  <Notes>0</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43</vt:i4>
      </vt:variant>
    </vt:vector>
  </HeadingPairs>
  <TitlesOfParts>
    <vt:vector size="57" baseType="lpstr">
      <vt:lpstr>Arial Unicode MS</vt:lpstr>
      <vt:lpstr>MS Gothic</vt:lpstr>
      <vt:lpstr>ＭＳ Ｐゴシック</vt:lpstr>
      <vt:lpstr>Arial</vt:lpstr>
      <vt:lpstr>Calibri</vt:lpstr>
      <vt:lpstr>Calibri Light</vt:lpstr>
      <vt:lpstr>Times New Roman</vt:lpstr>
      <vt:lpstr>Verdana</vt:lpstr>
      <vt:lpstr>Celestial</vt:lpstr>
      <vt:lpstr>Office Theme</vt:lpstr>
      <vt:lpstr>1_Office Theme</vt:lpstr>
      <vt:lpstr>2_Office Theme</vt:lpstr>
      <vt:lpstr>3_Office Theme</vt:lpstr>
      <vt:lpstr>Diseño predeterminado</vt:lpstr>
      <vt:lpstr>Analysis on Apollo tyres ltd.</vt:lpstr>
      <vt:lpstr>About Apollo tyres ltd</vt:lpstr>
      <vt:lpstr>History: </vt:lpstr>
      <vt:lpstr>History:</vt:lpstr>
      <vt:lpstr>Management discussion and analysis</vt:lpstr>
      <vt:lpstr>industry overview</vt:lpstr>
      <vt:lpstr>Industry Overview</vt:lpstr>
      <vt:lpstr>Industry Overview</vt:lpstr>
      <vt:lpstr>SWOT analysis</vt:lpstr>
      <vt:lpstr>PowerPoint Presentation</vt:lpstr>
      <vt:lpstr>PowerPoint Presentation</vt:lpstr>
      <vt:lpstr>PowerPoint Presentation</vt:lpstr>
      <vt:lpstr>PowerPoint Presentation</vt:lpstr>
      <vt:lpstr>Balance Sheet Analysis</vt:lpstr>
      <vt:lpstr>Equity &amp; Liabilities</vt:lpstr>
      <vt:lpstr>Assets</vt:lpstr>
      <vt:lpstr>Profit &amp; Loss Account</vt:lpstr>
      <vt:lpstr>Asset Equity Liability Comparison</vt:lpstr>
      <vt:lpstr>Liquidity Ratios</vt:lpstr>
      <vt:lpstr>Debt ratio</vt:lpstr>
      <vt:lpstr>Revenue profit and Operating profit</vt:lpstr>
      <vt:lpstr>Sale from different regions</vt:lpstr>
      <vt:lpstr>Sale from Indian region</vt:lpstr>
      <vt:lpstr>Liquidity &amp; Credit Analysis</vt:lpstr>
      <vt:lpstr>Dividend history &amp; Ownership Pattern</vt:lpstr>
      <vt:lpstr>Cash flow graph</vt:lpstr>
      <vt:lpstr>Cash flow statement</vt:lpstr>
      <vt:lpstr>Share Price Performance </vt:lpstr>
      <vt:lpstr>How are we against our peers….!!!</vt:lpstr>
      <vt:lpstr>PowerPoint Presentation</vt:lpstr>
      <vt:lpstr>Competition</vt:lpstr>
      <vt:lpstr>Horizontal analysis of Apollo tyres ltd. , Mrf tyres ltd &amp; ceat tyres ltd.</vt:lpstr>
      <vt:lpstr>PowerPoint Presentation</vt:lpstr>
      <vt:lpstr>DuPont Analysis</vt:lpstr>
      <vt:lpstr>DuPont System – What is It?</vt:lpstr>
      <vt:lpstr>DuPont System</vt:lpstr>
      <vt:lpstr>DuPont analysis of Apollo tyres ltd. &amp; MRF tyres ltd.</vt:lpstr>
      <vt:lpstr>Correlation between Apollo tyres shares with other competitors and nifty</vt:lpstr>
      <vt:lpstr>Apollo tyres VS j.k. tyres</vt:lpstr>
      <vt:lpstr>PowerPoint Presentation</vt:lpstr>
      <vt:lpstr>PowerPoint Presentation</vt:lpstr>
      <vt:lpstr>Outlook of stock</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on Apollo tyres ltd.</dc:title>
  <dc:creator>abhishek reddy</dc:creator>
  <cp:lastModifiedBy>abhishek reddy</cp:lastModifiedBy>
  <cp:revision>31</cp:revision>
  <dcterms:created xsi:type="dcterms:W3CDTF">2017-02-13T09:19:59Z</dcterms:created>
  <dcterms:modified xsi:type="dcterms:W3CDTF">2017-04-14T16:46:13Z</dcterms:modified>
</cp:coreProperties>
</file>